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9" r:id="rId3"/>
    <p:sldId id="287" r:id="rId4"/>
    <p:sldId id="258" r:id="rId5"/>
    <p:sldId id="257" r:id="rId6"/>
    <p:sldId id="260" r:id="rId7"/>
    <p:sldId id="261" r:id="rId8"/>
    <p:sldId id="263" r:id="rId9"/>
    <p:sldId id="264" r:id="rId10"/>
    <p:sldId id="291" r:id="rId11"/>
    <p:sldId id="262" r:id="rId12"/>
    <p:sldId id="269" r:id="rId13"/>
    <p:sldId id="267" r:id="rId14"/>
    <p:sldId id="292" r:id="rId15"/>
    <p:sldId id="271" r:id="rId16"/>
    <p:sldId id="294" r:id="rId17"/>
    <p:sldId id="270" r:id="rId18"/>
    <p:sldId id="295" r:id="rId19"/>
    <p:sldId id="293" r:id="rId20"/>
    <p:sldId id="266" r:id="rId21"/>
    <p:sldId id="274" r:id="rId22"/>
    <p:sldId id="288" r:id="rId23"/>
    <p:sldId id="290" r:id="rId24"/>
    <p:sldId id="268" r:id="rId25"/>
    <p:sldId id="276" r:id="rId26"/>
    <p:sldId id="2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4521"/>
  </p:normalViewPr>
  <p:slideViewPr>
    <p:cSldViewPr snapToGrid="0" snapToObjects="1">
      <p:cViewPr varScale="1">
        <p:scale>
          <a:sx n="109" d="100"/>
          <a:sy n="109" d="100"/>
        </p:scale>
        <p:origin x="216" y="424"/>
      </p:cViewPr>
      <p:guideLst/>
    </p:cSldViewPr>
  </p:slid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6" Type="http://schemas.openxmlformats.org/officeDocument/2006/relationships/image" Target="../media/image20.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diagrams/_rels/data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ata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7.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image" Target="../media/image6.svg"/><Relationship Id="rId16" Type="http://schemas.openxmlformats.org/officeDocument/2006/relationships/image" Target="../media/image20.svg"/><Relationship Id="rId1" Type="http://schemas.openxmlformats.org/officeDocument/2006/relationships/image" Target="../media/image5.png"/><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 Id="rId14" Type="http://schemas.openxmlformats.org/officeDocument/2006/relationships/image" Target="../media/image18.svg"/></Relationships>
</file>

<file path=ppt/diagrams/_rels/drawing2.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24.svg"/><Relationship Id="rId5" Type="http://schemas.openxmlformats.org/officeDocument/2006/relationships/image" Target="../media/image23.png"/><Relationship Id="rId10" Type="http://schemas.openxmlformats.org/officeDocument/2006/relationships/image" Target="../media/image28.svg"/><Relationship Id="rId4" Type="http://schemas.openxmlformats.org/officeDocument/2006/relationships/image" Target="../media/image22.svg"/><Relationship Id="rId9" Type="http://schemas.openxmlformats.org/officeDocument/2006/relationships/image" Target="../media/image27.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8.svg"/><Relationship Id="rId1" Type="http://schemas.openxmlformats.org/officeDocument/2006/relationships/image" Target="../media/image27.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3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F9A3F0-0E0C-45C9-A53F-8A590515402D}"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BC4626C4-5B5E-4FEC-8769-82A1DD0A4238}">
      <dgm:prSet/>
      <dgm:spPr/>
      <dgm:t>
        <a:bodyPr/>
        <a:lstStyle/>
        <a:p>
          <a:pPr>
            <a:lnSpc>
              <a:spcPct val="100000"/>
            </a:lnSpc>
          </a:pPr>
          <a:r>
            <a:rPr lang="en-CA"/>
            <a:t>Analysts predict that by 2025, there will be 17,200 gigabytes of data on every person in the world.</a:t>
          </a:r>
          <a:endParaRPr lang="en-US"/>
        </a:p>
      </dgm:t>
    </dgm:pt>
    <dgm:pt modelId="{4336A5EA-61E9-4648-9507-C000CC12B3EB}" type="parTrans" cxnId="{338F8216-DC35-4AB4-A7F9-0BEA9D33E3AD}">
      <dgm:prSet/>
      <dgm:spPr/>
      <dgm:t>
        <a:bodyPr/>
        <a:lstStyle/>
        <a:p>
          <a:endParaRPr lang="en-US"/>
        </a:p>
      </dgm:t>
    </dgm:pt>
    <dgm:pt modelId="{84166BCA-B1B8-4D4F-B872-6022939C4545}" type="sibTrans" cxnId="{338F8216-DC35-4AB4-A7F9-0BEA9D33E3AD}">
      <dgm:prSet/>
      <dgm:spPr/>
      <dgm:t>
        <a:bodyPr/>
        <a:lstStyle/>
        <a:p>
          <a:endParaRPr lang="en-US"/>
        </a:p>
      </dgm:t>
    </dgm:pt>
    <dgm:pt modelId="{79FF4CC9-559D-4A4A-9C05-4DE4BDD4EFB5}">
      <dgm:prSet/>
      <dgm:spPr/>
      <dgm:t>
        <a:bodyPr/>
        <a:lstStyle/>
        <a:p>
          <a:pPr>
            <a:lnSpc>
              <a:spcPct val="100000"/>
            </a:lnSpc>
          </a:pPr>
          <a:r>
            <a:rPr lang="en-CA"/>
            <a:t>On average, people send about 500 million tweets per day. </a:t>
          </a:r>
          <a:endParaRPr lang="en-US"/>
        </a:p>
      </dgm:t>
    </dgm:pt>
    <dgm:pt modelId="{CD64BD6E-233B-4AE7-96C9-27056C24991D}" type="parTrans" cxnId="{6BE75F3A-CF0E-4490-BB56-C852CDA96E9E}">
      <dgm:prSet/>
      <dgm:spPr/>
      <dgm:t>
        <a:bodyPr/>
        <a:lstStyle/>
        <a:p>
          <a:endParaRPr lang="en-US"/>
        </a:p>
      </dgm:t>
    </dgm:pt>
    <dgm:pt modelId="{D87B84EA-7622-491E-92F7-2A5169352B62}" type="sibTrans" cxnId="{6BE75F3A-CF0E-4490-BB56-C852CDA96E9E}">
      <dgm:prSet/>
      <dgm:spPr/>
      <dgm:t>
        <a:bodyPr/>
        <a:lstStyle/>
        <a:p>
          <a:endParaRPr lang="en-US"/>
        </a:p>
      </dgm:t>
    </dgm:pt>
    <dgm:pt modelId="{BDC6EB6B-784B-4297-B4BD-70AA093543B2}">
      <dgm:prSet/>
      <dgm:spPr/>
      <dgm:t>
        <a:bodyPr/>
        <a:lstStyle/>
        <a:p>
          <a:pPr>
            <a:lnSpc>
              <a:spcPct val="100000"/>
            </a:lnSpc>
          </a:pPr>
          <a:r>
            <a:rPr lang="en-CA"/>
            <a:t>The average U.S. customer uses 1.8 gigabytes of data per month on his or her cell phone plan.</a:t>
          </a:r>
          <a:endParaRPr lang="en-US"/>
        </a:p>
      </dgm:t>
    </dgm:pt>
    <dgm:pt modelId="{D8507A60-9E35-4751-910A-3250EF7BA39C}" type="parTrans" cxnId="{3936DE85-BBD3-4AFC-A9B3-6C6CE5E4AF1D}">
      <dgm:prSet/>
      <dgm:spPr/>
      <dgm:t>
        <a:bodyPr/>
        <a:lstStyle/>
        <a:p>
          <a:endParaRPr lang="en-US"/>
        </a:p>
      </dgm:t>
    </dgm:pt>
    <dgm:pt modelId="{A0428A6B-E9B5-4B4E-B8C1-6946461532AA}" type="sibTrans" cxnId="{3936DE85-BBD3-4AFC-A9B3-6C6CE5E4AF1D}">
      <dgm:prSet/>
      <dgm:spPr/>
      <dgm:t>
        <a:bodyPr/>
        <a:lstStyle/>
        <a:p>
          <a:endParaRPr lang="en-US"/>
        </a:p>
      </dgm:t>
    </dgm:pt>
    <dgm:pt modelId="{21BA8E85-5507-4823-8F41-095D3460325B}">
      <dgm:prSet/>
      <dgm:spPr/>
      <dgm:t>
        <a:bodyPr/>
        <a:lstStyle/>
        <a:p>
          <a:pPr>
            <a:lnSpc>
              <a:spcPct val="100000"/>
            </a:lnSpc>
          </a:pPr>
          <a:r>
            <a:rPr lang="en-CA"/>
            <a:t>Walmart processes one million customer transactions per hour. </a:t>
          </a:r>
          <a:endParaRPr lang="en-US"/>
        </a:p>
      </dgm:t>
    </dgm:pt>
    <dgm:pt modelId="{1B1444E5-C7BA-4495-8DC0-54C73896AE98}" type="parTrans" cxnId="{F963A688-0B6B-4E7C-86F9-FEFECB49DC7B}">
      <dgm:prSet/>
      <dgm:spPr/>
      <dgm:t>
        <a:bodyPr/>
        <a:lstStyle/>
        <a:p>
          <a:endParaRPr lang="en-US"/>
        </a:p>
      </dgm:t>
    </dgm:pt>
    <dgm:pt modelId="{4A4D8251-FC35-40CA-A59D-061FF15A3FBA}" type="sibTrans" cxnId="{F963A688-0B6B-4E7C-86F9-FEFECB49DC7B}">
      <dgm:prSet/>
      <dgm:spPr/>
      <dgm:t>
        <a:bodyPr/>
        <a:lstStyle/>
        <a:p>
          <a:endParaRPr lang="en-US"/>
        </a:p>
      </dgm:t>
    </dgm:pt>
    <dgm:pt modelId="{62F6C76F-843B-4E36-8B89-C4AB06A5EF1E}">
      <dgm:prSet/>
      <dgm:spPr/>
      <dgm:t>
        <a:bodyPr/>
        <a:lstStyle/>
        <a:p>
          <a:pPr>
            <a:lnSpc>
              <a:spcPct val="100000"/>
            </a:lnSpc>
          </a:pPr>
          <a:r>
            <a:rPr lang="en-CA"/>
            <a:t>Amazon sells 600 items per second. </a:t>
          </a:r>
          <a:endParaRPr lang="en-US"/>
        </a:p>
      </dgm:t>
    </dgm:pt>
    <dgm:pt modelId="{834F3130-33BE-4C72-BC25-BC049BED7439}" type="parTrans" cxnId="{349D797A-30B7-4F0C-AB0A-32904AD6AB09}">
      <dgm:prSet/>
      <dgm:spPr/>
      <dgm:t>
        <a:bodyPr/>
        <a:lstStyle/>
        <a:p>
          <a:endParaRPr lang="en-US"/>
        </a:p>
      </dgm:t>
    </dgm:pt>
    <dgm:pt modelId="{DADDEACE-58BA-4A1F-8612-17771C833DDD}" type="sibTrans" cxnId="{349D797A-30B7-4F0C-AB0A-32904AD6AB09}">
      <dgm:prSet/>
      <dgm:spPr/>
      <dgm:t>
        <a:bodyPr/>
        <a:lstStyle/>
        <a:p>
          <a:endParaRPr lang="en-US"/>
        </a:p>
      </dgm:t>
    </dgm:pt>
    <dgm:pt modelId="{809CF152-FDE9-4F0C-8DBB-B417A4FC2F9A}">
      <dgm:prSet/>
      <dgm:spPr/>
      <dgm:t>
        <a:bodyPr/>
        <a:lstStyle/>
        <a:p>
          <a:pPr>
            <a:lnSpc>
              <a:spcPct val="100000"/>
            </a:lnSpc>
          </a:pPr>
          <a:r>
            <a:rPr lang="en-CA"/>
            <a:t>On average, each person who uses email receives 88 emails per day and send 34. That adds up to more than 200 billion emails each day.</a:t>
          </a:r>
          <a:endParaRPr lang="en-US"/>
        </a:p>
      </dgm:t>
    </dgm:pt>
    <dgm:pt modelId="{8B6D61E1-A0BC-4328-89AA-B31127AE0E97}" type="parTrans" cxnId="{3710CEF2-37DB-460D-A4D9-F41EC3504D88}">
      <dgm:prSet/>
      <dgm:spPr/>
      <dgm:t>
        <a:bodyPr/>
        <a:lstStyle/>
        <a:p>
          <a:endParaRPr lang="en-US"/>
        </a:p>
      </dgm:t>
    </dgm:pt>
    <dgm:pt modelId="{990B384C-77A0-4D1C-A57D-3B37BFAA4099}" type="sibTrans" cxnId="{3710CEF2-37DB-460D-A4D9-F41EC3504D88}">
      <dgm:prSet/>
      <dgm:spPr/>
      <dgm:t>
        <a:bodyPr/>
        <a:lstStyle/>
        <a:p>
          <a:endParaRPr lang="en-US"/>
        </a:p>
      </dgm:t>
    </dgm:pt>
    <dgm:pt modelId="{4D3CAAB1-7D38-42E7-B647-24619FB0D71A}">
      <dgm:prSet/>
      <dgm:spPr/>
      <dgm:t>
        <a:bodyPr/>
        <a:lstStyle/>
        <a:p>
          <a:pPr>
            <a:lnSpc>
              <a:spcPct val="100000"/>
            </a:lnSpc>
          </a:pPr>
          <a:r>
            <a:rPr lang="en-CA"/>
            <a:t>MasterCard processes 74 billion transactions per year.</a:t>
          </a:r>
          <a:endParaRPr lang="en-US"/>
        </a:p>
      </dgm:t>
    </dgm:pt>
    <dgm:pt modelId="{BCF0866D-D0B7-4A3C-AEAB-7AA0C5E3A7B9}" type="parTrans" cxnId="{0248A583-F717-43EE-9A97-30E94A0ABAB4}">
      <dgm:prSet/>
      <dgm:spPr/>
      <dgm:t>
        <a:bodyPr/>
        <a:lstStyle/>
        <a:p>
          <a:endParaRPr lang="en-US"/>
        </a:p>
      </dgm:t>
    </dgm:pt>
    <dgm:pt modelId="{C2D72274-0341-42C8-B4DC-0C34A38965AB}" type="sibTrans" cxnId="{0248A583-F717-43EE-9A97-30E94A0ABAB4}">
      <dgm:prSet/>
      <dgm:spPr/>
      <dgm:t>
        <a:bodyPr/>
        <a:lstStyle/>
        <a:p>
          <a:endParaRPr lang="en-US"/>
        </a:p>
      </dgm:t>
    </dgm:pt>
    <dgm:pt modelId="{28AA7388-336B-4463-B976-A0C540F9C63D}">
      <dgm:prSet/>
      <dgm:spPr/>
      <dgm:t>
        <a:bodyPr/>
        <a:lstStyle/>
        <a:p>
          <a:pPr>
            <a:lnSpc>
              <a:spcPct val="100000"/>
            </a:lnSpc>
          </a:pPr>
          <a:r>
            <a:rPr lang="en-CA"/>
            <a:t>Commercial airlines make about 5,800 flights per day. </a:t>
          </a:r>
          <a:endParaRPr lang="en-US"/>
        </a:p>
      </dgm:t>
    </dgm:pt>
    <dgm:pt modelId="{C8A781D0-260F-41C4-827A-635A82E8FFAE}" type="parTrans" cxnId="{660DB265-1743-45AE-A0A5-CB7CB04850C9}">
      <dgm:prSet/>
      <dgm:spPr/>
      <dgm:t>
        <a:bodyPr/>
        <a:lstStyle/>
        <a:p>
          <a:endParaRPr lang="en-US"/>
        </a:p>
      </dgm:t>
    </dgm:pt>
    <dgm:pt modelId="{A8A6D799-2BC5-4189-B89F-1F0407DB8098}" type="sibTrans" cxnId="{660DB265-1743-45AE-A0A5-CB7CB04850C9}">
      <dgm:prSet/>
      <dgm:spPr/>
      <dgm:t>
        <a:bodyPr/>
        <a:lstStyle/>
        <a:p>
          <a:endParaRPr lang="en-US"/>
        </a:p>
      </dgm:t>
    </dgm:pt>
    <dgm:pt modelId="{F7BA9370-31E4-44B7-AC81-33A0774AF93E}" type="pres">
      <dgm:prSet presAssocID="{09F9A3F0-0E0C-45C9-A53F-8A590515402D}" presName="root" presStyleCnt="0">
        <dgm:presLayoutVars>
          <dgm:dir/>
          <dgm:resizeHandles val="exact"/>
        </dgm:presLayoutVars>
      </dgm:prSet>
      <dgm:spPr/>
    </dgm:pt>
    <dgm:pt modelId="{F9BA3D60-1E6A-40CE-87C5-8253800D817B}" type="pres">
      <dgm:prSet presAssocID="{BC4626C4-5B5E-4FEC-8769-82A1DD0A4238}" presName="compNode" presStyleCnt="0"/>
      <dgm:spPr/>
    </dgm:pt>
    <dgm:pt modelId="{F3597E72-0866-4F75-9F25-E0E8A91B9E36}" type="pres">
      <dgm:prSet presAssocID="{BC4626C4-5B5E-4FEC-8769-82A1DD0A4238}"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AC9E1AD7-709D-4C68-B270-AFE51EFA2939}" type="pres">
      <dgm:prSet presAssocID="{BC4626C4-5B5E-4FEC-8769-82A1DD0A4238}" presName="spaceRect" presStyleCnt="0"/>
      <dgm:spPr/>
    </dgm:pt>
    <dgm:pt modelId="{CABA37AE-8A5D-44DE-89BC-D5242567FD89}" type="pres">
      <dgm:prSet presAssocID="{BC4626C4-5B5E-4FEC-8769-82A1DD0A4238}" presName="textRect" presStyleLbl="revTx" presStyleIdx="0" presStyleCnt="8">
        <dgm:presLayoutVars>
          <dgm:chMax val="1"/>
          <dgm:chPref val="1"/>
        </dgm:presLayoutVars>
      </dgm:prSet>
      <dgm:spPr/>
    </dgm:pt>
    <dgm:pt modelId="{B5143A76-7AB9-4BA7-84EB-ACE96D586D48}" type="pres">
      <dgm:prSet presAssocID="{84166BCA-B1B8-4D4F-B872-6022939C4545}" presName="sibTrans" presStyleCnt="0"/>
      <dgm:spPr/>
    </dgm:pt>
    <dgm:pt modelId="{5848FFEE-747A-48A2-A886-9660903416DB}" type="pres">
      <dgm:prSet presAssocID="{79FF4CC9-559D-4A4A-9C05-4DE4BDD4EFB5}" presName="compNode" presStyleCnt="0"/>
      <dgm:spPr/>
    </dgm:pt>
    <dgm:pt modelId="{2CBB1C79-7FFD-48D4-BE2D-50691F0775C1}" type="pres">
      <dgm:prSet presAssocID="{79FF4CC9-559D-4A4A-9C05-4DE4BDD4EFB5}"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arget Audience"/>
        </a:ext>
      </dgm:extLst>
    </dgm:pt>
    <dgm:pt modelId="{0D39237B-4E33-426E-9F6D-19A5A4E44D3D}" type="pres">
      <dgm:prSet presAssocID="{79FF4CC9-559D-4A4A-9C05-4DE4BDD4EFB5}" presName="spaceRect" presStyleCnt="0"/>
      <dgm:spPr/>
    </dgm:pt>
    <dgm:pt modelId="{7644B48A-80C8-4999-9B2E-90AC66388792}" type="pres">
      <dgm:prSet presAssocID="{79FF4CC9-559D-4A4A-9C05-4DE4BDD4EFB5}" presName="textRect" presStyleLbl="revTx" presStyleIdx="1" presStyleCnt="8">
        <dgm:presLayoutVars>
          <dgm:chMax val="1"/>
          <dgm:chPref val="1"/>
        </dgm:presLayoutVars>
      </dgm:prSet>
      <dgm:spPr/>
    </dgm:pt>
    <dgm:pt modelId="{F44482C7-0F77-4BE9-B00E-FAA85E3BBD2E}" type="pres">
      <dgm:prSet presAssocID="{D87B84EA-7622-491E-92F7-2A5169352B62}" presName="sibTrans" presStyleCnt="0"/>
      <dgm:spPr/>
    </dgm:pt>
    <dgm:pt modelId="{E611C464-4429-4B08-B585-FEBA88D0EE64}" type="pres">
      <dgm:prSet presAssocID="{BDC6EB6B-784B-4297-B4BD-70AA093543B2}" presName="compNode" presStyleCnt="0"/>
      <dgm:spPr/>
    </dgm:pt>
    <dgm:pt modelId="{5E848389-752C-471F-B27A-4B63CA6C3130}" type="pres">
      <dgm:prSet presAssocID="{BDC6EB6B-784B-4297-B4BD-70AA093543B2}"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mart Phone"/>
        </a:ext>
      </dgm:extLst>
    </dgm:pt>
    <dgm:pt modelId="{6EEFEA11-741B-4442-88A4-3C5AF08B3AAD}" type="pres">
      <dgm:prSet presAssocID="{BDC6EB6B-784B-4297-B4BD-70AA093543B2}" presName="spaceRect" presStyleCnt="0"/>
      <dgm:spPr/>
    </dgm:pt>
    <dgm:pt modelId="{E666BE24-911B-4CC0-A914-DA80B6AD35A4}" type="pres">
      <dgm:prSet presAssocID="{BDC6EB6B-784B-4297-B4BD-70AA093543B2}" presName="textRect" presStyleLbl="revTx" presStyleIdx="2" presStyleCnt="8">
        <dgm:presLayoutVars>
          <dgm:chMax val="1"/>
          <dgm:chPref val="1"/>
        </dgm:presLayoutVars>
      </dgm:prSet>
      <dgm:spPr/>
    </dgm:pt>
    <dgm:pt modelId="{D9E565CE-D7F4-4849-9503-9EB3363F1681}" type="pres">
      <dgm:prSet presAssocID="{A0428A6B-E9B5-4B4E-B8C1-6946461532AA}" presName="sibTrans" presStyleCnt="0"/>
      <dgm:spPr/>
    </dgm:pt>
    <dgm:pt modelId="{ACF85761-F899-490B-8837-6EC1A0550C1F}" type="pres">
      <dgm:prSet presAssocID="{21BA8E85-5507-4823-8F41-095D3460325B}" presName="compNode" presStyleCnt="0"/>
      <dgm:spPr/>
    </dgm:pt>
    <dgm:pt modelId="{EBB7E871-53DE-4451-B71A-C0DB09E3A26D}" type="pres">
      <dgm:prSet presAssocID="{21BA8E85-5507-4823-8F41-095D3460325B}"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Register"/>
        </a:ext>
      </dgm:extLst>
    </dgm:pt>
    <dgm:pt modelId="{06791930-4294-461E-B024-EC9F1AA749BB}" type="pres">
      <dgm:prSet presAssocID="{21BA8E85-5507-4823-8F41-095D3460325B}" presName="spaceRect" presStyleCnt="0"/>
      <dgm:spPr/>
    </dgm:pt>
    <dgm:pt modelId="{60115173-5674-4581-9F0D-C54F689E4EF6}" type="pres">
      <dgm:prSet presAssocID="{21BA8E85-5507-4823-8F41-095D3460325B}" presName="textRect" presStyleLbl="revTx" presStyleIdx="3" presStyleCnt="8">
        <dgm:presLayoutVars>
          <dgm:chMax val="1"/>
          <dgm:chPref val="1"/>
        </dgm:presLayoutVars>
      </dgm:prSet>
      <dgm:spPr/>
    </dgm:pt>
    <dgm:pt modelId="{7B4E7840-747C-4A2A-B244-9E1FB2DE0ECE}" type="pres">
      <dgm:prSet presAssocID="{4A4D8251-FC35-40CA-A59D-061FF15A3FBA}" presName="sibTrans" presStyleCnt="0"/>
      <dgm:spPr/>
    </dgm:pt>
    <dgm:pt modelId="{5499D955-7941-43BA-926E-C71238CF095D}" type="pres">
      <dgm:prSet presAssocID="{62F6C76F-843B-4E36-8B89-C4AB06A5EF1E}" presName="compNode" presStyleCnt="0"/>
      <dgm:spPr/>
    </dgm:pt>
    <dgm:pt modelId="{9772884B-3087-4339-859D-7F7C51F343AB}" type="pres">
      <dgm:prSet presAssocID="{62F6C76F-843B-4E36-8B89-C4AB06A5EF1E}"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Shopping cart"/>
        </a:ext>
      </dgm:extLst>
    </dgm:pt>
    <dgm:pt modelId="{813DFA9A-D898-4C2B-AA44-BAE81A6A89DD}" type="pres">
      <dgm:prSet presAssocID="{62F6C76F-843B-4E36-8B89-C4AB06A5EF1E}" presName="spaceRect" presStyleCnt="0"/>
      <dgm:spPr/>
    </dgm:pt>
    <dgm:pt modelId="{30EA3933-EF7B-433A-982A-B05F15302B2E}" type="pres">
      <dgm:prSet presAssocID="{62F6C76F-843B-4E36-8B89-C4AB06A5EF1E}" presName="textRect" presStyleLbl="revTx" presStyleIdx="4" presStyleCnt="8">
        <dgm:presLayoutVars>
          <dgm:chMax val="1"/>
          <dgm:chPref val="1"/>
        </dgm:presLayoutVars>
      </dgm:prSet>
      <dgm:spPr/>
    </dgm:pt>
    <dgm:pt modelId="{216EDBF4-3505-43F8-B1EE-238B7222ADA8}" type="pres">
      <dgm:prSet presAssocID="{DADDEACE-58BA-4A1F-8612-17771C833DDD}" presName="sibTrans" presStyleCnt="0"/>
      <dgm:spPr/>
    </dgm:pt>
    <dgm:pt modelId="{743A4020-1559-43B4-B0D9-5CBB7FA24763}" type="pres">
      <dgm:prSet presAssocID="{809CF152-FDE9-4F0C-8DBB-B417A4FC2F9A}" presName="compNode" presStyleCnt="0"/>
      <dgm:spPr/>
    </dgm:pt>
    <dgm:pt modelId="{52183092-025C-4326-989D-0154B9F7469F}" type="pres">
      <dgm:prSet presAssocID="{809CF152-FDE9-4F0C-8DBB-B417A4FC2F9A}"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Envelope"/>
        </a:ext>
      </dgm:extLst>
    </dgm:pt>
    <dgm:pt modelId="{40015035-CEB9-4B7A-8908-B961079C2C98}" type="pres">
      <dgm:prSet presAssocID="{809CF152-FDE9-4F0C-8DBB-B417A4FC2F9A}" presName="spaceRect" presStyleCnt="0"/>
      <dgm:spPr/>
    </dgm:pt>
    <dgm:pt modelId="{FEBAC8AC-BD86-47AF-9F5A-D301D1D9ED80}" type="pres">
      <dgm:prSet presAssocID="{809CF152-FDE9-4F0C-8DBB-B417A4FC2F9A}" presName="textRect" presStyleLbl="revTx" presStyleIdx="5" presStyleCnt="8">
        <dgm:presLayoutVars>
          <dgm:chMax val="1"/>
          <dgm:chPref val="1"/>
        </dgm:presLayoutVars>
      </dgm:prSet>
      <dgm:spPr/>
    </dgm:pt>
    <dgm:pt modelId="{1F12607B-33F4-44CB-8065-B7545EF2CCB8}" type="pres">
      <dgm:prSet presAssocID="{990B384C-77A0-4D1C-A57D-3B37BFAA4099}" presName="sibTrans" presStyleCnt="0"/>
      <dgm:spPr/>
    </dgm:pt>
    <dgm:pt modelId="{C95B0C22-8316-4AE7-AE6E-FAA4B06ABB3F}" type="pres">
      <dgm:prSet presAssocID="{4D3CAAB1-7D38-42E7-B647-24619FB0D71A}" presName="compNode" presStyleCnt="0"/>
      <dgm:spPr/>
    </dgm:pt>
    <dgm:pt modelId="{4E532574-C4CD-4EFD-BDC1-2FBE46A41DB9}" type="pres">
      <dgm:prSet presAssocID="{4D3CAAB1-7D38-42E7-B647-24619FB0D71A}"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Money"/>
        </a:ext>
      </dgm:extLst>
    </dgm:pt>
    <dgm:pt modelId="{0033558C-3156-4412-BE6E-6E708B8AC0CC}" type="pres">
      <dgm:prSet presAssocID="{4D3CAAB1-7D38-42E7-B647-24619FB0D71A}" presName="spaceRect" presStyleCnt="0"/>
      <dgm:spPr/>
    </dgm:pt>
    <dgm:pt modelId="{A9AC8AD8-85F5-45EA-BC84-D14823287B9F}" type="pres">
      <dgm:prSet presAssocID="{4D3CAAB1-7D38-42E7-B647-24619FB0D71A}" presName="textRect" presStyleLbl="revTx" presStyleIdx="6" presStyleCnt="8">
        <dgm:presLayoutVars>
          <dgm:chMax val="1"/>
          <dgm:chPref val="1"/>
        </dgm:presLayoutVars>
      </dgm:prSet>
      <dgm:spPr/>
    </dgm:pt>
    <dgm:pt modelId="{F5075E23-AC97-44BA-884F-E0881A772270}" type="pres">
      <dgm:prSet presAssocID="{C2D72274-0341-42C8-B4DC-0C34A38965AB}" presName="sibTrans" presStyleCnt="0"/>
      <dgm:spPr/>
    </dgm:pt>
    <dgm:pt modelId="{C541D9F3-9288-4943-AEA6-A3E8608F0B88}" type="pres">
      <dgm:prSet presAssocID="{28AA7388-336B-4463-B976-A0C540F9C63D}" presName="compNode" presStyleCnt="0"/>
      <dgm:spPr/>
    </dgm:pt>
    <dgm:pt modelId="{8E1F1930-35C3-44CC-A758-0D3F8249838B}" type="pres">
      <dgm:prSet presAssocID="{28AA7388-336B-4463-B976-A0C540F9C63D}"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Airplane"/>
        </a:ext>
      </dgm:extLst>
    </dgm:pt>
    <dgm:pt modelId="{640EB60E-87C8-4CFC-8D01-D2A9D8A32876}" type="pres">
      <dgm:prSet presAssocID="{28AA7388-336B-4463-B976-A0C540F9C63D}" presName="spaceRect" presStyleCnt="0"/>
      <dgm:spPr/>
    </dgm:pt>
    <dgm:pt modelId="{30EFB137-1B40-4412-8E76-44D9B9A2198A}" type="pres">
      <dgm:prSet presAssocID="{28AA7388-336B-4463-B976-A0C540F9C63D}" presName="textRect" presStyleLbl="revTx" presStyleIdx="7" presStyleCnt="8">
        <dgm:presLayoutVars>
          <dgm:chMax val="1"/>
          <dgm:chPref val="1"/>
        </dgm:presLayoutVars>
      </dgm:prSet>
      <dgm:spPr/>
    </dgm:pt>
  </dgm:ptLst>
  <dgm:cxnLst>
    <dgm:cxn modelId="{9E89B10B-7D21-4944-9992-BD988281F9B9}" type="presOf" srcId="{BDC6EB6B-784B-4297-B4BD-70AA093543B2}" destId="{E666BE24-911B-4CC0-A914-DA80B6AD35A4}" srcOrd="0" destOrd="0" presId="urn:microsoft.com/office/officeart/2018/2/layout/IconLabelList"/>
    <dgm:cxn modelId="{338F8216-DC35-4AB4-A7F9-0BEA9D33E3AD}" srcId="{09F9A3F0-0E0C-45C9-A53F-8A590515402D}" destId="{BC4626C4-5B5E-4FEC-8769-82A1DD0A4238}" srcOrd="0" destOrd="0" parTransId="{4336A5EA-61E9-4648-9507-C000CC12B3EB}" sibTransId="{84166BCA-B1B8-4D4F-B872-6022939C4545}"/>
    <dgm:cxn modelId="{EA4DDC1F-7644-4C7A-AE5C-F35FDAB4227F}" type="presOf" srcId="{28AA7388-336B-4463-B976-A0C540F9C63D}" destId="{30EFB137-1B40-4412-8E76-44D9B9A2198A}" srcOrd="0" destOrd="0" presId="urn:microsoft.com/office/officeart/2018/2/layout/IconLabelList"/>
    <dgm:cxn modelId="{6BE75F3A-CF0E-4490-BB56-C852CDA96E9E}" srcId="{09F9A3F0-0E0C-45C9-A53F-8A590515402D}" destId="{79FF4CC9-559D-4A4A-9C05-4DE4BDD4EFB5}" srcOrd="1" destOrd="0" parTransId="{CD64BD6E-233B-4AE7-96C9-27056C24991D}" sibTransId="{D87B84EA-7622-491E-92F7-2A5169352B62}"/>
    <dgm:cxn modelId="{E313B246-E34B-4581-81C4-302E9B69861B}" type="presOf" srcId="{79FF4CC9-559D-4A4A-9C05-4DE4BDD4EFB5}" destId="{7644B48A-80C8-4999-9B2E-90AC66388792}" srcOrd="0" destOrd="0" presId="urn:microsoft.com/office/officeart/2018/2/layout/IconLabelList"/>
    <dgm:cxn modelId="{660DB265-1743-45AE-A0A5-CB7CB04850C9}" srcId="{09F9A3F0-0E0C-45C9-A53F-8A590515402D}" destId="{28AA7388-336B-4463-B976-A0C540F9C63D}" srcOrd="7" destOrd="0" parTransId="{C8A781D0-260F-41C4-827A-635A82E8FFAE}" sibTransId="{A8A6D799-2BC5-4189-B89F-1F0407DB8098}"/>
    <dgm:cxn modelId="{92650175-CA61-48DF-9215-A8E65CDFF17E}" type="presOf" srcId="{09F9A3F0-0E0C-45C9-A53F-8A590515402D}" destId="{F7BA9370-31E4-44B7-AC81-33A0774AF93E}" srcOrd="0" destOrd="0" presId="urn:microsoft.com/office/officeart/2018/2/layout/IconLabelList"/>
    <dgm:cxn modelId="{DF5FBB75-A81A-4FBB-BED8-F7D64C6AB52A}" type="presOf" srcId="{BC4626C4-5B5E-4FEC-8769-82A1DD0A4238}" destId="{CABA37AE-8A5D-44DE-89BC-D5242567FD89}" srcOrd="0" destOrd="0" presId="urn:microsoft.com/office/officeart/2018/2/layout/IconLabelList"/>
    <dgm:cxn modelId="{349D797A-30B7-4F0C-AB0A-32904AD6AB09}" srcId="{09F9A3F0-0E0C-45C9-A53F-8A590515402D}" destId="{62F6C76F-843B-4E36-8B89-C4AB06A5EF1E}" srcOrd="4" destOrd="0" parTransId="{834F3130-33BE-4C72-BC25-BC049BED7439}" sibTransId="{DADDEACE-58BA-4A1F-8612-17771C833DDD}"/>
    <dgm:cxn modelId="{9AB15F7C-65B4-4C6D-8653-9BF987AA4077}" type="presOf" srcId="{62F6C76F-843B-4E36-8B89-C4AB06A5EF1E}" destId="{30EA3933-EF7B-433A-982A-B05F15302B2E}" srcOrd="0" destOrd="0" presId="urn:microsoft.com/office/officeart/2018/2/layout/IconLabelList"/>
    <dgm:cxn modelId="{0248A583-F717-43EE-9A97-30E94A0ABAB4}" srcId="{09F9A3F0-0E0C-45C9-A53F-8A590515402D}" destId="{4D3CAAB1-7D38-42E7-B647-24619FB0D71A}" srcOrd="6" destOrd="0" parTransId="{BCF0866D-D0B7-4A3C-AEAB-7AA0C5E3A7B9}" sibTransId="{C2D72274-0341-42C8-B4DC-0C34A38965AB}"/>
    <dgm:cxn modelId="{3936DE85-BBD3-4AFC-A9B3-6C6CE5E4AF1D}" srcId="{09F9A3F0-0E0C-45C9-A53F-8A590515402D}" destId="{BDC6EB6B-784B-4297-B4BD-70AA093543B2}" srcOrd="2" destOrd="0" parTransId="{D8507A60-9E35-4751-910A-3250EF7BA39C}" sibTransId="{A0428A6B-E9B5-4B4E-B8C1-6946461532AA}"/>
    <dgm:cxn modelId="{F963A688-0B6B-4E7C-86F9-FEFECB49DC7B}" srcId="{09F9A3F0-0E0C-45C9-A53F-8A590515402D}" destId="{21BA8E85-5507-4823-8F41-095D3460325B}" srcOrd="3" destOrd="0" parTransId="{1B1444E5-C7BA-4495-8DC0-54C73896AE98}" sibTransId="{4A4D8251-FC35-40CA-A59D-061FF15A3FBA}"/>
    <dgm:cxn modelId="{FF62EF8D-1E74-4DE7-8615-88702FE51FD5}" type="presOf" srcId="{4D3CAAB1-7D38-42E7-B647-24619FB0D71A}" destId="{A9AC8AD8-85F5-45EA-BC84-D14823287B9F}" srcOrd="0" destOrd="0" presId="urn:microsoft.com/office/officeart/2018/2/layout/IconLabelList"/>
    <dgm:cxn modelId="{197D7BD9-5C07-474C-8885-1C408ADE9D7E}" type="presOf" srcId="{809CF152-FDE9-4F0C-8DBB-B417A4FC2F9A}" destId="{FEBAC8AC-BD86-47AF-9F5A-D301D1D9ED80}" srcOrd="0" destOrd="0" presId="urn:microsoft.com/office/officeart/2018/2/layout/IconLabelList"/>
    <dgm:cxn modelId="{3119E9DE-2975-4543-900B-9B5572A2969F}" type="presOf" srcId="{21BA8E85-5507-4823-8F41-095D3460325B}" destId="{60115173-5674-4581-9F0D-C54F689E4EF6}" srcOrd="0" destOrd="0" presId="urn:microsoft.com/office/officeart/2018/2/layout/IconLabelList"/>
    <dgm:cxn modelId="{3710CEF2-37DB-460D-A4D9-F41EC3504D88}" srcId="{09F9A3F0-0E0C-45C9-A53F-8A590515402D}" destId="{809CF152-FDE9-4F0C-8DBB-B417A4FC2F9A}" srcOrd="5" destOrd="0" parTransId="{8B6D61E1-A0BC-4328-89AA-B31127AE0E97}" sibTransId="{990B384C-77A0-4D1C-A57D-3B37BFAA4099}"/>
    <dgm:cxn modelId="{15B4C32E-362E-40A5-84A6-8522718108B5}" type="presParOf" srcId="{F7BA9370-31E4-44B7-AC81-33A0774AF93E}" destId="{F9BA3D60-1E6A-40CE-87C5-8253800D817B}" srcOrd="0" destOrd="0" presId="urn:microsoft.com/office/officeart/2018/2/layout/IconLabelList"/>
    <dgm:cxn modelId="{D97568BF-00BF-41A9-9355-5648ED2FD800}" type="presParOf" srcId="{F9BA3D60-1E6A-40CE-87C5-8253800D817B}" destId="{F3597E72-0866-4F75-9F25-E0E8A91B9E36}" srcOrd="0" destOrd="0" presId="urn:microsoft.com/office/officeart/2018/2/layout/IconLabelList"/>
    <dgm:cxn modelId="{47048BC4-3954-4314-A18E-3BC973859B71}" type="presParOf" srcId="{F9BA3D60-1E6A-40CE-87C5-8253800D817B}" destId="{AC9E1AD7-709D-4C68-B270-AFE51EFA2939}" srcOrd="1" destOrd="0" presId="urn:microsoft.com/office/officeart/2018/2/layout/IconLabelList"/>
    <dgm:cxn modelId="{2A69F6D4-4988-43EB-A157-296E64306FC0}" type="presParOf" srcId="{F9BA3D60-1E6A-40CE-87C5-8253800D817B}" destId="{CABA37AE-8A5D-44DE-89BC-D5242567FD89}" srcOrd="2" destOrd="0" presId="urn:microsoft.com/office/officeart/2018/2/layout/IconLabelList"/>
    <dgm:cxn modelId="{A068CE3F-0060-4F82-A3A9-5F32B74035FE}" type="presParOf" srcId="{F7BA9370-31E4-44B7-AC81-33A0774AF93E}" destId="{B5143A76-7AB9-4BA7-84EB-ACE96D586D48}" srcOrd="1" destOrd="0" presId="urn:microsoft.com/office/officeart/2018/2/layout/IconLabelList"/>
    <dgm:cxn modelId="{FF81BD04-2109-44F1-9DEB-770A811E021D}" type="presParOf" srcId="{F7BA9370-31E4-44B7-AC81-33A0774AF93E}" destId="{5848FFEE-747A-48A2-A886-9660903416DB}" srcOrd="2" destOrd="0" presId="urn:microsoft.com/office/officeart/2018/2/layout/IconLabelList"/>
    <dgm:cxn modelId="{FF357796-C58E-4F74-BEB4-BABF6386880F}" type="presParOf" srcId="{5848FFEE-747A-48A2-A886-9660903416DB}" destId="{2CBB1C79-7FFD-48D4-BE2D-50691F0775C1}" srcOrd="0" destOrd="0" presId="urn:microsoft.com/office/officeart/2018/2/layout/IconLabelList"/>
    <dgm:cxn modelId="{6FB6E4A2-8AC7-4F05-B38C-B7B290A27573}" type="presParOf" srcId="{5848FFEE-747A-48A2-A886-9660903416DB}" destId="{0D39237B-4E33-426E-9F6D-19A5A4E44D3D}" srcOrd="1" destOrd="0" presId="urn:microsoft.com/office/officeart/2018/2/layout/IconLabelList"/>
    <dgm:cxn modelId="{79C2D7E4-F3E5-40DF-834A-1CCB84B4BD1C}" type="presParOf" srcId="{5848FFEE-747A-48A2-A886-9660903416DB}" destId="{7644B48A-80C8-4999-9B2E-90AC66388792}" srcOrd="2" destOrd="0" presId="urn:microsoft.com/office/officeart/2018/2/layout/IconLabelList"/>
    <dgm:cxn modelId="{11BFA3E0-38BA-46B9-9214-F4F34FDF7374}" type="presParOf" srcId="{F7BA9370-31E4-44B7-AC81-33A0774AF93E}" destId="{F44482C7-0F77-4BE9-B00E-FAA85E3BBD2E}" srcOrd="3" destOrd="0" presId="urn:microsoft.com/office/officeart/2018/2/layout/IconLabelList"/>
    <dgm:cxn modelId="{D2551D93-AE4B-4B90-804F-EF6C05F84E6D}" type="presParOf" srcId="{F7BA9370-31E4-44B7-AC81-33A0774AF93E}" destId="{E611C464-4429-4B08-B585-FEBA88D0EE64}" srcOrd="4" destOrd="0" presId="urn:microsoft.com/office/officeart/2018/2/layout/IconLabelList"/>
    <dgm:cxn modelId="{56337ADB-9950-4019-BD5E-96781B87BE96}" type="presParOf" srcId="{E611C464-4429-4B08-B585-FEBA88D0EE64}" destId="{5E848389-752C-471F-B27A-4B63CA6C3130}" srcOrd="0" destOrd="0" presId="urn:microsoft.com/office/officeart/2018/2/layout/IconLabelList"/>
    <dgm:cxn modelId="{97664A30-A8EA-4A82-ADF0-3BE909815BC0}" type="presParOf" srcId="{E611C464-4429-4B08-B585-FEBA88D0EE64}" destId="{6EEFEA11-741B-4442-88A4-3C5AF08B3AAD}" srcOrd="1" destOrd="0" presId="urn:microsoft.com/office/officeart/2018/2/layout/IconLabelList"/>
    <dgm:cxn modelId="{63FA6A2D-5B87-4510-B948-1086D4877C80}" type="presParOf" srcId="{E611C464-4429-4B08-B585-FEBA88D0EE64}" destId="{E666BE24-911B-4CC0-A914-DA80B6AD35A4}" srcOrd="2" destOrd="0" presId="urn:microsoft.com/office/officeart/2018/2/layout/IconLabelList"/>
    <dgm:cxn modelId="{8BB8DF20-5B51-4F8A-95F3-0A0F44A2808D}" type="presParOf" srcId="{F7BA9370-31E4-44B7-AC81-33A0774AF93E}" destId="{D9E565CE-D7F4-4849-9503-9EB3363F1681}" srcOrd="5" destOrd="0" presId="urn:microsoft.com/office/officeart/2018/2/layout/IconLabelList"/>
    <dgm:cxn modelId="{BEFAFDB3-E466-48FE-83ED-8AC2E01DF463}" type="presParOf" srcId="{F7BA9370-31E4-44B7-AC81-33A0774AF93E}" destId="{ACF85761-F899-490B-8837-6EC1A0550C1F}" srcOrd="6" destOrd="0" presId="urn:microsoft.com/office/officeart/2018/2/layout/IconLabelList"/>
    <dgm:cxn modelId="{D9777D8D-8A94-46FA-A8F1-ADBA6DF5E481}" type="presParOf" srcId="{ACF85761-F899-490B-8837-6EC1A0550C1F}" destId="{EBB7E871-53DE-4451-B71A-C0DB09E3A26D}" srcOrd="0" destOrd="0" presId="urn:microsoft.com/office/officeart/2018/2/layout/IconLabelList"/>
    <dgm:cxn modelId="{10E823E4-5169-4738-86B0-247F312F9DF1}" type="presParOf" srcId="{ACF85761-F899-490B-8837-6EC1A0550C1F}" destId="{06791930-4294-461E-B024-EC9F1AA749BB}" srcOrd="1" destOrd="0" presId="urn:microsoft.com/office/officeart/2018/2/layout/IconLabelList"/>
    <dgm:cxn modelId="{A3279BB1-270A-42E5-9F09-0C9ECCB3106C}" type="presParOf" srcId="{ACF85761-F899-490B-8837-6EC1A0550C1F}" destId="{60115173-5674-4581-9F0D-C54F689E4EF6}" srcOrd="2" destOrd="0" presId="urn:microsoft.com/office/officeart/2018/2/layout/IconLabelList"/>
    <dgm:cxn modelId="{FD7C53A3-C704-4E7A-B28E-51D16F3B6329}" type="presParOf" srcId="{F7BA9370-31E4-44B7-AC81-33A0774AF93E}" destId="{7B4E7840-747C-4A2A-B244-9E1FB2DE0ECE}" srcOrd="7" destOrd="0" presId="urn:microsoft.com/office/officeart/2018/2/layout/IconLabelList"/>
    <dgm:cxn modelId="{3E3EDB1E-A298-4D67-8FEA-FA9F88BADE50}" type="presParOf" srcId="{F7BA9370-31E4-44B7-AC81-33A0774AF93E}" destId="{5499D955-7941-43BA-926E-C71238CF095D}" srcOrd="8" destOrd="0" presId="urn:microsoft.com/office/officeart/2018/2/layout/IconLabelList"/>
    <dgm:cxn modelId="{D401981D-8BD9-4DB4-A649-AF3CFEF637A2}" type="presParOf" srcId="{5499D955-7941-43BA-926E-C71238CF095D}" destId="{9772884B-3087-4339-859D-7F7C51F343AB}" srcOrd="0" destOrd="0" presId="urn:microsoft.com/office/officeart/2018/2/layout/IconLabelList"/>
    <dgm:cxn modelId="{31D78639-634B-4AFB-A752-E81F318F43FA}" type="presParOf" srcId="{5499D955-7941-43BA-926E-C71238CF095D}" destId="{813DFA9A-D898-4C2B-AA44-BAE81A6A89DD}" srcOrd="1" destOrd="0" presId="urn:microsoft.com/office/officeart/2018/2/layout/IconLabelList"/>
    <dgm:cxn modelId="{39E9A4AE-054A-48D1-9127-F17B21D556C0}" type="presParOf" srcId="{5499D955-7941-43BA-926E-C71238CF095D}" destId="{30EA3933-EF7B-433A-982A-B05F15302B2E}" srcOrd="2" destOrd="0" presId="urn:microsoft.com/office/officeart/2018/2/layout/IconLabelList"/>
    <dgm:cxn modelId="{3A6D68C2-A3FF-43F4-833D-E16C36A39249}" type="presParOf" srcId="{F7BA9370-31E4-44B7-AC81-33A0774AF93E}" destId="{216EDBF4-3505-43F8-B1EE-238B7222ADA8}" srcOrd="9" destOrd="0" presId="urn:microsoft.com/office/officeart/2018/2/layout/IconLabelList"/>
    <dgm:cxn modelId="{6B3EB3D7-0577-4EC1-9A90-042A2ADFDEB1}" type="presParOf" srcId="{F7BA9370-31E4-44B7-AC81-33A0774AF93E}" destId="{743A4020-1559-43B4-B0D9-5CBB7FA24763}" srcOrd="10" destOrd="0" presId="urn:microsoft.com/office/officeart/2018/2/layout/IconLabelList"/>
    <dgm:cxn modelId="{DE61C8C0-E469-4471-9A9D-B0563BE57427}" type="presParOf" srcId="{743A4020-1559-43B4-B0D9-5CBB7FA24763}" destId="{52183092-025C-4326-989D-0154B9F7469F}" srcOrd="0" destOrd="0" presId="urn:microsoft.com/office/officeart/2018/2/layout/IconLabelList"/>
    <dgm:cxn modelId="{308698B6-D571-4D1C-9AAD-16A46A26B5AA}" type="presParOf" srcId="{743A4020-1559-43B4-B0D9-5CBB7FA24763}" destId="{40015035-CEB9-4B7A-8908-B961079C2C98}" srcOrd="1" destOrd="0" presId="urn:microsoft.com/office/officeart/2018/2/layout/IconLabelList"/>
    <dgm:cxn modelId="{2509E821-B855-4494-88D9-A7841B865A0B}" type="presParOf" srcId="{743A4020-1559-43B4-B0D9-5CBB7FA24763}" destId="{FEBAC8AC-BD86-47AF-9F5A-D301D1D9ED80}" srcOrd="2" destOrd="0" presId="urn:microsoft.com/office/officeart/2018/2/layout/IconLabelList"/>
    <dgm:cxn modelId="{A8D52081-DBE6-4C37-91D0-1BABB6FBBF87}" type="presParOf" srcId="{F7BA9370-31E4-44B7-AC81-33A0774AF93E}" destId="{1F12607B-33F4-44CB-8065-B7545EF2CCB8}" srcOrd="11" destOrd="0" presId="urn:microsoft.com/office/officeart/2018/2/layout/IconLabelList"/>
    <dgm:cxn modelId="{3FE1F5B1-93FC-4A01-AD50-8F3E0880A871}" type="presParOf" srcId="{F7BA9370-31E4-44B7-AC81-33A0774AF93E}" destId="{C95B0C22-8316-4AE7-AE6E-FAA4B06ABB3F}" srcOrd="12" destOrd="0" presId="urn:microsoft.com/office/officeart/2018/2/layout/IconLabelList"/>
    <dgm:cxn modelId="{FD985BF0-C4A7-43CB-BB60-56DAF732B73A}" type="presParOf" srcId="{C95B0C22-8316-4AE7-AE6E-FAA4B06ABB3F}" destId="{4E532574-C4CD-4EFD-BDC1-2FBE46A41DB9}" srcOrd="0" destOrd="0" presId="urn:microsoft.com/office/officeart/2018/2/layout/IconLabelList"/>
    <dgm:cxn modelId="{511701CE-46AB-482E-99C4-5A2337176670}" type="presParOf" srcId="{C95B0C22-8316-4AE7-AE6E-FAA4B06ABB3F}" destId="{0033558C-3156-4412-BE6E-6E708B8AC0CC}" srcOrd="1" destOrd="0" presId="urn:microsoft.com/office/officeart/2018/2/layout/IconLabelList"/>
    <dgm:cxn modelId="{D4A8DF16-4960-4973-A098-B45618CBBEDE}" type="presParOf" srcId="{C95B0C22-8316-4AE7-AE6E-FAA4B06ABB3F}" destId="{A9AC8AD8-85F5-45EA-BC84-D14823287B9F}" srcOrd="2" destOrd="0" presId="urn:microsoft.com/office/officeart/2018/2/layout/IconLabelList"/>
    <dgm:cxn modelId="{B82F8C9F-81CB-4F71-86D8-0AD48B8CBA80}" type="presParOf" srcId="{F7BA9370-31E4-44B7-AC81-33A0774AF93E}" destId="{F5075E23-AC97-44BA-884F-E0881A772270}" srcOrd="13" destOrd="0" presId="urn:microsoft.com/office/officeart/2018/2/layout/IconLabelList"/>
    <dgm:cxn modelId="{083DBD15-4C8D-432B-B84B-B03C805F165A}" type="presParOf" srcId="{F7BA9370-31E4-44B7-AC81-33A0774AF93E}" destId="{C541D9F3-9288-4943-AEA6-A3E8608F0B88}" srcOrd="14" destOrd="0" presId="urn:microsoft.com/office/officeart/2018/2/layout/IconLabelList"/>
    <dgm:cxn modelId="{741688EA-AB2F-4954-975F-2E4319A1EBC1}" type="presParOf" srcId="{C541D9F3-9288-4943-AEA6-A3E8608F0B88}" destId="{8E1F1930-35C3-44CC-A758-0D3F8249838B}" srcOrd="0" destOrd="0" presId="urn:microsoft.com/office/officeart/2018/2/layout/IconLabelList"/>
    <dgm:cxn modelId="{83998EBD-6BF2-48F6-94E7-3368A4481D90}" type="presParOf" srcId="{C541D9F3-9288-4943-AEA6-A3E8608F0B88}" destId="{640EB60E-87C8-4CFC-8D01-D2A9D8A32876}" srcOrd="1" destOrd="0" presId="urn:microsoft.com/office/officeart/2018/2/layout/IconLabelList"/>
    <dgm:cxn modelId="{C676DE5A-39B4-469C-9331-BB5C3AD410FD}" type="presParOf" srcId="{C541D9F3-9288-4943-AEA6-A3E8608F0B88}" destId="{30EFB137-1B40-4412-8E76-44D9B9A2198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360301-3DCD-4A8E-ACAE-BCA6B9E666DE}"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D04AD65-A622-4164-9E26-A40F24A42D0C}">
      <dgm:prSet/>
      <dgm:spPr/>
      <dgm:t>
        <a:bodyPr/>
        <a:lstStyle/>
        <a:p>
          <a:pPr>
            <a:lnSpc>
              <a:spcPct val="100000"/>
            </a:lnSpc>
          </a:pPr>
          <a:r>
            <a:rPr lang="en-CA" b="1" i="0"/>
            <a:t>Volume</a:t>
          </a:r>
          <a:r>
            <a:rPr lang="en-CA" b="0" i="0"/>
            <a:t>: The sheer amount of data generated and stored. It's not just terabytes but could be petabytes or exabytes of data.</a:t>
          </a:r>
          <a:endParaRPr lang="en-US"/>
        </a:p>
      </dgm:t>
    </dgm:pt>
    <dgm:pt modelId="{94BC934E-AB1D-49B3-9E81-804CC32A4A89}" type="parTrans" cxnId="{524660D7-BA62-4104-A747-8EBE5744235A}">
      <dgm:prSet/>
      <dgm:spPr/>
      <dgm:t>
        <a:bodyPr/>
        <a:lstStyle/>
        <a:p>
          <a:endParaRPr lang="en-US"/>
        </a:p>
      </dgm:t>
    </dgm:pt>
    <dgm:pt modelId="{B4E4DE0D-611F-49FA-A907-10E18532A02B}" type="sibTrans" cxnId="{524660D7-BA62-4104-A747-8EBE5744235A}">
      <dgm:prSet/>
      <dgm:spPr/>
      <dgm:t>
        <a:bodyPr/>
        <a:lstStyle/>
        <a:p>
          <a:endParaRPr lang="en-US"/>
        </a:p>
      </dgm:t>
    </dgm:pt>
    <dgm:pt modelId="{F8B714D8-F0D3-4BF1-BCA0-1E883693851D}">
      <dgm:prSet/>
      <dgm:spPr/>
      <dgm:t>
        <a:bodyPr/>
        <a:lstStyle/>
        <a:p>
          <a:pPr>
            <a:lnSpc>
              <a:spcPct val="100000"/>
            </a:lnSpc>
          </a:pPr>
          <a:r>
            <a:rPr lang="en-CA" b="1" i="0"/>
            <a:t>Velocity</a:t>
          </a:r>
          <a:r>
            <a:rPr lang="en-CA" b="0" i="0"/>
            <a:t>: The speed at which new data is generated and the pace at which data moves. It includes the rapid ingestion of data from sources like social media or sensors.</a:t>
          </a:r>
          <a:endParaRPr lang="en-US"/>
        </a:p>
      </dgm:t>
    </dgm:pt>
    <dgm:pt modelId="{92EF162B-0160-49A8-A68D-57C44C99933F}" type="parTrans" cxnId="{023752A1-9FC7-48D3-A4C9-731D28BF5042}">
      <dgm:prSet/>
      <dgm:spPr/>
      <dgm:t>
        <a:bodyPr/>
        <a:lstStyle/>
        <a:p>
          <a:endParaRPr lang="en-US"/>
        </a:p>
      </dgm:t>
    </dgm:pt>
    <dgm:pt modelId="{1BB0AB50-2ADD-481B-8C66-05DAF2B83662}" type="sibTrans" cxnId="{023752A1-9FC7-48D3-A4C9-731D28BF5042}">
      <dgm:prSet/>
      <dgm:spPr/>
      <dgm:t>
        <a:bodyPr/>
        <a:lstStyle/>
        <a:p>
          <a:endParaRPr lang="en-US"/>
        </a:p>
      </dgm:t>
    </dgm:pt>
    <dgm:pt modelId="{D108B2B5-4303-4F0C-8701-BD32A18CF0C1}">
      <dgm:prSet/>
      <dgm:spPr/>
      <dgm:t>
        <a:bodyPr/>
        <a:lstStyle/>
        <a:p>
          <a:pPr>
            <a:lnSpc>
              <a:spcPct val="100000"/>
            </a:lnSpc>
          </a:pPr>
          <a:r>
            <a:rPr lang="en-CA" b="1" i="0"/>
            <a:t>Variety</a:t>
          </a:r>
          <a:r>
            <a:rPr lang="en-CA" b="0" i="0"/>
            <a:t>: The different types of data, which could be structured, unstructured, or semi-structured. This variety includes everything from text and images to log files and video.</a:t>
          </a:r>
          <a:endParaRPr lang="en-US"/>
        </a:p>
      </dgm:t>
    </dgm:pt>
    <dgm:pt modelId="{9E0E2BE3-90E3-4585-9AE4-B3945DF90914}" type="parTrans" cxnId="{3D8E3EFD-4E10-4E78-AC0F-B954EF9280A1}">
      <dgm:prSet/>
      <dgm:spPr/>
      <dgm:t>
        <a:bodyPr/>
        <a:lstStyle/>
        <a:p>
          <a:endParaRPr lang="en-US"/>
        </a:p>
      </dgm:t>
    </dgm:pt>
    <dgm:pt modelId="{F3B1C616-2B9F-40B6-B05A-7FFD968AAB63}" type="sibTrans" cxnId="{3D8E3EFD-4E10-4E78-AC0F-B954EF9280A1}">
      <dgm:prSet/>
      <dgm:spPr/>
      <dgm:t>
        <a:bodyPr/>
        <a:lstStyle/>
        <a:p>
          <a:endParaRPr lang="en-US"/>
        </a:p>
      </dgm:t>
    </dgm:pt>
    <dgm:pt modelId="{23287CCA-3DB6-4D82-89BE-08854F57E198}">
      <dgm:prSet/>
      <dgm:spPr/>
      <dgm:t>
        <a:bodyPr/>
        <a:lstStyle/>
        <a:p>
          <a:pPr>
            <a:lnSpc>
              <a:spcPct val="100000"/>
            </a:lnSpc>
          </a:pPr>
          <a:r>
            <a:rPr lang="en-CA" b="1" i="0"/>
            <a:t>Veracity</a:t>
          </a:r>
          <a:r>
            <a:rPr lang="en-CA" b="0" i="0"/>
            <a:t>: The quality and accuracy of the data.</a:t>
          </a:r>
          <a:endParaRPr lang="en-US"/>
        </a:p>
      </dgm:t>
    </dgm:pt>
    <dgm:pt modelId="{96371139-124F-4FB7-920B-E4CBA3B3F31A}" type="parTrans" cxnId="{C6513F40-6DDA-46DE-BBF9-80D656C91562}">
      <dgm:prSet/>
      <dgm:spPr/>
      <dgm:t>
        <a:bodyPr/>
        <a:lstStyle/>
        <a:p>
          <a:endParaRPr lang="en-US"/>
        </a:p>
      </dgm:t>
    </dgm:pt>
    <dgm:pt modelId="{9318EE95-2A5E-4B7E-8865-241685147F55}" type="sibTrans" cxnId="{C6513F40-6DDA-46DE-BBF9-80D656C91562}">
      <dgm:prSet/>
      <dgm:spPr/>
      <dgm:t>
        <a:bodyPr/>
        <a:lstStyle/>
        <a:p>
          <a:endParaRPr lang="en-US"/>
        </a:p>
      </dgm:t>
    </dgm:pt>
    <dgm:pt modelId="{60A6D68D-CE4B-46C9-830A-AEB7BF5B3482}">
      <dgm:prSet/>
      <dgm:spPr/>
      <dgm:t>
        <a:bodyPr/>
        <a:lstStyle/>
        <a:p>
          <a:pPr>
            <a:lnSpc>
              <a:spcPct val="100000"/>
            </a:lnSpc>
          </a:pPr>
          <a:r>
            <a:rPr lang="en-CA" b="1" i="0"/>
            <a:t>Value</a:t>
          </a:r>
          <a:r>
            <a:rPr lang="en-CA" b="0" i="0"/>
            <a:t>: The usefulness of the data in making decisions.</a:t>
          </a:r>
          <a:endParaRPr lang="en-US"/>
        </a:p>
      </dgm:t>
    </dgm:pt>
    <dgm:pt modelId="{7D2AB982-72F9-4041-91C2-EFBB057F5715}" type="parTrans" cxnId="{CBBDF871-88D1-4F01-B20A-6FB1D0E9E23B}">
      <dgm:prSet/>
      <dgm:spPr/>
      <dgm:t>
        <a:bodyPr/>
        <a:lstStyle/>
        <a:p>
          <a:endParaRPr lang="en-US"/>
        </a:p>
      </dgm:t>
    </dgm:pt>
    <dgm:pt modelId="{612E6098-74A2-4166-B056-E635C959EE0E}" type="sibTrans" cxnId="{CBBDF871-88D1-4F01-B20A-6FB1D0E9E23B}">
      <dgm:prSet/>
      <dgm:spPr/>
      <dgm:t>
        <a:bodyPr/>
        <a:lstStyle/>
        <a:p>
          <a:endParaRPr lang="en-US"/>
        </a:p>
      </dgm:t>
    </dgm:pt>
    <dgm:pt modelId="{43F7EDE3-D273-4927-B63C-690FE86490A2}" type="pres">
      <dgm:prSet presAssocID="{49360301-3DCD-4A8E-ACAE-BCA6B9E666DE}" presName="root" presStyleCnt="0">
        <dgm:presLayoutVars>
          <dgm:dir/>
          <dgm:resizeHandles val="exact"/>
        </dgm:presLayoutVars>
      </dgm:prSet>
      <dgm:spPr/>
    </dgm:pt>
    <dgm:pt modelId="{36A96328-0578-47B6-B757-359BDC9B12A6}" type="pres">
      <dgm:prSet presAssocID="{CD04AD65-A622-4164-9E26-A40F24A42D0C}" presName="compNode" presStyleCnt="0"/>
      <dgm:spPr/>
    </dgm:pt>
    <dgm:pt modelId="{8FCA9686-232B-4706-8E1C-9DC5D8A003A9}" type="pres">
      <dgm:prSet presAssocID="{CD04AD65-A622-4164-9E26-A40F24A42D0C}" presName="bgRect" presStyleLbl="bgShp" presStyleIdx="0" presStyleCnt="5"/>
      <dgm:spPr/>
    </dgm:pt>
    <dgm:pt modelId="{8813562A-53B7-4280-B620-E9F5F7236396}" type="pres">
      <dgm:prSet presAssocID="{CD04AD65-A622-4164-9E26-A40F24A42D0C}"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F0E145EF-511E-491E-AA35-CB0C1DAEAB61}" type="pres">
      <dgm:prSet presAssocID="{CD04AD65-A622-4164-9E26-A40F24A42D0C}" presName="spaceRect" presStyleCnt="0"/>
      <dgm:spPr/>
    </dgm:pt>
    <dgm:pt modelId="{9700552A-612C-4CDC-B94A-EB5C0FE70695}" type="pres">
      <dgm:prSet presAssocID="{CD04AD65-A622-4164-9E26-A40F24A42D0C}" presName="parTx" presStyleLbl="revTx" presStyleIdx="0" presStyleCnt="5">
        <dgm:presLayoutVars>
          <dgm:chMax val="0"/>
          <dgm:chPref val="0"/>
        </dgm:presLayoutVars>
      </dgm:prSet>
      <dgm:spPr/>
    </dgm:pt>
    <dgm:pt modelId="{C6F0A7BA-1E87-4159-A8C4-D19BB899D721}" type="pres">
      <dgm:prSet presAssocID="{B4E4DE0D-611F-49FA-A907-10E18532A02B}" presName="sibTrans" presStyleCnt="0"/>
      <dgm:spPr/>
    </dgm:pt>
    <dgm:pt modelId="{3417403C-805C-4A9E-A9F6-94AA9F021290}" type="pres">
      <dgm:prSet presAssocID="{F8B714D8-F0D3-4BF1-BCA0-1E883693851D}" presName="compNode" presStyleCnt="0"/>
      <dgm:spPr/>
    </dgm:pt>
    <dgm:pt modelId="{65CDF53B-854D-4525-A28E-B4A4AE1E5FBC}" type="pres">
      <dgm:prSet presAssocID="{F8B714D8-F0D3-4BF1-BCA0-1E883693851D}" presName="bgRect" presStyleLbl="bgShp" presStyleIdx="1" presStyleCnt="5"/>
      <dgm:spPr/>
    </dgm:pt>
    <dgm:pt modelId="{390BA28F-5FA3-4C6C-8D31-3175AB31C7F6}" type="pres">
      <dgm:prSet presAssocID="{F8B714D8-F0D3-4BF1-BCA0-1E883693851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eed Bump"/>
        </a:ext>
      </dgm:extLst>
    </dgm:pt>
    <dgm:pt modelId="{163DA1ED-F003-4CB9-9807-CB65E0D295B4}" type="pres">
      <dgm:prSet presAssocID="{F8B714D8-F0D3-4BF1-BCA0-1E883693851D}" presName="spaceRect" presStyleCnt="0"/>
      <dgm:spPr/>
    </dgm:pt>
    <dgm:pt modelId="{8D399DC7-E7A3-4949-96CC-EBD9D1F0D1C0}" type="pres">
      <dgm:prSet presAssocID="{F8B714D8-F0D3-4BF1-BCA0-1E883693851D}" presName="parTx" presStyleLbl="revTx" presStyleIdx="1" presStyleCnt="5">
        <dgm:presLayoutVars>
          <dgm:chMax val="0"/>
          <dgm:chPref val="0"/>
        </dgm:presLayoutVars>
      </dgm:prSet>
      <dgm:spPr/>
    </dgm:pt>
    <dgm:pt modelId="{11B99E3F-4739-409B-B331-451F24CAB310}" type="pres">
      <dgm:prSet presAssocID="{1BB0AB50-2ADD-481B-8C66-05DAF2B83662}" presName="sibTrans" presStyleCnt="0"/>
      <dgm:spPr/>
    </dgm:pt>
    <dgm:pt modelId="{9299BF28-D33F-4448-9D5B-E6F16F307298}" type="pres">
      <dgm:prSet presAssocID="{D108B2B5-4303-4F0C-8701-BD32A18CF0C1}" presName="compNode" presStyleCnt="0"/>
      <dgm:spPr/>
    </dgm:pt>
    <dgm:pt modelId="{CB763EC1-AE34-4535-BFFA-F6FFBDA0A7EF}" type="pres">
      <dgm:prSet presAssocID="{D108B2B5-4303-4F0C-8701-BD32A18CF0C1}" presName="bgRect" presStyleLbl="bgShp" presStyleIdx="2" presStyleCnt="5"/>
      <dgm:spPr/>
    </dgm:pt>
    <dgm:pt modelId="{58731B24-4455-4DD0-B9BC-43D49ADC8794}" type="pres">
      <dgm:prSet presAssocID="{D108B2B5-4303-4F0C-8701-BD32A18CF0C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ierarchy"/>
        </a:ext>
      </dgm:extLst>
    </dgm:pt>
    <dgm:pt modelId="{C85D1992-0DA1-4944-9297-747D7263067E}" type="pres">
      <dgm:prSet presAssocID="{D108B2B5-4303-4F0C-8701-BD32A18CF0C1}" presName="spaceRect" presStyleCnt="0"/>
      <dgm:spPr/>
    </dgm:pt>
    <dgm:pt modelId="{D4DDDF5B-C537-4744-9382-6E263C69F23E}" type="pres">
      <dgm:prSet presAssocID="{D108B2B5-4303-4F0C-8701-BD32A18CF0C1}" presName="parTx" presStyleLbl="revTx" presStyleIdx="2" presStyleCnt="5">
        <dgm:presLayoutVars>
          <dgm:chMax val="0"/>
          <dgm:chPref val="0"/>
        </dgm:presLayoutVars>
      </dgm:prSet>
      <dgm:spPr/>
    </dgm:pt>
    <dgm:pt modelId="{541CBA97-7A55-498F-B1BA-71FB5F250959}" type="pres">
      <dgm:prSet presAssocID="{F3B1C616-2B9F-40B6-B05A-7FFD968AAB63}" presName="sibTrans" presStyleCnt="0"/>
      <dgm:spPr/>
    </dgm:pt>
    <dgm:pt modelId="{D5335C07-9AD9-450B-A702-C37AF2E8CACE}" type="pres">
      <dgm:prSet presAssocID="{23287CCA-3DB6-4D82-89BE-08854F57E198}" presName="compNode" presStyleCnt="0"/>
      <dgm:spPr/>
    </dgm:pt>
    <dgm:pt modelId="{1222699F-7863-4C17-9D55-E5254323024C}" type="pres">
      <dgm:prSet presAssocID="{23287CCA-3DB6-4D82-89BE-08854F57E198}" presName="bgRect" presStyleLbl="bgShp" presStyleIdx="3" presStyleCnt="5"/>
      <dgm:spPr/>
    </dgm:pt>
    <dgm:pt modelId="{8D9EA7D9-0C3C-4D93-A8C3-E32669C6E089}" type="pres">
      <dgm:prSet presAssocID="{23287CCA-3DB6-4D82-89BE-08854F57E19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Marker"/>
        </a:ext>
      </dgm:extLst>
    </dgm:pt>
    <dgm:pt modelId="{502D90CD-0F11-45D5-A695-74925F0C6B1B}" type="pres">
      <dgm:prSet presAssocID="{23287CCA-3DB6-4D82-89BE-08854F57E198}" presName="spaceRect" presStyleCnt="0"/>
      <dgm:spPr/>
    </dgm:pt>
    <dgm:pt modelId="{041B6B42-294D-47A6-9977-393D7A16A0CC}" type="pres">
      <dgm:prSet presAssocID="{23287CCA-3DB6-4D82-89BE-08854F57E198}" presName="parTx" presStyleLbl="revTx" presStyleIdx="3" presStyleCnt="5">
        <dgm:presLayoutVars>
          <dgm:chMax val="0"/>
          <dgm:chPref val="0"/>
        </dgm:presLayoutVars>
      </dgm:prSet>
      <dgm:spPr/>
    </dgm:pt>
    <dgm:pt modelId="{D1C50FA7-0FD3-476D-B99E-FDEE8D9F2425}" type="pres">
      <dgm:prSet presAssocID="{9318EE95-2A5E-4B7E-8865-241685147F55}" presName="sibTrans" presStyleCnt="0"/>
      <dgm:spPr/>
    </dgm:pt>
    <dgm:pt modelId="{D5542693-A7A0-48FB-A184-BDC91EBB092E}" type="pres">
      <dgm:prSet presAssocID="{60A6D68D-CE4B-46C9-830A-AEB7BF5B3482}" presName="compNode" presStyleCnt="0"/>
      <dgm:spPr/>
    </dgm:pt>
    <dgm:pt modelId="{70C27C01-79C6-4898-BB19-32D45D201221}" type="pres">
      <dgm:prSet presAssocID="{60A6D68D-CE4B-46C9-830A-AEB7BF5B3482}" presName="bgRect" presStyleLbl="bgShp" presStyleIdx="4" presStyleCnt="5"/>
      <dgm:spPr/>
    </dgm:pt>
    <dgm:pt modelId="{F460F228-3420-44D4-862A-F03702A0FCEA}" type="pres">
      <dgm:prSet presAssocID="{60A6D68D-CE4B-46C9-830A-AEB7BF5B348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ice"/>
        </a:ext>
      </dgm:extLst>
    </dgm:pt>
    <dgm:pt modelId="{A0B9E585-4618-4DE7-BCE5-37DCDADF8C20}" type="pres">
      <dgm:prSet presAssocID="{60A6D68D-CE4B-46C9-830A-AEB7BF5B3482}" presName="spaceRect" presStyleCnt="0"/>
      <dgm:spPr/>
    </dgm:pt>
    <dgm:pt modelId="{18DC867C-8C81-41C1-8334-DF23B42621D7}" type="pres">
      <dgm:prSet presAssocID="{60A6D68D-CE4B-46C9-830A-AEB7BF5B3482}" presName="parTx" presStyleLbl="revTx" presStyleIdx="4" presStyleCnt="5">
        <dgm:presLayoutVars>
          <dgm:chMax val="0"/>
          <dgm:chPref val="0"/>
        </dgm:presLayoutVars>
      </dgm:prSet>
      <dgm:spPr/>
    </dgm:pt>
  </dgm:ptLst>
  <dgm:cxnLst>
    <dgm:cxn modelId="{C8159B04-F18F-4BD6-9E74-375D698D6A98}" type="presOf" srcId="{F8B714D8-F0D3-4BF1-BCA0-1E883693851D}" destId="{8D399DC7-E7A3-4949-96CC-EBD9D1F0D1C0}" srcOrd="0" destOrd="0" presId="urn:microsoft.com/office/officeart/2018/2/layout/IconVerticalSolidList"/>
    <dgm:cxn modelId="{2388BF28-2F52-4556-80CD-258916022A6F}" type="presOf" srcId="{49360301-3DCD-4A8E-ACAE-BCA6B9E666DE}" destId="{43F7EDE3-D273-4927-B63C-690FE86490A2}" srcOrd="0" destOrd="0" presId="urn:microsoft.com/office/officeart/2018/2/layout/IconVerticalSolidList"/>
    <dgm:cxn modelId="{C6513F40-6DDA-46DE-BBF9-80D656C91562}" srcId="{49360301-3DCD-4A8E-ACAE-BCA6B9E666DE}" destId="{23287CCA-3DB6-4D82-89BE-08854F57E198}" srcOrd="3" destOrd="0" parTransId="{96371139-124F-4FB7-920B-E4CBA3B3F31A}" sibTransId="{9318EE95-2A5E-4B7E-8865-241685147F55}"/>
    <dgm:cxn modelId="{26A9BD5E-1728-450E-A98B-38AE3EE68267}" type="presOf" srcId="{23287CCA-3DB6-4D82-89BE-08854F57E198}" destId="{041B6B42-294D-47A6-9977-393D7A16A0CC}" srcOrd="0" destOrd="0" presId="urn:microsoft.com/office/officeart/2018/2/layout/IconVerticalSolidList"/>
    <dgm:cxn modelId="{CBBDF871-88D1-4F01-B20A-6FB1D0E9E23B}" srcId="{49360301-3DCD-4A8E-ACAE-BCA6B9E666DE}" destId="{60A6D68D-CE4B-46C9-830A-AEB7BF5B3482}" srcOrd="4" destOrd="0" parTransId="{7D2AB982-72F9-4041-91C2-EFBB057F5715}" sibTransId="{612E6098-74A2-4166-B056-E635C959EE0E}"/>
    <dgm:cxn modelId="{ABF9E075-915C-4C1C-AAF9-DB274F1739B7}" type="presOf" srcId="{D108B2B5-4303-4F0C-8701-BD32A18CF0C1}" destId="{D4DDDF5B-C537-4744-9382-6E263C69F23E}" srcOrd="0" destOrd="0" presId="urn:microsoft.com/office/officeart/2018/2/layout/IconVerticalSolidList"/>
    <dgm:cxn modelId="{4CAB8276-6145-458B-B587-CB0D4214020E}" type="presOf" srcId="{60A6D68D-CE4B-46C9-830A-AEB7BF5B3482}" destId="{18DC867C-8C81-41C1-8334-DF23B42621D7}" srcOrd="0" destOrd="0" presId="urn:microsoft.com/office/officeart/2018/2/layout/IconVerticalSolidList"/>
    <dgm:cxn modelId="{023752A1-9FC7-48D3-A4C9-731D28BF5042}" srcId="{49360301-3DCD-4A8E-ACAE-BCA6B9E666DE}" destId="{F8B714D8-F0D3-4BF1-BCA0-1E883693851D}" srcOrd="1" destOrd="0" parTransId="{92EF162B-0160-49A8-A68D-57C44C99933F}" sibTransId="{1BB0AB50-2ADD-481B-8C66-05DAF2B83662}"/>
    <dgm:cxn modelId="{524660D7-BA62-4104-A747-8EBE5744235A}" srcId="{49360301-3DCD-4A8E-ACAE-BCA6B9E666DE}" destId="{CD04AD65-A622-4164-9E26-A40F24A42D0C}" srcOrd="0" destOrd="0" parTransId="{94BC934E-AB1D-49B3-9E81-804CC32A4A89}" sibTransId="{B4E4DE0D-611F-49FA-A907-10E18532A02B}"/>
    <dgm:cxn modelId="{4BB984F8-1840-476F-BF94-05D0AEDFB323}" type="presOf" srcId="{CD04AD65-A622-4164-9E26-A40F24A42D0C}" destId="{9700552A-612C-4CDC-B94A-EB5C0FE70695}" srcOrd="0" destOrd="0" presId="urn:microsoft.com/office/officeart/2018/2/layout/IconVerticalSolidList"/>
    <dgm:cxn modelId="{3D8E3EFD-4E10-4E78-AC0F-B954EF9280A1}" srcId="{49360301-3DCD-4A8E-ACAE-BCA6B9E666DE}" destId="{D108B2B5-4303-4F0C-8701-BD32A18CF0C1}" srcOrd="2" destOrd="0" parTransId="{9E0E2BE3-90E3-4585-9AE4-B3945DF90914}" sibTransId="{F3B1C616-2B9F-40B6-B05A-7FFD968AAB63}"/>
    <dgm:cxn modelId="{7A168052-B513-4ED8-BB3E-0A59ADC7AC8C}" type="presParOf" srcId="{43F7EDE3-D273-4927-B63C-690FE86490A2}" destId="{36A96328-0578-47B6-B757-359BDC9B12A6}" srcOrd="0" destOrd="0" presId="urn:microsoft.com/office/officeart/2018/2/layout/IconVerticalSolidList"/>
    <dgm:cxn modelId="{991F0B97-12A5-4B81-9F91-412AFACB8F8C}" type="presParOf" srcId="{36A96328-0578-47B6-B757-359BDC9B12A6}" destId="{8FCA9686-232B-4706-8E1C-9DC5D8A003A9}" srcOrd="0" destOrd="0" presId="urn:microsoft.com/office/officeart/2018/2/layout/IconVerticalSolidList"/>
    <dgm:cxn modelId="{C8D43310-8F7F-42A6-ADE4-5F1E5260DC80}" type="presParOf" srcId="{36A96328-0578-47B6-B757-359BDC9B12A6}" destId="{8813562A-53B7-4280-B620-E9F5F7236396}" srcOrd="1" destOrd="0" presId="urn:microsoft.com/office/officeart/2018/2/layout/IconVerticalSolidList"/>
    <dgm:cxn modelId="{EFAEFA14-3232-4D0A-BE76-749DA26AB33C}" type="presParOf" srcId="{36A96328-0578-47B6-B757-359BDC9B12A6}" destId="{F0E145EF-511E-491E-AA35-CB0C1DAEAB61}" srcOrd="2" destOrd="0" presId="urn:microsoft.com/office/officeart/2018/2/layout/IconVerticalSolidList"/>
    <dgm:cxn modelId="{6D3A1045-6DC8-4B3B-91AE-93AFE1A6AD76}" type="presParOf" srcId="{36A96328-0578-47B6-B757-359BDC9B12A6}" destId="{9700552A-612C-4CDC-B94A-EB5C0FE70695}" srcOrd="3" destOrd="0" presId="urn:microsoft.com/office/officeart/2018/2/layout/IconVerticalSolidList"/>
    <dgm:cxn modelId="{2B100925-BD89-4EF4-B7B8-6D241F9B8F68}" type="presParOf" srcId="{43F7EDE3-D273-4927-B63C-690FE86490A2}" destId="{C6F0A7BA-1E87-4159-A8C4-D19BB899D721}" srcOrd="1" destOrd="0" presId="urn:microsoft.com/office/officeart/2018/2/layout/IconVerticalSolidList"/>
    <dgm:cxn modelId="{E9B22BA0-EE2D-466B-B9B7-651747C8CB7D}" type="presParOf" srcId="{43F7EDE3-D273-4927-B63C-690FE86490A2}" destId="{3417403C-805C-4A9E-A9F6-94AA9F021290}" srcOrd="2" destOrd="0" presId="urn:microsoft.com/office/officeart/2018/2/layout/IconVerticalSolidList"/>
    <dgm:cxn modelId="{75FED0C5-0359-4298-8FCE-BDD37926CD43}" type="presParOf" srcId="{3417403C-805C-4A9E-A9F6-94AA9F021290}" destId="{65CDF53B-854D-4525-A28E-B4A4AE1E5FBC}" srcOrd="0" destOrd="0" presId="urn:microsoft.com/office/officeart/2018/2/layout/IconVerticalSolidList"/>
    <dgm:cxn modelId="{7101E8EB-2B4A-4754-82CA-01FBF73E615D}" type="presParOf" srcId="{3417403C-805C-4A9E-A9F6-94AA9F021290}" destId="{390BA28F-5FA3-4C6C-8D31-3175AB31C7F6}" srcOrd="1" destOrd="0" presId="urn:microsoft.com/office/officeart/2018/2/layout/IconVerticalSolidList"/>
    <dgm:cxn modelId="{BAD9684E-5B5E-4962-BDAD-FE1D8C2802EC}" type="presParOf" srcId="{3417403C-805C-4A9E-A9F6-94AA9F021290}" destId="{163DA1ED-F003-4CB9-9807-CB65E0D295B4}" srcOrd="2" destOrd="0" presId="urn:microsoft.com/office/officeart/2018/2/layout/IconVerticalSolidList"/>
    <dgm:cxn modelId="{44C40247-8885-45F7-82A9-FFD2F29815B6}" type="presParOf" srcId="{3417403C-805C-4A9E-A9F6-94AA9F021290}" destId="{8D399DC7-E7A3-4949-96CC-EBD9D1F0D1C0}" srcOrd="3" destOrd="0" presId="urn:microsoft.com/office/officeart/2018/2/layout/IconVerticalSolidList"/>
    <dgm:cxn modelId="{B6746A49-D623-44FD-8C11-662BB0DED05A}" type="presParOf" srcId="{43F7EDE3-D273-4927-B63C-690FE86490A2}" destId="{11B99E3F-4739-409B-B331-451F24CAB310}" srcOrd="3" destOrd="0" presId="urn:microsoft.com/office/officeart/2018/2/layout/IconVerticalSolidList"/>
    <dgm:cxn modelId="{4608A40E-6870-4652-AB76-1DC62A4CCFDA}" type="presParOf" srcId="{43F7EDE3-D273-4927-B63C-690FE86490A2}" destId="{9299BF28-D33F-4448-9D5B-E6F16F307298}" srcOrd="4" destOrd="0" presId="urn:microsoft.com/office/officeart/2018/2/layout/IconVerticalSolidList"/>
    <dgm:cxn modelId="{6EFE90FF-11A2-40FE-BDBC-7EB368D8CA82}" type="presParOf" srcId="{9299BF28-D33F-4448-9D5B-E6F16F307298}" destId="{CB763EC1-AE34-4535-BFFA-F6FFBDA0A7EF}" srcOrd="0" destOrd="0" presId="urn:microsoft.com/office/officeart/2018/2/layout/IconVerticalSolidList"/>
    <dgm:cxn modelId="{8300E185-415E-4126-A3EB-EE27447B2F34}" type="presParOf" srcId="{9299BF28-D33F-4448-9D5B-E6F16F307298}" destId="{58731B24-4455-4DD0-B9BC-43D49ADC8794}" srcOrd="1" destOrd="0" presId="urn:microsoft.com/office/officeart/2018/2/layout/IconVerticalSolidList"/>
    <dgm:cxn modelId="{81B35F80-2EE0-4E65-94CB-4AC75120D967}" type="presParOf" srcId="{9299BF28-D33F-4448-9D5B-E6F16F307298}" destId="{C85D1992-0DA1-4944-9297-747D7263067E}" srcOrd="2" destOrd="0" presId="urn:microsoft.com/office/officeart/2018/2/layout/IconVerticalSolidList"/>
    <dgm:cxn modelId="{F49C0AEE-40B4-42A5-9388-A8AA681E2015}" type="presParOf" srcId="{9299BF28-D33F-4448-9D5B-E6F16F307298}" destId="{D4DDDF5B-C537-4744-9382-6E263C69F23E}" srcOrd="3" destOrd="0" presId="urn:microsoft.com/office/officeart/2018/2/layout/IconVerticalSolidList"/>
    <dgm:cxn modelId="{D7D701E0-EC63-4FF8-B05D-0658D343BDEE}" type="presParOf" srcId="{43F7EDE3-D273-4927-B63C-690FE86490A2}" destId="{541CBA97-7A55-498F-B1BA-71FB5F250959}" srcOrd="5" destOrd="0" presId="urn:microsoft.com/office/officeart/2018/2/layout/IconVerticalSolidList"/>
    <dgm:cxn modelId="{B28549D4-3DBF-4B38-B6BE-D9E593859B4F}" type="presParOf" srcId="{43F7EDE3-D273-4927-B63C-690FE86490A2}" destId="{D5335C07-9AD9-450B-A702-C37AF2E8CACE}" srcOrd="6" destOrd="0" presId="urn:microsoft.com/office/officeart/2018/2/layout/IconVerticalSolidList"/>
    <dgm:cxn modelId="{014D42F8-3A6E-43A9-9A8C-2F29399F3BEB}" type="presParOf" srcId="{D5335C07-9AD9-450B-A702-C37AF2E8CACE}" destId="{1222699F-7863-4C17-9D55-E5254323024C}" srcOrd="0" destOrd="0" presId="urn:microsoft.com/office/officeart/2018/2/layout/IconVerticalSolidList"/>
    <dgm:cxn modelId="{062BAEA5-8423-4ECC-ACE4-D959C66375FE}" type="presParOf" srcId="{D5335C07-9AD9-450B-A702-C37AF2E8CACE}" destId="{8D9EA7D9-0C3C-4D93-A8C3-E32669C6E089}" srcOrd="1" destOrd="0" presId="urn:microsoft.com/office/officeart/2018/2/layout/IconVerticalSolidList"/>
    <dgm:cxn modelId="{488B89A3-AC0A-4CCF-821B-04D01D39BBF5}" type="presParOf" srcId="{D5335C07-9AD9-450B-A702-C37AF2E8CACE}" destId="{502D90CD-0F11-45D5-A695-74925F0C6B1B}" srcOrd="2" destOrd="0" presId="urn:microsoft.com/office/officeart/2018/2/layout/IconVerticalSolidList"/>
    <dgm:cxn modelId="{01E9DF84-3DF4-4694-873D-BECDE0AADC5D}" type="presParOf" srcId="{D5335C07-9AD9-450B-A702-C37AF2E8CACE}" destId="{041B6B42-294D-47A6-9977-393D7A16A0CC}" srcOrd="3" destOrd="0" presId="urn:microsoft.com/office/officeart/2018/2/layout/IconVerticalSolidList"/>
    <dgm:cxn modelId="{9ADE3133-67DF-4C3E-A2E2-5DC4EBF6996D}" type="presParOf" srcId="{43F7EDE3-D273-4927-B63C-690FE86490A2}" destId="{D1C50FA7-0FD3-476D-B99E-FDEE8D9F2425}" srcOrd="7" destOrd="0" presId="urn:microsoft.com/office/officeart/2018/2/layout/IconVerticalSolidList"/>
    <dgm:cxn modelId="{76F411D9-B5A3-4F91-9980-2A2456BCE5DA}" type="presParOf" srcId="{43F7EDE3-D273-4927-B63C-690FE86490A2}" destId="{D5542693-A7A0-48FB-A184-BDC91EBB092E}" srcOrd="8" destOrd="0" presId="urn:microsoft.com/office/officeart/2018/2/layout/IconVerticalSolidList"/>
    <dgm:cxn modelId="{2BE7603F-E797-41C1-8726-8504411CD0C8}" type="presParOf" srcId="{D5542693-A7A0-48FB-A184-BDC91EBB092E}" destId="{70C27C01-79C6-4898-BB19-32D45D201221}" srcOrd="0" destOrd="0" presId="urn:microsoft.com/office/officeart/2018/2/layout/IconVerticalSolidList"/>
    <dgm:cxn modelId="{93FDD262-5993-4496-AFC7-C311ADA7F1DA}" type="presParOf" srcId="{D5542693-A7A0-48FB-A184-BDC91EBB092E}" destId="{F460F228-3420-44D4-862A-F03702A0FCEA}" srcOrd="1" destOrd="0" presId="urn:microsoft.com/office/officeart/2018/2/layout/IconVerticalSolidList"/>
    <dgm:cxn modelId="{0F6991C2-A305-4E44-AF58-AED7DF3DE85A}" type="presParOf" srcId="{D5542693-A7A0-48FB-A184-BDC91EBB092E}" destId="{A0B9E585-4618-4DE7-BCE5-37DCDADF8C20}" srcOrd="2" destOrd="0" presId="urn:microsoft.com/office/officeart/2018/2/layout/IconVerticalSolidList"/>
    <dgm:cxn modelId="{9D6A44D2-992E-474C-B57F-BB9F8D33402B}" type="presParOf" srcId="{D5542693-A7A0-48FB-A184-BDC91EBB092E}" destId="{18DC867C-8C81-41C1-8334-DF23B42621D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A434AC2-5A2F-4B35-B6AB-D20C31C4C001}"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9FE5452D-4B06-4ACF-890D-390491052071}">
      <dgm:prSet/>
      <dgm:spPr/>
      <dgm:t>
        <a:bodyPr/>
        <a:lstStyle/>
        <a:p>
          <a:r>
            <a:rPr lang="en-US"/>
            <a:t>Hugging Face: Specializes in transformers models for NLP tasks and has expanded to include models for other domains as well.</a:t>
          </a:r>
        </a:p>
      </dgm:t>
    </dgm:pt>
    <dgm:pt modelId="{2F9911E3-A2C8-4379-949C-45EEC437CE13}" type="parTrans" cxnId="{165D3999-FD55-497C-814D-631E14AD8658}">
      <dgm:prSet/>
      <dgm:spPr/>
      <dgm:t>
        <a:bodyPr/>
        <a:lstStyle/>
        <a:p>
          <a:endParaRPr lang="en-US"/>
        </a:p>
      </dgm:t>
    </dgm:pt>
    <dgm:pt modelId="{3577EE1D-444B-427E-9C1E-5B34DE078E61}" type="sibTrans" cxnId="{165D3999-FD55-497C-814D-631E14AD8658}">
      <dgm:prSet/>
      <dgm:spPr/>
      <dgm:t>
        <a:bodyPr/>
        <a:lstStyle/>
        <a:p>
          <a:endParaRPr lang="en-US"/>
        </a:p>
      </dgm:t>
    </dgm:pt>
    <dgm:pt modelId="{83CC7D29-5A13-482B-B449-47C8221D626D}">
      <dgm:prSet/>
      <dgm:spPr/>
      <dgm:t>
        <a:bodyPr/>
        <a:lstStyle/>
        <a:p>
          <a:r>
            <a:rPr lang="en-US"/>
            <a:t>TensorFlow Hub: Hosts a wide range of TensorFlow models, including those for image classification, object detection, NLP, and more.</a:t>
          </a:r>
        </a:p>
      </dgm:t>
    </dgm:pt>
    <dgm:pt modelId="{C0F7D18D-F326-49F8-9709-F0B111A3DE67}" type="parTrans" cxnId="{7C817C00-3299-4BF3-ACAE-5CEEC164E25D}">
      <dgm:prSet/>
      <dgm:spPr/>
      <dgm:t>
        <a:bodyPr/>
        <a:lstStyle/>
        <a:p>
          <a:endParaRPr lang="en-US"/>
        </a:p>
      </dgm:t>
    </dgm:pt>
    <dgm:pt modelId="{7FEF486B-556F-4A0F-A637-FC69EE05245C}" type="sibTrans" cxnId="{7C817C00-3299-4BF3-ACAE-5CEEC164E25D}">
      <dgm:prSet/>
      <dgm:spPr/>
      <dgm:t>
        <a:bodyPr/>
        <a:lstStyle/>
        <a:p>
          <a:endParaRPr lang="en-US"/>
        </a:p>
      </dgm:t>
    </dgm:pt>
    <dgm:pt modelId="{96C0D5C0-B216-47D6-ADFD-416AB3429444}">
      <dgm:prSet/>
      <dgm:spPr/>
      <dgm:t>
        <a:bodyPr/>
        <a:lstStyle/>
        <a:p>
          <a:r>
            <a:rPr lang="en-US"/>
            <a:t>PyTorch Hub: A similar repository for PyTorch models, offering a collection of pre-trained models for various machine learning tasks.</a:t>
          </a:r>
        </a:p>
      </dgm:t>
    </dgm:pt>
    <dgm:pt modelId="{B126D467-974D-4E9A-934A-29ACA36E30AE}" type="parTrans" cxnId="{50F90302-48BB-43F3-B7CE-9BB45435B2E5}">
      <dgm:prSet/>
      <dgm:spPr/>
      <dgm:t>
        <a:bodyPr/>
        <a:lstStyle/>
        <a:p>
          <a:endParaRPr lang="en-US"/>
        </a:p>
      </dgm:t>
    </dgm:pt>
    <dgm:pt modelId="{9360A2C0-B86D-4A34-B6E4-9B5D5C2B7CFD}" type="sibTrans" cxnId="{50F90302-48BB-43F3-B7CE-9BB45435B2E5}">
      <dgm:prSet/>
      <dgm:spPr/>
      <dgm:t>
        <a:bodyPr/>
        <a:lstStyle/>
        <a:p>
          <a:endParaRPr lang="en-US"/>
        </a:p>
      </dgm:t>
    </dgm:pt>
    <dgm:pt modelId="{668CB3F8-90BA-4A41-B276-9DD69BBB8484}">
      <dgm:prSet/>
      <dgm:spPr/>
      <dgm:t>
        <a:bodyPr/>
        <a:lstStyle/>
        <a:p>
          <a:r>
            <a:rPr lang="en-US"/>
            <a:t>Model Zoo: Part of various deep learning frameworks, these are collections of pre-trained models. Examples include Caffe Model Zoo, TensorFlow Model Zoo, etc.</a:t>
          </a:r>
        </a:p>
      </dgm:t>
    </dgm:pt>
    <dgm:pt modelId="{18C0FB0B-8170-4A80-BF76-6E4E0AAD20C5}" type="parTrans" cxnId="{AEDC249D-0A8F-48F6-BBBC-B1155CBE54EC}">
      <dgm:prSet/>
      <dgm:spPr/>
      <dgm:t>
        <a:bodyPr/>
        <a:lstStyle/>
        <a:p>
          <a:endParaRPr lang="en-US"/>
        </a:p>
      </dgm:t>
    </dgm:pt>
    <dgm:pt modelId="{1F25BBA8-9897-4006-BB67-2111E6354AC4}" type="sibTrans" cxnId="{AEDC249D-0A8F-48F6-BBBC-B1155CBE54EC}">
      <dgm:prSet/>
      <dgm:spPr/>
      <dgm:t>
        <a:bodyPr/>
        <a:lstStyle/>
        <a:p>
          <a:endParaRPr lang="en-US"/>
        </a:p>
      </dgm:t>
    </dgm:pt>
    <dgm:pt modelId="{C6234D59-AAF9-4BEC-8A39-6598805CBA4E}">
      <dgm:prSet/>
      <dgm:spPr/>
      <dgm:t>
        <a:bodyPr/>
        <a:lstStyle/>
        <a:p>
          <a:r>
            <a:rPr lang="en-US"/>
            <a:t>Papers with Code: Offers links to code repositories for machine learning papers, often including pre-trained models.</a:t>
          </a:r>
        </a:p>
      </dgm:t>
    </dgm:pt>
    <dgm:pt modelId="{9E325A26-4D42-4AE8-87DB-D95DA80AB0E4}" type="parTrans" cxnId="{24358ADD-1E30-4178-8342-706059E05A6C}">
      <dgm:prSet/>
      <dgm:spPr/>
      <dgm:t>
        <a:bodyPr/>
        <a:lstStyle/>
        <a:p>
          <a:endParaRPr lang="en-US"/>
        </a:p>
      </dgm:t>
    </dgm:pt>
    <dgm:pt modelId="{04F31591-D1C3-4BB5-B6A4-86665240C63C}" type="sibTrans" cxnId="{24358ADD-1E30-4178-8342-706059E05A6C}">
      <dgm:prSet/>
      <dgm:spPr/>
      <dgm:t>
        <a:bodyPr/>
        <a:lstStyle/>
        <a:p>
          <a:endParaRPr lang="en-US"/>
        </a:p>
      </dgm:t>
    </dgm:pt>
    <dgm:pt modelId="{5FA79519-4600-49C0-90DB-2F1D52D66EA6}">
      <dgm:prSet/>
      <dgm:spPr/>
      <dgm:t>
        <a:bodyPr/>
        <a:lstStyle/>
        <a:p>
          <a:r>
            <a:rPr lang="en-US"/>
            <a:t>GitHub: Many researchers and developers publish their models and code on GitHub, making it a rich source for machine learning models.</a:t>
          </a:r>
        </a:p>
      </dgm:t>
    </dgm:pt>
    <dgm:pt modelId="{B48EB768-6ABE-4B88-BC56-6EF6F9D7976C}" type="parTrans" cxnId="{9CB1FCDB-8D71-40D7-A13D-5F7F4DA526F7}">
      <dgm:prSet/>
      <dgm:spPr/>
      <dgm:t>
        <a:bodyPr/>
        <a:lstStyle/>
        <a:p>
          <a:endParaRPr lang="en-US"/>
        </a:p>
      </dgm:t>
    </dgm:pt>
    <dgm:pt modelId="{028173EF-17C1-4B4F-B22B-86A33DD4ADE7}" type="sibTrans" cxnId="{9CB1FCDB-8D71-40D7-A13D-5F7F4DA526F7}">
      <dgm:prSet/>
      <dgm:spPr/>
      <dgm:t>
        <a:bodyPr/>
        <a:lstStyle/>
        <a:p>
          <a:endParaRPr lang="en-US"/>
        </a:p>
      </dgm:t>
    </dgm:pt>
    <dgm:pt modelId="{4E4353C4-96EF-421E-905E-83F93EBC4978}">
      <dgm:prSet/>
      <dgm:spPr/>
      <dgm:t>
        <a:bodyPr/>
        <a:lstStyle/>
        <a:p>
          <a:r>
            <a:rPr lang="en-US"/>
            <a:t>Google AI Hub: Provides a platform to host, share, and use machine learning pipelines and models.</a:t>
          </a:r>
        </a:p>
      </dgm:t>
    </dgm:pt>
    <dgm:pt modelId="{F446B537-2A1A-4761-AB02-3B14F44F779A}" type="parTrans" cxnId="{0AEC849D-84B8-486D-878E-12A64D516882}">
      <dgm:prSet/>
      <dgm:spPr/>
      <dgm:t>
        <a:bodyPr/>
        <a:lstStyle/>
        <a:p>
          <a:endParaRPr lang="en-US"/>
        </a:p>
      </dgm:t>
    </dgm:pt>
    <dgm:pt modelId="{646D4959-08CB-4DC8-88F0-A93559C2892D}" type="sibTrans" cxnId="{0AEC849D-84B8-486D-878E-12A64D516882}">
      <dgm:prSet/>
      <dgm:spPr/>
      <dgm:t>
        <a:bodyPr/>
        <a:lstStyle/>
        <a:p>
          <a:endParaRPr lang="en-US"/>
        </a:p>
      </dgm:t>
    </dgm:pt>
    <dgm:pt modelId="{B6A292F9-0A3F-4EB9-B774-5FF0A483AD93}">
      <dgm:prSet/>
      <dgm:spPr/>
      <dgm:t>
        <a:bodyPr/>
        <a:lstStyle/>
        <a:p>
          <a:r>
            <a:rPr lang="en-US"/>
            <a:t>AWS Marketplace for Machine Learning: Offers a variety of machine learning models and algorithms optimized for AWS.</a:t>
          </a:r>
        </a:p>
      </dgm:t>
    </dgm:pt>
    <dgm:pt modelId="{62D8F06C-4510-43A9-B2AA-BF73868A721C}" type="parTrans" cxnId="{A8D45FE0-18DE-486E-9048-F7E06652DC11}">
      <dgm:prSet/>
      <dgm:spPr/>
      <dgm:t>
        <a:bodyPr/>
        <a:lstStyle/>
        <a:p>
          <a:endParaRPr lang="en-US"/>
        </a:p>
      </dgm:t>
    </dgm:pt>
    <dgm:pt modelId="{387ADA19-A530-4181-A7B6-345AADE952A0}" type="sibTrans" cxnId="{A8D45FE0-18DE-486E-9048-F7E06652DC11}">
      <dgm:prSet/>
      <dgm:spPr/>
      <dgm:t>
        <a:bodyPr/>
        <a:lstStyle/>
        <a:p>
          <a:endParaRPr lang="en-US"/>
        </a:p>
      </dgm:t>
    </dgm:pt>
    <dgm:pt modelId="{147A6D7C-5724-498C-AAD6-15866E3E5487}">
      <dgm:prSet/>
      <dgm:spPr/>
      <dgm:t>
        <a:bodyPr/>
        <a:lstStyle/>
        <a:p>
          <a:r>
            <a:rPr lang="en-US"/>
            <a:t>ONNX Model Zoo: Hosts pre-trained models in the ONNX (Open Neural Network Exchange) format, which is a format for machine learning models that is framework agnostic.</a:t>
          </a:r>
        </a:p>
      </dgm:t>
    </dgm:pt>
    <dgm:pt modelId="{9CA1091E-546F-4C89-9720-B2E3B5A5C92B}" type="parTrans" cxnId="{081127E4-DC87-435E-97BD-1C6B5CB27D68}">
      <dgm:prSet/>
      <dgm:spPr/>
      <dgm:t>
        <a:bodyPr/>
        <a:lstStyle/>
        <a:p>
          <a:endParaRPr lang="en-US"/>
        </a:p>
      </dgm:t>
    </dgm:pt>
    <dgm:pt modelId="{9B887FF2-7312-4FEE-9CCA-2C6E98E7E03C}" type="sibTrans" cxnId="{081127E4-DC87-435E-97BD-1C6B5CB27D68}">
      <dgm:prSet/>
      <dgm:spPr/>
      <dgm:t>
        <a:bodyPr/>
        <a:lstStyle/>
        <a:p>
          <a:endParaRPr lang="en-US"/>
        </a:p>
      </dgm:t>
    </dgm:pt>
    <dgm:pt modelId="{C412BD27-391A-41BE-81CA-7880283B3693}">
      <dgm:prSet/>
      <dgm:spPr/>
      <dgm:t>
        <a:bodyPr/>
        <a:lstStyle/>
        <a:p>
          <a:r>
            <a:rPr lang="en-US"/>
            <a:t>DeepAI: Offers a variety of APIs and pre-trained models for different AI tasks.</a:t>
          </a:r>
        </a:p>
      </dgm:t>
    </dgm:pt>
    <dgm:pt modelId="{C2D2F6D2-2DBB-4B00-8D4F-8A47FABA40C1}" type="parTrans" cxnId="{C3B3649C-85B1-43B8-9E29-9E44133A91A9}">
      <dgm:prSet/>
      <dgm:spPr/>
      <dgm:t>
        <a:bodyPr/>
        <a:lstStyle/>
        <a:p>
          <a:endParaRPr lang="en-US"/>
        </a:p>
      </dgm:t>
    </dgm:pt>
    <dgm:pt modelId="{EF570999-B1C3-47C2-959F-47BC7FB27B59}" type="sibTrans" cxnId="{C3B3649C-85B1-43B8-9E29-9E44133A91A9}">
      <dgm:prSet/>
      <dgm:spPr/>
      <dgm:t>
        <a:bodyPr/>
        <a:lstStyle/>
        <a:p>
          <a:endParaRPr lang="en-US"/>
        </a:p>
      </dgm:t>
    </dgm:pt>
    <dgm:pt modelId="{1FFFB862-91A4-489A-B480-479C8F77E5D3}">
      <dgm:prSet/>
      <dgm:spPr/>
      <dgm:t>
        <a:bodyPr/>
        <a:lstStyle/>
        <a:p>
          <a:r>
            <a:rPr lang="en-US"/>
            <a:t>Kaggle</a:t>
          </a:r>
        </a:p>
      </dgm:t>
    </dgm:pt>
    <dgm:pt modelId="{36A2AC9A-DAC3-47C5-BE1F-096D65D70C80}" type="parTrans" cxnId="{95281BA8-537C-4D85-AEC4-D86A4B56F5EB}">
      <dgm:prSet/>
      <dgm:spPr/>
      <dgm:t>
        <a:bodyPr/>
        <a:lstStyle/>
        <a:p>
          <a:endParaRPr lang="en-US"/>
        </a:p>
      </dgm:t>
    </dgm:pt>
    <dgm:pt modelId="{9D764157-45B2-4CD7-8B7D-A7BA13875D4A}" type="sibTrans" cxnId="{95281BA8-537C-4D85-AEC4-D86A4B56F5EB}">
      <dgm:prSet/>
      <dgm:spPr/>
      <dgm:t>
        <a:bodyPr/>
        <a:lstStyle/>
        <a:p>
          <a:endParaRPr lang="en-US"/>
        </a:p>
      </dgm:t>
    </dgm:pt>
    <dgm:pt modelId="{BF6BEAC3-5060-5349-806A-21F85F064CFC}" type="pres">
      <dgm:prSet presAssocID="{5A434AC2-5A2F-4B35-B6AB-D20C31C4C001}" presName="diagram" presStyleCnt="0">
        <dgm:presLayoutVars>
          <dgm:dir/>
          <dgm:resizeHandles val="exact"/>
        </dgm:presLayoutVars>
      </dgm:prSet>
      <dgm:spPr/>
    </dgm:pt>
    <dgm:pt modelId="{141BB865-9F78-6647-8298-9E92C48DF5DC}" type="pres">
      <dgm:prSet presAssocID="{9FE5452D-4B06-4ACF-890D-390491052071}" presName="node" presStyleLbl="node1" presStyleIdx="0" presStyleCnt="11">
        <dgm:presLayoutVars>
          <dgm:bulletEnabled val="1"/>
        </dgm:presLayoutVars>
      </dgm:prSet>
      <dgm:spPr/>
    </dgm:pt>
    <dgm:pt modelId="{B7C74F57-A3A4-FB41-AB02-62747EEBBD42}" type="pres">
      <dgm:prSet presAssocID="{3577EE1D-444B-427E-9C1E-5B34DE078E61}" presName="sibTrans" presStyleCnt="0"/>
      <dgm:spPr/>
    </dgm:pt>
    <dgm:pt modelId="{A12EF793-8CEC-AF42-833C-C2B2EB3297A3}" type="pres">
      <dgm:prSet presAssocID="{83CC7D29-5A13-482B-B449-47C8221D626D}" presName="node" presStyleLbl="node1" presStyleIdx="1" presStyleCnt="11">
        <dgm:presLayoutVars>
          <dgm:bulletEnabled val="1"/>
        </dgm:presLayoutVars>
      </dgm:prSet>
      <dgm:spPr/>
    </dgm:pt>
    <dgm:pt modelId="{724AFB52-5866-634E-B78D-51BD5FDD308D}" type="pres">
      <dgm:prSet presAssocID="{7FEF486B-556F-4A0F-A637-FC69EE05245C}" presName="sibTrans" presStyleCnt="0"/>
      <dgm:spPr/>
    </dgm:pt>
    <dgm:pt modelId="{091417FE-FBCF-9641-987C-8116FDDEB04A}" type="pres">
      <dgm:prSet presAssocID="{96C0D5C0-B216-47D6-ADFD-416AB3429444}" presName="node" presStyleLbl="node1" presStyleIdx="2" presStyleCnt="11">
        <dgm:presLayoutVars>
          <dgm:bulletEnabled val="1"/>
        </dgm:presLayoutVars>
      </dgm:prSet>
      <dgm:spPr/>
    </dgm:pt>
    <dgm:pt modelId="{F61D7B9F-252F-1E4E-BA56-40953268A5CE}" type="pres">
      <dgm:prSet presAssocID="{9360A2C0-B86D-4A34-B6E4-9B5D5C2B7CFD}" presName="sibTrans" presStyleCnt="0"/>
      <dgm:spPr/>
    </dgm:pt>
    <dgm:pt modelId="{000E98C3-6BC2-3D4C-92BA-B86DC8265524}" type="pres">
      <dgm:prSet presAssocID="{668CB3F8-90BA-4A41-B276-9DD69BBB8484}" presName="node" presStyleLbl="node1" presStyleIdx="3" presStyleCnt="11">
        <dgm:presLayoutVars>
          <dgm:bulletEnabled val="1"/>
        </dgm:presLayoutVars>
      </dgm:prSet>
      <dgm:spPr/>
    </dgm:pt>
    <dgm:pt modelId="{A31D8045-51E9-5540-A196-B14B71434F84}" type="pres">
      <dgm:prSet presAssocID="{1F25BBA8-9897-4006-BB67-2111E6354AC4}" presName="sibTrans" presStyleCnt="0"/>
      <dgm:spPr/>
    </dgm:pt>
    <dgm:pt modelId="{1795AF43-6626-7043-8863-87A83160CFE1}" type="pres">
      <dgm:prSet presAssocID="{C6234D59-AAF9-4BEC-8A39-6598805CBA4E}" presName="node" presStyleLbl="node1" presStyleIdx="4" presStyleCnt="11">
        <dgm:presLayoutVars>
          <dgm:bulletEnabled val="1"/>
        </dgm:presLayoutVars>
      </dgm:prSet>
      <dgm:spPr/>
    </dgm:pt>
    <dgm:pt modelId="{C7755538-405C-CB4D-A47C-CC247BD0FB63}" type="pres">
      <dgm:prSet presAssocID="{04F31591-D1C3-4BB5-B6A4-86665240C63C}" presName="sibTrans" presStyleCnt="0"/>
      <dgm:spPr/>
    </dgm:pt>
    <dgm:pt modelId="{CED822D8-BAD6-1C43-9F93-D80A86D45F9F}" type="pres">
      <dgm:prSet presAssocID="{5FA79519-4600-49C0-90DB-2F1D52D66EA6}" presName="node" presStyleLbl="node1" presStyleIdx="5" presStyleCnt="11">
        <dgm:presLayoutVars>
          <dgm:bulletEnabled val="1"/>
        </dgm:presLayoutVars>
      </dgm:prSet>
      <dgm:spPr/>
    </dgm:pt>
    <dgm:pt modelId="{FD69D622-2CA8-2B41-9BCE-CA1DE71099B8}" type="pres">
      <dgm:prSet presAssocID="{028173EF-17C1-4B4F-B22B-86A33DD4ADE7}" presName="sibTrans" presStyleCnt="0"/>
      <dgm:spPr/>
    </dgm:pt>
    <dgm:pt modelId="{72532340-6348-8E4B-B17C-5B2C0AA8E546}" type="pres">
      <dgm:prSet presAssocID="{4E4353C4-96EF-421E-905E-83F93EBC4978}" presName="node" presStyleLbl="node1" presStyleIdx="6" presStyleCnt="11">
        <dgm:presLayoutVars>
          <dgm:bulletEnabled val="1"/>
        </dgm:presLayoutVars>
      </dgm:prSet>
      <dgm:spPr/>
    </dgm:pt>
    <dgm:pt modelId="{00DFA263-DCED-D34E-AB94-301A3D09E0EB}" type="pres">
      <dgm:prSet presAssocID="{646D4959-08CB-4DC8-88F0-A93559C2892D}" presName="sibTrans" presStyleCnt="0"/>
      <dgm:spPr/>
    </dgm:pt>
    <dgm:pt modelId="{AE11B30E-E850-594C-9EB0-6D9758B72142}" type="pres">
      <dgm:prSet presAssocID="{B6A292F9-0A3F-4EB9-B774-5FF0A483AD93}" presName="node" presStyleLbl="node1" presStyleIdx="7" presStyleCnt="11">
        <dgm:presLayoutVars>
          <dgm:bulletEnabled val="1"/>
        </dgm:presLayoutVars>
      </dgm:prSet>
      <dgm:spPr/>
    </dgm:pt>
    <dgm:pt modelId="{E0DD3ABC-8B1D-F74E-B83C-6DD8BA3AB882}" type="pres">
      <dgm:prSet presAssocID="{387ADA19-A530-4181-A7B6-345AADE952A0}" presName="sibTrans" presStyleCnt="0"/>
      <dgm:spPr/>
    </dgm:pt>
    <dgm:pt modelId="{24E129DD-3096-AA4D-B8F7-E87E09037EF6}" type="pres">
      <dgm:prSet presAssocID="{147A6D7C-5724-498C-AAD6-15866E3E5487}" presName="node" presStyleLbl="node1" presStyleIdx="8" presStyleCnt="11">
        <dgm:presLayoutVars>
          <dgm:bulletEnabled val="1"/>
        </dgm:presLayoutVars>
      </dgm:prSet>
      <dgm:spPr/>
    </dgm:pt>
    <dgm:pt modelId="{CB2428E5-2C10-EF47-B8F1-56D21D41C501}" type="pres">
      <dgm:prSet presAssocID="{9B887FF2-7312-4FEE-9CCA-2C6E98E7E03C}" presName="sibTrans" presStyleCnt="0"/>
      <dgm:spPr/>
    </dgm:pt>
    <dgm:pt modelId="{E9C0CA76-3502-DB4C-8499-98DB17F39786}" type="pres">
      <dgm:prSet presAssocID="{C412BD27-391A-41BE-81CA-7880283B3693}" presName="node" presStyleLbl="node1" presStyleIdx="9" presStyleCnt="11">
        <dgm:presLayoutVars>
          <dgm:bulletEnabled val="1"/>
        </dgm:presLayoutVars>
      </dgm:prSet>
      <dgm:spPr/>
    </dgm:pt>
    <dgm:pt modelId="{3A0FF0CE-A2A9-0748-80D1-76C5D66B9AB1}" type="pres">
      <dgm:prSet presAssocID="{EF570999-B1C3-47C2-959F-47BC7FB27B59}" presName="sibTrans" presStyleCnt="0"/>
      <dgm:spPr/>
    </dgm:pt>
    <dgm:pt modelId="{4EF48408-3F9C-B548-93D5-00CC4D8A50E3}" type="pres">
      <dgm:prSet presAssocID="{1FFFB862-91A4-489A-B480-479C8F77E5D3}" presName="node" presStyleLbl="node1" presStyleIdx="10" presStyleCnt="11">
        <dgm:presLayoutVars>
          <dgm:bulletEnabled val="1"/>
        </dgm:presLayoutVars>
      </dgm:prSet>
      <dgm:spPr/>
    </dgm:pt>
  </dgm:ptLst>
  <dgm:cxnLst>
    <dgm:cxn modelId="{7C817C00-3299-4BF3-ACAE-5CEEC164E25D}" srcId="{5A434AC2-5A2F-4B35-B6AB-D20C31C4C001}" destId="{83CC7D29-5A13-482B-B449-47C8221D626D}" srcOrd="1" destOrd="0" parTransId="{C0F7D18D-F326-49F8-9709-F0B111A3DE67}" sibTransId="{7FEF486B-556F-4A0F-A637-FC69EE05245C}"/>
    <dgm:cxn modelId="{50F90302-48BB-43F3-B7CE-9BB45435B2E5}" srcId="{5A434AC2-5A2F-4B35-B6AB-D20C31C4C001}" destId="{96C0D5C0-B216-47D6-ADFD-416AB3429444}" srcOrd="2" destOrd="0" parTransId="{B126D467-974D-4E9A-934A-29ACA36E30AE}" sibTransId="{9360A2C0-B86D-4A34-B6E4-9B5D5C2B7CFD}"/>
    <dgm:cxn modelId="{E423E915-E230-6848-BF78-7A98A2E3AAB3}" type="presOf" srcId="{4E4353C4-96EF-421E-905E-83F93EBC4978}" destId="{72532340-6348-8E4B-B17C-5B2C0AA8E546}" srcOrd="0" destOrd="0" presId="urn:microsoft.com/office/officeart/2005/8/layout/default"/>
    <dgm:cxn modelId="{F678E22B-F573-624F-BFD8-109D802B8AE0}" type="presOf" srcId="{147A6D7C-5724-498C-AAD6-15866E3E5487}" destId="{24E129DD-3096-AA4D-B8F7-E87E09037EF6}" srcOrd="0" destOrd="0" presId="urn:microsoft.com/office/officeart/2005/8/layout/default"/>
    <dgm:cxn modelId="{B6A1A52D-F404-9947-9449-673B8FEB0132}" type="presOf" srcId="{5A434AC2-5A2F-4B35-B6AB-D20C31C4C001}" destId="{BF6BEAC3-5060-5349-806A-21F85F064CFC}" srcOrd="0" destOrd="0" presId="urn:microsoft.com/office/officeart/2005/8/layout/default"/>
    <dgm:cxn modelId="{83F8C63F-B8BD-0544-BA44-5701D638C69A}" type="presOf" srcId="{9FE5452D-4B06-4ACF-890D-390491052071}" destId="{141BB865-9F78-6647-8298-9E92C48DF5DC}" srcOrd="0" destOrd="0" presId="urn:microsoft.com/office/officeart/2005/8/layout/default"/>
    <dgm:cxn modelId="{91194541-70DD-5C42-A3D6-15847037F335}" type="presOf" srcId="{5FA79519-4600-49C0-90DB-2F1D52D66EA6}" destId="{CED822D8-BAD6-1C43-9F93-D80A86D45F9F}" srcOrd="0" destOrd="0" presId="urn:microsoft.com/office/officeart/2005/8/layout/default"/>
    <dgm:cxn modelId="{D6829347-FF01-7843-AE8A-B18323D79F78}" type="presOf" srcId="{B6A292F9-0A3F-4EB9-B774-5FF0A483AD93}" destId="{AE11B30E-E850-594C-9EB0-6D9758B72142}" srcOrd="0" destOrd="0" presId="urn:microsoft.com/office/officeart/2005/8/layout/default"/>
    <dgm:cxn modelId="{7CDC094E-812B-0240-8BF8-C94B12E8A356}" type="presOf" srcId="{83CC7D29-5A13-482B-B449-47C8221D626D}" destId="{A12EF793-8CEC-AF42-833C-C2B2EB3297A3}" srcOrd="0" destOrd="0" presId="urn:microsoft.com/office/officeart/2005/8/layout/default"/>
    <dgm:cxn modelId="{E3E1396B-9A5A-7F45-9730-0D3E5E977050}" type="presOf" srcId="{668CB3F8-90BA-4A41-B276-9DD69BBB8484}" destId="{000E98C3-6BC2-3D4C-92BA-B86DC8265524}" srcOrd="0" destOrd="0" presId="urn:microsoft.com/office/officeart/2005/8/layout/default"/>
    <dgm:cxn modelId="{FC00626D-06C9-B647-B81E-971904FCE394}" type="presOf" srcId="{C6234D59-AAF9-4BEC-8A39-6598805CBA4E}" destId="{1795AF43-6626-7043-8863-87A83160CFE1}" srcOrd="0" destOrd="0" presId="urn:microsoft.com/office/officeart/2005/8/layout/default"/>
    <dgm:cxn modelId="{9CA15596-6E0A-BC4F-A0F5-2EE5F41A523B}" type="presOf" srcId="{96C0D5C0-B216-47D6-ADFD-416AB3429444}" destId="{091417FE-FBCF-9641-987C-8116FDDEB04A}" srcOrd="0" destOrd="0" presId="urn:microsoft.com/office/officeart/2005/8/layout/default"/>
    <dgm:cxn modelId="{165D3999-FD55-497C-814D-631E14AD8658}" srcId="{5A434AC2-5A2F-4B35-B6AB-D20C31C4C001}" destId="{9FE5452D-4B06-4ACF-890D-390491052071}" srcOrd="0" destOrd="0" parTransId="{2F9911E3-A2C8-4379-949C-45EEC437CE13}" sibTransId="{3577EE1D-444B-427E-9C1E-5B34DE078E61}"/>
    <dgm:cxn modelId="{C3B3649C-85B1-43B8-9E29-9E44133A91A9}" srcId="{5A434AC2-5A2F-4B35-B6AB-D20C31C4C001}" destId="{C412BD27-391A-41BE-81CA-7880283B3693}" srcOrd="9" destOrd="0" parTransId="{C2D2F6D2-2DBB-4B00-8D4F-8A47FABA40C1}" sibTransId="{EF570999-B1C3-47C2-959F-47BC7FB27B59}"/>
    <dgm:cxn modelId="{AEDC249D-0A8F-48F6-BBBC-B1155CBE54EC}" srcId="{5A434AC2-5A2F-4B35-B6AB-D20C31C4C001}" destId="{668CB3F8-90BA-4A41-B276-9DD69BBB8484}" srcOrd="3" destOrd="0" parTransId="{18C0FB0B-8170-4A80-BF76-6E4E0AAD20C5}" sibTransId="{1F25BBA8-9897-4006-BB67-2111E6354AC4}"/>
    <dgm:cxn modelId="{0AEC849D-84B8-486D-878E-12A64D516882}" srcId="{5A434AC2-5A2F-4B35-B6AB-D20C31C4C001}" destId="{4E4353C4-96EF-421E-905E-83F93EBC4978}" srcOrd="6" destOrd="0" parTransId="{F446B537-2A1A-4761-AB02-3B14F44F779A}" sibTransId="{646D4959-08CB-4DC8-88F0-A93559C2892D}"/>
    <dgm:cxn modelId="{F866349E-B91C-7F4E-B548-C8496758B771}" type="presOf" srcId="{1FFFB862-91A4-489A-B480-479C8F77E5D3}" destId="{4EF48408-3F9C-B548-93D5-00CC4D8A50E3}" srcOrd="0" destOrd="0" presId="urn:microsoft.com/office/officeart/2005/8/layout/default"/>
    <dgm:cxn modelId="{95281BA8-537C-4D85-AEC4-D86A4B56F5EB}" srcId="{5A434AC2-5A2F-4B35-B6AB-D20C31C4C001}" destId="{1FFFB862-91A4-489A-B480-479C8F77E5D3}" srcOrd="10" destOrd="0" parTransId="{36A2AC9A-DAC3-47C5-BE1F-096D65D70C80}" sibTransId="{9D764157-45B2-4CD7-8B7D-A7BA13875D4A}"/>
    <dgm:cxn modelId="{9CB1FCDB-8D71-40D7-A13D-5F7F4DA526F7}" srcId="{5A434AC2-5A2F-4B35-B6AB-D20C31C4C001}" destId="{5FA79519-4600-49C0-90DB-2F1D52D66EA6}" srcOrd="5" destOrd="0" parTransId="{B48EB768-6ABE-4B88-BC56-6EF6F9D7976C}" sibTransId="{028173EF-17C1-4B4F-B22B-86A33DD4ADE7}"/>
    <dgm:cxn modelId="{24358ADD-1E30-4178-8342-706059E05A6C}" srcId="{5A434AC2-5A2F-4B35-B6AB-D20C31C4C001}" destId="{C6234D59-AAF9-4BEC-8A39-6598805CBA4E}" srcOrd="4" destOrd="0" parTransId="{9E325A26-4D42-4AE8-87DB-D95DA80AB0E4}" sibTransId="{04F31591-D1C3-4BB5-B6A4-86665240C63C}"/>
    <dgm:cxn modelId="{A8D45FE0-18DE-486E-9048-F7E06652DC11}" srcId="{5A434AC2-5A2F-4B35-B6AB-D20C31C4C001}" destId="{B6A292F9-0A3F-4EB9-B774-5FF0A483AD93}" srcOrd="7" destOrd="0" parTransId="{62D8F06C-4510-43A9-B2AA-BF73868A721C}" sibTransId="{387ADA19-A530-4181-A7B6-345AADE952A0}"/>
    <dgm:cxn modelId="{6731E4E3-6CE6-EB4E-9FC4-BED1FB8FE417}" type="presOf" srcId="{C412BD27-391A-41BE-81CA-7880283B3693}" destId="{E9C0CA76-3502-DB4C-8499-98DB17F39786}" srcOrd="0" destOrd="0" presId="urn:microsoft.com/office/officeart/2005/8/layout/default"/>
    <dgm:cxn modelId="{081127E4-DC87-435E-97BD-1C6B5CB27D68}" srcId="{5A434AC2-5A2F-4B35-B6AB-D20C31C4C001}" destId="{147A6D7C-5724-498C-AAD6-15866E3E5487}" srcOrd="8" destOrd="0" parTransId="{9CA1091E-546F-4C89-9720-B2E3B5A5C92B}" sibTransId="{9B887FF2-7312-4FEE-9CCA-2C6E98E7E03C}"/>
    <dgm:cxn modelId="{252C07B6-1FF6-A045-9D95-D0D34960CA7C}" type="presParOf" srcId="{BF6BEAC3-5060-5349-806A-21F85F064CFC}" destId="{141BB865-9F78-6647-8298-9E92C48DF5DC}" srcOrd="0" destOrd="0" presId="urn:microsoft.com/office/officeart/2005/8/layout/default"/>
    <dgm:cxn modelId="{605CF8D6-BE65-0342-ACBD-EC39096D0912}" type="presParOf" srcId="{BF6BEAC3-5060-5349-806A-21F85F064CFC}" destId="{B7C74F57-A3A4-FB41-AB02-62747EEBBD42}" srcOrd="1" destOrd="0" presId="urn:microsoft.com/office/officeart/2005/8/layout/default"/>
    <dgm:cxn modelId="{27B996DC-FC4F-6E46-9BA3-961AF7553962}" type="presParOf" srcId="{BF6BEAC3-5060-5349-806A-21F85F064CFC}" destId="{A12EF793-8CEC-AF42-833C-C2B2EB3297A3}" srcOrd="2" destOrd="0" presId="urn:microsoft.com/office/officeart/2005/8/layout/default"/>
    <dgm:cxn modelId="{E6B58AA9-069F-384B-BC29-2CF534F84356}" type="presParOf" srcId="{BF6BEAC3-5060-5349-806A-21F85F064CFC}" destId="{724AFB52-5866-634E-B78D-51BD5FDD308D}" srcOrd="3" destOrd="0" presId="urn:microsoft.com/office/officeart/2005/8/layout/default"/>
    <dgm:cxn modelId="{15377682-77C3-4644-A1A1-5569B71F4DDC}" type="presParOf" srcId="{BF6BEAC3-5060-5349-806A-21F85F064CFC}" destId="{091417FE-FBCF-9641-987C-8116FDDEB04A}" srcOrd="4" destOrd="0" presId="urn:microsoft.com/office/officeart/2005/8/layout/default"/>
    <dgm:cxn modelId="{D250F293-AE48-034A-9009-53597635B678}" type="presParOf" srcId="{BF6BEAC3-5060-5349-806A-21F85F064CFC}" destId="{F61D7B9F-252F-1E4E-BA56-40953268A5CE}" srcOrd="5" destOrd="0" presId="urn:microsoft.com/office/officeart/2005/8/layout/default"/>
    <dgm:cxn modelId="{F7AC8C4D-4DA1-7047-BD76-7ECEE8DB1320}" type="presParOf" srcId="{BF6BEAC3-5060-5349-806A-21F85F064CFC}" destId="{000E98C3-6BC2-3D4C-92BA-B86DC8265524}" srcOrd="6" destOrd="0" presId="urn:microsoft.com/office/officeart/2005/8/layout/default"/>
    <dgm:cxn modelId="{AE9B93F5-2A87-A64A-BBE6-1520A3CD79A9}" type="presParOf" srcId="{BF6BEAC3-5060-5349-806A-21F85F064CFC}" destId="{A31D8045-51E9-5540-A196-B14B71434F84}" srcOrd="7" destOrd="0" presId="urn:microsoft.com/office/officeart/2005/8/layout/default"/>
    <dgm:cxn modelId="{D8ADE0A9-3C19-AB48-BE33-7230C78BB457}" type="presParOf" srcId="{BF6BEAC3-5060-5349-806A-21F85F064CFC}" destId="{1795AF43-6626-7043-8863-87A83160CFE1}" srcOrd="8" destOrd="0" presId="urn:microsoft.com/office/officeart/2005/8/layout/default"/>
    <dgm:cxn modelId="{3CB35BE9-03B9-2F45-A296-C1B5FD921682}" type="presParOf" srcId="{BF6BEAC3-5060-5349-806A-21F85F064CFC}" destId="{C7755538-405C-CB4D-A47C-CC247BD0FB63}" srcOrd="9" destOrd="0" presId="urn:microsoft.com/office/officeart/2005/8/layout/default"/>
    <dgm:cxn modelId="{D867A9DD-F8D2-1B4B-ACFD-ECE3ACF253FD}" type="presParOf" srcId="{BF6BEAC3-5060-5349-806A-21F85F064CFC}" destId="{CED822D8-BAD6-1C43-9F93-D80A86D45F9F}" srcOrd="10" destOrd="0" presId="urn:microsoft.com/office/officeart/2005/8/layout/default"/>
    <dgm:cxn modelId="{299026CE-CD7F-B54F-BF87-FC43EDA595DE}" type="presParOf" srcId="{BF6BEAC3-5060-5349-806A-21F85F064CFC}" destId="{FD69D622-2CA8-2B41-9BCE-CA1DE71099B8}" srcOrd="11" destOrd="0" presId="urn:microsoft.com/office/officeart/2005/8/layout/default"/>
    <dgm:cxn modelId="{683094DD-46EC-FC4B-A0E5-91D9D3664BD7}" type="presParOf" srcId="{BF6BEAC3-5060-5349-806A-21F85F064CFC}" destId="{72532340-6348-8E4B-B17C-5B2C0AA8E546}" srcOrd="12" destOrd="0" presId="urn:microsoft.com/office/officeart/2005/8/layout/default"/>
    <dgm:cxn modelId="{221687FE-6B9E-EC4D-A3BD-5D1B2EFD4194}" type="presParOf" srcId="{BF6BEAC3-5060-5349-806A-21F85F064CFC}" destId="{00DFA263-DCED-D34E-AB94-301A3D09E0EB}" srcOrd="13" destOrd="0" presId="urn:microsoft.com/office/officeart/2005/8/layout/default"/>
    <dgm:cxn modelId="{8EAEEC87-5084-B842-8FE9-1403354E644C}" type="presParOf" srcId="{BF6BEAC3-5060-5349-806A-21F85F064CFC}" destId="{AE11B30E-E850-594C-9EB0-6D9758B72142}" srcOrd="14" destOrd="0" presId="urn:microsoft.com/office/officeart/2005/8/layout/default"/>
    <dgm:cxn modelId="{33CF2EC5-18BE-DC4E-B6F0-463DB6FEB78C}" type="presParOf" srcId="{BF6BEAC3-5060-5349-806A-21F85F064CFC}" destId="{E0DD3ABC-8B1D-F74E-B83C-6DD8BA3AB882}" srcOrd="15" destOrd="0" presId="urn:microsoft.com/office/officeart/2005/8/layout/default"/>
    <dgm:cxn modelId="{B38EAD8B-E633-F847-9E25-092A6258EA53}" type="presParOf" srcId="{BF6BEAC3-5060-5349-806A-21F85F064CFC}" destId="{24E129DD-3096-AA4D-B8F7-E87E09037EF6}" srcOrd="16" destOrd="0" presId="urn:microsoft.com/office/officeart/2005/8/layout/default"/>
    <dgm:cxn modelId="{4A71DE3B-422A-8B49-8939-786CDA5DCDF0}" type="presParOf" srcId="{BF6BEAC3-5060-5349-806A-21F85F064CFC}" destId="{CB2428E5-2C10-EF47-B8F1-56D21D41C501}" srcOrd="17" destOrd="0" presId="urn:microsoft.com/office/officeart/2005/8/layout/default"/>
    <dgm:cxn modelId="{72B44907-E5DE-B04D-9323-64DA362A1088}" type="presParOf" srcId="{BF6BEAC3-5060-5349-806A-21F85F064CFC}" destId="{E9C0CA76-3502-DB4C-8499-98DB17F39786}" srcOrd="18" destOrd="0" presId="urn:microsoft.com/office/officeart/2005/8/layout/default"/>
    <dgm:cxn modelId="{1D8C6FC0-1889-F944-86DF-E75EF2171D9E}" type="presParOf" srcId="{BF6BEAC3-5060-5349-806A-21F85F064CFC}" destId="{3A0FF0CE-A2A9-0748-80D1-76C5D66B9AB1}" srcOrd="19" destOrd="0" presId="urn:microsoft.com/office/officeart/2005/8/layout/default"/>
    <dgm:cxn modelId="{B0EE0FD8-0781-A042-815B-6D30745F62D8}" type="presParOf" srcId="{BF6BEAC3-5060-5349-806A-21F85F064CFC}" destId="{4EF48408-3F9C-B548-93D5-00CC4D8A50E3}" srcOrd="2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2631D8-E6C7-4B5D-A710-8C36FF92CB5F}"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E4187DFF-55F2-4FF5-A9B0-4B733CA9AC69}">
      <dgm:prSet/>
      <dgm:spPr/>
      <dgm:t>
        <a:bodyPr/>
        <a:lstStyle/>
        <a:p>
          <a:r>
            <a:rPr lang="en-CA" dirty="0"/>
            <a:t>Interpretable Machine Learning refers to methods and models that make the predictions understandable.  What are the main predictors, their importance and effect?   </a:t>
          </a:r>
          <a:endParaRPr lang="en-US" dirty="0"/>
        </a:p>
      </dgm:t>
    </dgm:pt>
    <dgm:pt modelId="{2781140F-9ADC-4767-8F2D-4BB7C5560235}" type="parTrans" cxnId="{8FBC43BE-570D-407C-AA88-FD044F097586}">
      <dgm:prSet/>
      <dgm:spPr/>
      <dgm:t>
        <a:bodyPr/>
        <a:lstStyle/>
        <a:p>
          <a:endParaRPr lang="en-US"/>
        </a:p>
      </dgm:t>
    </dgm:pt>
    <dgm:pt modelId="{2EDFE977-2DEE-4F7C-8E4B-FD9C9F13B53E}" type="sibTrans" cxnId="{8FBC43BE-570D-407C-AA88-FD044F097586}">
      <dgm:prSet/>
      <dgm:spPr/>
      <dgm:t>
        <a:bodyPr/>
        <a:lstStyle/>
        <a:p>
          <a:endParaRPr lang="en-US"/>
        </a:p>
      </dgm:t>
    </dgm:pt>
    <dgm:pt modelId="{27CC521F-BDF9-4BA2-B679-B5E035E770CA}">
      <dgm:prSet/>
      <dgm:spPr/>
      <dgm:t>
        <a:bodyPr/>
        <a:lstStyle/>
        <a:p>
          <a:r>
            <a:rPr lang="en-CA" dirty="0"/>
            <a:t>Interpretation of a predictor is </a:t>
          </a:r>
          <a:r>
            <a:rPr lang="en-CA" b="1" dirty="0"/>
            <a:t>DIFFERENT</a:t>
          </a:r>
          <a:r>
            <a:rPr lang="en-CA" dirty="0"/>
            <a:t> than an explanatory variable .  </a:t>
          </a:r>
        </a:p>
        <a:p>
          <a:r>
            <a:rPr lang="en-CA" dirty="0">
              <a:solidFill>
                <a:schemeClr val="accent5"/>
              </a:solidFill>
            </a:rPr>
            <a:t>The ice cream sales - crime rate example</a:t>
          </a:r>
          <a:endParaRPr lang="en-US" dirty="0">
            <a:solidFill>
              <a:schemeClr val="accent5"/>
            </a:solidFill>
          </a:endParaRPr>
        </a:p>
      </dgm:t>
    </dgm:pt>
    <dgm:pt modelId="{99ADC9F9-9952-470E-B5C9-8768657FD8BA}" type="parTrans" cxnId="{F6E4ECD7-4D54-410D-970F-DE4971057E6D}">
      <dgm:prSet/>
      <dgm:spPr/>
      <dgm:t>
        <a:bodyPr/>
        <a:lstStyle/>
        <a:p>
          <a:endParaRPr lang="en-US"/>
        </a:p>
      </dgm:t>
    </dgm:pt>
    <dgm:pt modelId="{B6B313CD-B4D9-4920-8AAC-860DFF71EAAC}" type="sibTrans" cxnId="{F6E4ECD7-4D54-410D-970F-DE4971057E6D}">
      <dgm:prSet/>
      <dgm:spPr/>
      <dgm:t>
        <a:bodyPr/>
        <a:lstStyle/>
        <a:p>
          <a:endParaRPr lang="en-US"/>
        </a:p>
      </dgm:t>
    </dgm:pt>
    <dgm:pt modelId="{6FB0EA01-FAD9-4103-85E7-0A27142DAEDD}">
      <dgm:prSet/>
      <dgm:spPr/>
      <dgm:t>
        <a:bodyPr/>
        <a:lstStyle/>
        <a:p>
          <a:r>
            <a:rPr lang="en-CA" dirty="0"/>
            <a:t>Interpretation of an unbiased estimator or causal-treatment coefficient is </a:t>
          </a:r>
          <a:r>
            <a:rPr lang="en-CA" b="1" dirty="0"/>
            <a:t>VERY DIFFERENT</a:t>
          </a:r>
          <a:r>
            <a:rPr lang="en-CA" dirty="0"/>
            <a:t> than predictive coefficient if you have one (in a parametric ML model like lasso)! </a:t>
          </a:r>
          <a:endParaRPr lang="en-US" dirty="0"/>
        </a:p>
      </dgm:t>
    </dgm:pt>
    <dgm:pt modelId="{4C65D111-52B7-43A7-9FB6-9684729DF97E}" type="parTrans" cxnId="{575D2B49-DB60-46AE-91AC-2CCC91E76953}">
      <dgm:prSet/>
      <dgm:spPr/>
      <dgm:t>
        <a:bodyPr/>
        <a:lstStyle/>
        <a:p>
          <a:endParaRPr lang="en-US"/>
        </a:p>
      </dgm:t>
    </dgm:pt>
    <dgm:pt modelId="{49D26D38-2C8B-4065-9834-7114C9CEA17B}" type="sibTrans" cxnId="{575D2B49-DB60-46AE-91AC-2CCC91E76953}">
      <dgm:prSet/>
      <dgm:spPr/>
      <dgm:t>
        <a:bodyPr/>
        <a:lstStyle/>
        <a:p>
          <a:endParaRPr lang="en-US"/>
        </a:p>
      </dgm:t>
    </dgm:pt>
    <dgm:pt modelId="{09050256-4A46-A643-A42F-5F1A3B708DD6}" type="pres">
      <dgm:prSet presAssocID="{BF2631D8-E6C7-4B5D-A710-8C36FF92CB5F}" presName="vert0" presStyleCnt="0">
        <dgm:presLayoutVars>
          <dgm:dir/>
          <dgm:animOne val="branch"/>
          <dgm:animLvl val="lvl"/>
        </dgm:presLayoutVars>
      </dgm:prSet>
      <dgm:spPr/>
    </dgm:pt>
    <dgm:pt modelId="{8AA60D6F-8662-5645-82AA-7083AA92674F}" type="pres">
      <dgm:prSet presAssocID="{E4187DFF-55F2-4FF5-A9B0-4B733CA9AC69}" presName="thickLine" presStyleLbl="alignNode1" presStyleIdx="0" presStyleCnt="3"/>
      <dgm:spPr/>
    </dgm:pt>
    <dgm:pt modelId="{2D92BC18-B682-CB4A-AAEB-C719A6446003}" type="pres">
      <dgm:prSet presAssocID="{E4187DFF-55F2-4FF5-A9B0-4B733CA9AC69}" presName="horz1" presStyleCnt="0"/>
      <dgm:spPr/>
    </dgm:pt>
    <dgm:pt modelId="{17A11F43-79DC-EB4B-9FD4-04912519F0E1}" type="pres">
      <dgm:prSet presAssocID="{E4187DFF-55F2-4FF5-A9B0-4B733CA9AC69}" presName="tx1" presStyleLbl="revTx" presStyleIdx="0" presStyleCnt="3"/>
      <dgm:spPr/>
    </dgm:pt>
    <dgm:pt modelId="{C4FCAD9D-24C7-E149-8855-1228E490E1A6}" type="pres">
      <dgm:prSet presAssocID="{E4187DFF-55F2-4FF5-A9B0-4B733CA9AC69}" presName="vert1" presStyleCnt="0"/>
      <dgm:spPr/>
    </dgm:pt>
    <dgm:pt modelId="{C7BE8189-6450-A94A-BD40-F9419A6865DA}" type="pres">
      <dgm:prSet presAssocID="{27CC521F-BDF9-4BA2-B679-B5E035E770CA}" presName="thickLine" presStyleLbl="alignNode1" presStyleIdx="1" presStyleCnt="3"/>
      <dgm:spPr/>
    </dgm:pt>
    <dgm:pt modelId="{563A2885-C8E1-284A-B9CD-D8368725EF5B}" type="pres">
      <dgm:prSet presAssocID="{27CC521F-BDF9-4BA2-B679-B5E035E770CA}" presName="horz1" presStyleCnt="0"/>
      <dgm:spPr/>
    </dgm:pt>
    <dgm:pt modelId="{D5B651DB-B58B-894C-8B0D-109716E0EBF8}" type="pres">
      <dgm:prSet presAssocID="{27CC521F-BDF9-4BA2-B679-B5E035E770CA}" presName="tx1" presStyleLbl="revTx" presStyleIdx="1" presStyleCnt="3"/>
      <dgm:spPr/>
    </dgm:pt>
    <dgm:pt modelId="{9C39207C-5082-7C42-B415-902A3EF35D12}" type="pres">
      <dgm:prSet presAssocID="{27CC521F-BDF9-4BA2-B679-B5E035E770CA}" presName="vert1" presStyleCnt="0"/>
      <dgm:spPr/>
    </dgm:pt>
    <dgm:pt modelId="{55882A7F-E2A4-644C-B0E8-26EA148B9008}" type="pres">
      <dgm:prSet presAssocID="{6FB0EA01-FAD9-4103-85E7-0A27142DAEDD}" presName="thickLine" presStyleLbl="alignNode1" presStyleIdx="2" presStyleCnt="3"/>
      <dgm:spPr/>
    </dgm:pt>
    <dgm:pt modelId="{21AD0116-3A09-184D-91C9-9C24D5929AFE}" type="pres">
      <dgm:prSet presAssocID="{6FB0EA01-FAD9-4103-85E7-0A27142DAEDD}" presName="horz1" presStyleCnt="0"/>
      <dgm:spPr/>
    </dgm:pt>
    <dgm:pt modelId="{A616ABBA-2F83-9F4B-A353-82ED28CDA4E4}" type="pres">
      <dgm:prSet presAssocID="{6FB0EA01-FAD9-4103-85E7-0A27142DAEDD}" presName="tx1" presStyleLbl="revTx" presStyleIdx="2" presStyleCnt="3"/>
      <dgm:spPr/>
    </dgm:pt>
    <dgm:pt modelId="{0036D2EA-DE2F-1F44-973D-DC48ADD3955E}" type="pres">
      <dgm:prSet presAssocID="{6FB0EA01-FAD9-4103-85E7-0A27142DAEDD}" presName="vert1" presStyleCnt="0"/>
      <dgm:spPr/>
    </dgm:pt>
  </dgm:ptLst>
  <dgm:cxnLst>
    <dgm:cxn modelId="{0AAFA831-A3A8-634E-8E39-EDD462C308F8}" type="presOf" srcId="{6FB0EA01-FAD9-4103-85E7-0A27142DAEDD}" destId="{A616ABBA-2F83-9F4B-A353-82ED28CDA4E4}" srcOrd="0" destOrd="0" presId="urn:microsoft.com/office/officeart/2008/layout/LinedList"/>
    <dgm:cxn modelId="{A9F7F638-F2C6-C34D-946F-488484835D6D}" type="presOf" srcId="{27CC521F-BDF9-4BA2-B679-B5E035E770CA}" destId="{D5B651DB-B58B-894C-8B0D-109716E0EBF8}" srcOrd="0" destOrd="0" presId="urn:microsoft.com/office/officeart/2008/layout/LinedList"/>
    <dgm:cxn modelId="{575D2B49-DB60-46AE-91AC-2CCC91E76953}" srcId="{BF2631D8-E6C7-4B5D-A710-8C36FF92CB5F}" destId="{6FB0EA01-FAD9-4103-85E7-0A27142DAEDD}" srcOrd="2" destOrd="0" parTransId="{4C65D111-52B7-43A7-9FB6-9684729DF97E}" sibTransId="{49D26D38-2C8B-4065-9834-7114C9CEA17B}"/>
    <dgm:cxn modelId="{A3DD8D8C-A191-AC49-8876-83D7547CE88C}" type="presOf" srcId="{E4187DFF-55F2-4FF5-A9B0-4B733CA9AC69}" destId="{17A11F43-79DC-EB4B-9FD4-04912519F0E1}" srcOrd="0" destOrd="0" presId="urn:microsoft.com/office/officeart/2008/layout/LinedList"/>
    <dgm:cxn modelId="{8FBC43BE-570D-407C-AA88-FD044F097586}" srcId="{BF2631D8-E6C7-4B5D-A710-8C36FF92CB5F}" destId="{E4187DFF-55F2-4FF5-A9B0-4B733CA9AC69}" srcOrd="0" destOrd="0" parTransId="{2781140F-9ADC-4767-8F2D-4BB7C5560235}" sibTransId="{2EDFE977-2DEE-4F7C-8E4B-FD9C9F13B53E}"/>
    <dgm:cxn modelId="{F6E4ECD7-4D54-410D-970F-DE4971057E6D}" srcId="{BF2631D8-E6C7-4B5D-A710-8C36FF92CB5F}" destId="{27CC521F-BDF9-4BA2-B679-B5E035E770CA}" srcOrd="1" destOrd="0" parTransId="{99ADC9F9-9952-470E-B5C9-8768657FD8BA}" sibTransId="{B6B313CD-B4D9-4920-8AAC-860DFF71EAAC}"/>
    <dgm:cxn modelId="{F47534DB-5A79-9C4E-9F12-A8020B348020}" type="presOf" srcId="{BF2631D8-E6C7-4B5D-A710-8C36FF92CB5F}" destId="{09050256-4A46-A643-A42F-5F1A3B708DD6}" srcOrd="0" destOrd="0" presId="urn:microsoft.com/office/officeart/2008/layout/LinedList"/>
    <dgm:cxn modelId="{4984CF29-2732-9D46-AC35-8E495DF6D5EE}" type="presParOf" srcId="{09050256-4A46-A643-A42F-5F1A3B708DD6}" destId="{8AA60D6F-8662-5645-82AA-7083AA92674F}" srcOrd="0" destOrd="0" presId="urn:microsoft.com/office/officeart/2008/layout/LinedList"/>
    <dgm:cxn modelId="{833959C1-AA3C-7747-B1EF-282B5206C236}" type="presParOf" srcId="{09050256-4A46-A643-A42F-5F1A3B708DD6}" destId="{2D92BC18-B682-CB4A-AAEB-C719A6446003}" srcOrd="1" destOrd="0" presId="urn:microsoft.com/office/officeart/2008/layout/LinedList"/>
    <dgm:cxn modelId="{A550003F-E9C9-6249-89F0-A0B274A56922}" type="presParOf" srcId="{2D92BC18-B682-CB4A-AAEB-C719A6446003}" destId="{17A11F43-79DC-EB4B-9FD4-04912519F0E1}" srcOrd="0" destOrd="0" presId="urn:microsoft.com/office/officeart/2008/layout/LinedList"/>
    <dgm:cxn modelId="{3C385EF5-F99E-F048-9F18-B2C931E76B3C}" type="presParOf" srcId="{2D92BC18-B682-CB4A-AAEB-C719A6446003}" destId="{C4FCAD9D-24C7-E149-8855-1228E490E1A6}" srcOrd="1" destOrd="0" presId="urn:microsoft.com/office/officeart/2008/layout/LinedList"/>
    <dgm:cxn modelId="{177FF9E7-0097-3A4E-822A-F487F0576D3C}" type="presParOf" srcId="{09050256-4A46-A643-A42F-5F1A3B708DD6}" destId="{C7BE8189-6450-A94A-BD40-F9419A6865DA}" srcOrd="2" destOrd="0" presId="urn:microsoft.com/office/officeart/2008/layout/LinedList"/>
    <dgm:cxn modelId="{D5055481-0CAE-874E-AFBC-260D791E6AC1}" type="presParOf" srcId="{09050256-4A46-A643-A42F-5F1A3B708DD6}" destId="{563A2885-C8E1-284A-B9CD-D8368725EF5B}" srcOrd="3" destOrd="0" presId="urn:microsoft.com/office/officeart/2008/layout/LinedList"/>
    <dgm:cxn modelId="{F05BF361-3DE0-1845-A772-203EF2641915}" type="presParOf" srcId="{563A2885-C8E1-284A-B9CD-D8368725EF5B}" destId="{D5B651DB-B58B-894C-8B0D-109716E0EBF8}" srcOrd="0" destOrd="0" presId="urn:microsoft.com/office/officeart/2008/layout/LinedList"/>
    <dgm:cxn modelId="{751F8F84-9ABE-D04D-8112-D4C4DF4FCB11}" type="presParOf" srcId="{563A2885-C8E1-284A-B9CD-D8368725EF5B}" destId="{9C39207C-5082-7C42-B415-902A3EF35D12}" srcOrd="1" destOrd="0" presId="urn:microsoft.com/office/officeart/2008/layout/LinedList"/>
    <dgm:cxn modelId="{0BC9482A-9122-C04A-AE81-4A724EB0BB9E}" type="presParOf" srcId="{09050256-4A46-A643-A42F-5F1A3B708DD6}" destId="{55882A7F-E2A4-644C-B0E8-26EA148B9008}" srcOrd="4" destOrd="0" presId="urn:microsoft.com/office/officeart/2008/layout/LinedList"/>
    <dgm:cxn modelId="{D4CF931D-8DDA-0B44-B4AC-039D8E4391A4}" type="presParOf" srcId="{09050256-4A46-A643-A42F-5F1A3B708DD6}" destId="{21AD0116-3A09-184D-91C9-9C24D5929AFE}" srcOrd="5" destOrd="0" presId="urn:microsoft.com/office/officeart/2008/layout/LinedList"/>
    <dgm:cxn modelId="{E90C3202-5859-0D49-AD74-3FE48069068D}" type="presParOf" srcId="{21AD0116-3A09-184D-91C9-9C24D5929AFE}" destId="{A616ABBA-2F83-9F4B-A353-82ED28CDA4E4}" srcOrd="0" destOrd="0" presId="urn:microsoft.com/office/officeart/2008/layout/LinedList"/>
    <dgm:cxn modelId="{1E61FD11-1771-D440-AC57-8F23F885B105}" type="presParOf" srcId="{21AD0116-3A09-184D-91C9-9C24D5929AFE}" destId="{0036D2EA-DE2F-1F44-973D-DC48ADD3955E}"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9D165BE-2308-4084-956E-B9F616C5614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F731C22-BD61-492C-8C39-3872AC495299}">
      <dgm:prSet custT="1"/>
      <dgm:spPr/>
      <dgm:t>
        <a:bodyPr/>
        <a:lstStyle/>
        <a:p>
          <a:pPr>
            <a:lnSpc>
              <a:spcPct val="100000"/>
            </a:lnSpc>
          </a:pPr>
          <a:r>
            <a:rPr lang="en-CA" sz="2400" b="1" i="0" dirty="0"/>
            <a:t>1. Customer Lifetime Value Modeling: </a:t>
          </a:r>
          <a:r>
            <a:rPr lang="en-CA" sz="2400" b="0" i="0" dirty="0"/>
            <a:t>to identify, understand, and retain the company's most valuable customers, whether that means the biggest spenders, the most loyal advocates of your brand, or both. </a:t>
          </a:r>
          <a:endParaRPr lang="en-US" sz="2400" dirty="0"/>
        </a:p>
      </dgm:t>
    </dgm:pt>
    <dgm:pt modelId="{E4F7E635-2542-4A1C-A650-E4A57A5FA63D}" type="parTrans" cxnId="{B8F82129-F5EE-4CD9-8C91-2A407E04A78F}">
      <dgm:prSet/>
      <dgm:spPr/>
      <dgm:t>
        <a:bodyPr/>
        <a:lstStyle/>
        <a:p>
          <a:endParaRPr lang="en-US"/>
        </a:p>
      </dgm:t>
    </dgm:pt>
    <dgm:pt modelId="{88BFB9E4-3A2B-4985-9CE5-094D3C87518B}" type="sibTrans" cxnId="{B8F82129-F5EE-4CD9-8C91-2A407E04A78F}">
      <dgm:prSet/>
      <dgm:spPr/>
      <dgm:t>
        <a:bodyPr/>
        <a:lstStyle/>
        <a:p>
          <a:endParaRPr lang="en-US"/>
        </a:p>
      </dgm:t>
    </dgm:pt>
    <dgm:pt modelId="{89896C59-3C11-42A0-814C-43C81049683C}">
      <dgm:prSet custT="1"/>
      <dgm:spPr/>
      <dgm:t>
        <a:bodyPr/>
        <a:lstStyle/>
        <a:p>
          <a:pPr>
            <a:lnSpc>
              <a:spcPct val="100000"/>
            </a:lnSpc>
          </a:pPr>
          <a:r>
            <a:rPr lang="en-CA" sz="2400" b="1" i="0" dirty="0"/>
            <a:t>2. Churn Modeling: </a:t>
          </a:r>
          <a:r>
            <a:rPr lang="en-CA" sz="2400" b="0" i="0" dirty="0"/>
            <a:t>help you identify which of your customers are likely to stop engaging with your business and why. The results of a churn model can range from churn risk scores for individual customers to drivers of churn ranked by importance. </a:t>
          </a:r>
          <a:endParaRPr lang="en-US" sz="2400" dirty="0"/>
        </a:p>
      </dgm:t>
    </dgm:pt>
    <dgm:pt modelId="{48F495FB-935C-4D76-BC67-12D6F22ADE78}" type="parTrans" cxnId="{9D264BE9-A2C3-4EC3-B9D7-47B3B28461F3}">
      <dgm:prSet/>
      <dgm:spPr/>
      <dgm:t>
        <a:bodyPr/>
        <a:lstStyle/>
        <a:p>
          <a:endParaRPr lang="en-US"/>
        </a:p>
      </dgm:t>
    </dgm:pt>
    <dgm:pt modelId="{1CBFD308-4CB6-4463-ADB0-9FC304227D1E}" type="sibTrans" cxnId="{9D264BE9-A2C3-4EC3-B9D7-47B3B28461F3}">
      <dgm:prSet/>
      <dgm:spPr/>
      <dgm:t>
        <a:bodyPr/>
        <a:lstStyle/>
        <a:p>
          <a:endParaRPr lang="en-US"/>
        </a:p>
      </dgm:t>
    </dgm:pt>
    <dgm:pt modelId="{C22487CD-BF79-4DFB-9A72-A60E6252EF89}">
      <dgm:prSet custT="1"/>
      <dgm:spPr/>
      <dgm:t>
        <a:bodyPr/>
        <a:lstStyle/>
        <a:p>
          <a:pPr>
            <a:lnSpc>
              <a:spcPct val="100000"/>
            </a:lnSpc>
          </a:pPr>
          <a:r>
            <a:rPr lang="en-CA" sz="2400" b="1" i="0" dirty="0"/>
            <a:t>3. Dynamic Pricing: </a:t>
          </a:r>
          <a:r>
            <a:rPr lang="en-CA" sz="2000" b="0" i="0" dirty="0"/>
            <a:t>Dynamic pricing, also known as demand pricing, is the practice of flexibly pricing items based on factors like the level of interest of the target customer, demand at the time of purchase, or whether the customer has engaged with a marketing campaign. </a:t>
          </a:r>
          <a:endParaRPr lang="en-US" sz="2000" dirty="0"/>
        </a:p>
      </dgm:t>
    </dgm:pt>
    <dgm:pt modelId="{E7ADE0B5-8AE6-48BD-A210-44F1BF5A9E02}" type="parTrans" cxnId="{9B5229E3-27F4-4B54-BC6E-84A6CEBF357B}">
      <dgm:prSet/>
      <dgm:spPr/>
      <dgm:t>
        <a:bodyPr/>
        <a:lstStyle/>
        <a:p>
          <a:endParaRPr lang="en-US"/>
        </a:p>
      </dgm:t>
    </dgm:pt>
    <dgm:pt modelId="{777CA8C2-AD6F-449F-A5CF-503AAE4180DA}" type="sibTrans" cxnId="{9B5229E3-27F4-4B54-BC6E-84A6CEBF357B}">
      <dgm:prSet/>
      <dgm:spPr/>
      <dgm:t>
        <a:bodyPr/>
        <a:lstStyle/>
        <a:p>
          <a:endParaRPr lang="en-US"/>
        </a:p>
      </dgm:t>
    </dgm:pt>
    <dgm:pt modelId="{FA39E36C-E97A-4078-AE1C-1CAC3226EB7B}" type="pres">
      <dgm:prSet presAssocID="{99D165BE-2308-4084-956E-B9F616C56146}" presName="root" presStyleCnt="0">
        <dgm:presLayoutVars>
          <dgm:dir/>
          <dgm:resizeHandles val="exact"/>
        </dgm:presLayoutVars>
      </dgm:prSet>
      <dgm:spPr/>
    </dgm:pt>
    <dgm:pt modelId="{70A1B527-BB4A-43F5-A108-2D62DB51C731}" type="pres">
      <dgm:prSet presAssocID="{3F731C22-BD61-492C-8C39-3872AC495299}" presName="compNode" presStyleCnt="0"/>
      <dgm:spPr/>
    </dgm:pt>
    <dgm:pt modelId="{BE4D271E-91FD-4C54-A7F0-FB7007CD8B8F}" type="pres">
      <dgm:prSet presAssocID="{3F731C22-BD61-492C-8C39-3872AC495299}" presName="bgRect" presStyleLbl="bgShp" presStyleIdx="0" presStyleCnt="3"/>
      <dgm:spPr/>
    </dgm:pt>
    <dgm:pt modelId="{6726CACD-8829-4455-BC24-EC038210C710}" type="pres">
      <dgm:prSet presAssocID="{3F731C22-BD61-492C-8C39-3872AC49529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ice"/>
        </a:ext>
      </dgm:extLst>
    </dgm:pt>
    <dgm:pt modelId="{F04CEBD3-BC86-4C0C-9517-1C66DB1A8BDD}" type="pres">
      <dgm:prSet presAssocID="{3F731C22-BD61-492C-8C39-3872AC495299}" presName="spaceRect" presStyleCnt="0"/>
      <dgm:spPr/>
    </dgm:pt>
    <dgm:pt modelId="{CB88BB5C-8A42-4613-B264-A72082B5B651}" type="pres">
      <dgm:prSet presAssocID="{3F731C22-BD61-492C-8C39-3872AC495299}" presName="parTx" presStyleLbl="revTx" presStyleIdx="0" presStyleCnt="3">
        <dgm:presLayoutVars>
          <dgm:chMax val="0"/>
          <dgm:chPref val="0"/>
        </dgm:presLayoutVars>
      </dgm:prSet>
      <dgm:spPr/>
    </dgm:pt>
    <dgm:pt modelId="{7249D3CB-7EEE-4799-819F-69F812B0C01D}" type="pres">
      <dgm:prSet presAssocID="{88BFB9E4-3A2B-4985-9CE5-094D3C87518B}" presName="sibTrans" presStyleCnt="0"/>
      <dgm:spPr/>
    </dgm:pt>
    <dgm:pt modelId="{49641F31-4036-4FEA-B56C-AF7B61FA90EA}" type="pres">
      <dgm:prSet presAssocID="{89896C59-3C11-42A0-814C-43C81049683C}" presName="compNode" presStyleCnt="0"/>
      <dgm:spPr/>
    </dgm:pt>
    <dgm:pt modelId="{0D8375C5-8C90-40F9-A675-E404753AED0A}" type="pres">
      <dgm:prSet presAssocID="{89896C59-3C11-42A0-814C-43C81049683C}" presName="bgRect" presStyleLbl="bgShp" presStyleIdx="1" presStyleCnt="3"/>
      <dgm:spPr/>
    </dgm:pt>
    <dgm:pt modelId="{727F210F-53B5-4FF0-850C-1B4373B54991}" type="pres">
      <dgm:prSet presAssocID="{89896C59-3C11-42A0-814C-43C81049683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lter"/>
        </a:ext>
      </dgm:extLst>
    </dgm:pt>
    <dgm:pt modelId="{114064B5-A99E-478A-B7D2-9A2EFE6BD6F8}" type="pres">
      <dgm:prSet presAssocID="{89896C59-3C11-42A0-814C-43C81049683C}" presName="spaceRect" presStyleCnt="0"/>
      <dgm:spPr/>
    </dgm:pt>
    <dgm:pt modelId="{947AA2F4-6CA1-46B1-A190-A93B200B38F7}" type="pres">
      <dgm:prSet presAssocID="{89896C59-3C11-42A0-814C-43C81049683C}" presName="parTx" presStyleLbl="revTx" presStyleIdx="1" presStyleCnt="3">
        <dgm:presLayoutVars>
          <dgm:chMax val="0"/>
          <dgm:chPref val="0"/>
        </dgm:presLayoutVars>
      </dgm:prSet>
      <dgm:spPr/>
    </dgm:pt>
    <dgm:pt modelId="{65644628-5558-4183-BBD5-BC2E0E9294E2}" type="pres">
      <dgm:prSet presAssocID="{1CBFD308-4CB6-4463-ADB0-9FC304227D1E}" presName="sibTrans" presStyleCnt="0"/>
      <dgm:spPr/>
    </dgm:pt>
    <dgm:pt modelId="{7210FCD8-3F7D-43D4-9A58-816B7CA76797}" type="pres">
      <dgm:prSet presAssocID="{C22487CD-BF79-4DFB-9A72-A60E6252EF89}" presName="compNode" presStyleCnt="0"/>
      <dgm:spPr/>
    </dgm:pt>
    <dgm:pt modelId="{DCA848EC-3114-468D-8F3F-03C284B87008}" type="pres">
      <dgm:prSet presAssocID="{C22487CD-BF79-4DFB-9A72-A60E6252EF89}" presName="bgRect" presStyleLbl="bgShp" presStyleIdx="2" presStyleCnt="3"/>
      <dgm:spPr/>
    </dgm:pt>
    <dgm:pt modelId="{89871C7A-86C5-47DE-8C45-E89F530E6DBA}" type="pres">
      <dgm:prSet presAssocID="{C22487CD-BF79-4DFB-9A72-A60E6252EF8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ey"/>
        </a:ext>
      </dgm:extLst>
    </dgm:pt>
    <dgm:pt modelId="{E8A7886B-3632-4072-A515-407346853A59}" type="pres">
      <dgm:prSet presAssocID="{C22487CD-BF79-4DFB-9A72-A60E6252EF89}" presName="spaceRect" presStyleCnt="0"/>
      <dgm:spPr/>
    </dgm:pt>
    <dgm:pt modelId="{B80CCEAF-167A-498C-BB83-65F8AB697DAF}" type="pres">
      <dgm:prSet presAssocID="{C22487CD-BF79-4DFB-9A72-A60E6252EF89}" presName="parTx" presStyleLbl="revTx" presStyleIdx="2" presStyleCnt="3">
        <dgm:presLayoutVars>
          <dgm:chMax val="0"/>
          <dgm:chPref val="0"/>
        </dgm:presLayoutVars>
      </dgm:prSet>
      <dgm:spPr/>
    </dgm:pt>
  </dgm:ptLst>
  <dgm:cxnLst>
    <dgm:cxn modelId="{B8F82129-F5EE-4CD9-8C91-2A407E04A78F}" srcId="{99D165BE-2308-4084-956E-B9F616C56146}" destId="{3F731C22-BD61-492C-8C39-3872AC495299}" srcOrd="0" destOrd="0" parTransId="{E4F7E635-2542-4A1C-A650-E4A57A5FA63D}" sibTransId="{88BFB9E4-3A2B-4985-9CE5-094D3C87518B}"/>
    <dgm:cxn modelId="{85BD762E-1FEC-47AF-AF69-7117E9288B73}" type="presOf" srcId="{89896C59-3C11-42A0-814C-43C81049683C}" destId="{947AA2F4-6CA1-46B1-A190-A93B200B38F7}" srcOrd="0" destOrd="0" presId="urn:microsoft.com/office/officeart/2018/2/layout/IconVerticalSolidList"/>
    <dgm:cxn modelId="{5AFA48BF-1091-419E-8D74-14006753018F}" type="presOf" srcId="{C22487CD-BF79-4DFB-9A72-A60E6252EF89}" destId="{B80CCEAF-167A-498C-BB83-65F8AB697DAF}" srcOrd="0" destOrd="0" presId="urn:microsoft.com/office/officeart/2018/2/layout/IconVerticalSolidList"/>
    <dgm:cxn modelId="{A87D2BD4-4B1A-495B-93F9-AA855460F4EA}" type="presOf" srcId="{3F731C22-BD61-492C-8C39-3872AC495299}" destId="{CB88BB5C-8A42-4613-B264-A72082B5B651}" srcOrd="0" destOrd="0" presId="urn:microsoft.com/office/officeart/2018/2/layout/IconVerticalSolidList"/>
    <dgm:cxn modelId="{9B5229E3-27F4-4B54-BC6E-84A6CEBF357B}" srcId="{99D165BE-2308-4084-956E-B9F616C56146}" destId="{C22487CD-BF79-4DFB-9A72-A60E6252EF89}" srcOrd="2" destOrd="0" parTransId="{E7ADE0B5-8AE6-48BD-A210-44F1BF5A9E02}" sibTransId="{777CA8C2-AD6F-449F-A5CF-503AAE4180DA}"/>
    <dgm:cxn modelId="{9D264BE9-A2C3-4EC3-B9D7-47B3B28461F3}" srcId="{99D165BE-2308-4084-956E-B9F616C56146}" destId="{89896C59-3C11-42A0-814C-43C81049683C}" srcOrd="1" destOrd="0" parTransId="{48F495FB-935C-4D76-BC67-12D6F22ADE78}" sibTransId="{1CBFD308-4CB6-4463-ADB0-9FC304227D1E}"/>
    <dgm:cxn modelId="{16F9EBFB-1CE5-4EAC-BE9B-3C62CDCEF904}" type="presOf" srcId="{99D165BE-2308-4084-956E-B9F616C56146}" destId="{FA39E36C-E97A-4078-AE1C-1CAC3226EB7B}" srcOrd="0" destOrd="0" presId="urn:microsoft.com/office/officeart/2018/2/layout/IconVerticalSolidList"/>
    <dgm:cxn modelId="{FD4F83C8-B3BC-4D5F-813B-77D374775F62}" type="presParOf" srcId="{FA39E36C-E97A-4078-AE1C-1CAC3226EB7B}" destId="{70A1B527-BB4A-43F5-A108-2D62DB51C731}" srcOrd="0" destOrd="0" presId="urn:microsoft.com/office/officeart/2018/2/layout/IconVerticalSolidList"/>
    <dgm:cxn modelId="{80CE5141-B5B7-42EE-B63A-E0174EF001E4}" type="presParOf" srcId="{70A1B527-BB4A-43F5-A108-2D62DB51C731}" destId="{BE4D271E-91FD-4C54-A7F0-FB7007CD8B8F}" srcOrd="0" destOrd="0" presId="urn:microsoft.com/office/officeart/2018/2/layout/IconVerticalSolidList"/>
    <dgm:cxn modelId="{DF961B1D-5FA1-4D35-A080-1E5F6B86B8C1}" type="presParOf" srcId="{70A1B527-BB4A-43F5-A108-2D62DB51C731}" destId="{6726CACD-8829-4455-BC24-EC038210C710}" srcOrd="1" destOrd="0" presId="urn:microsoft.com/office/officeart/2018/2/layout/IconVerticalSolidList"/>
    <dgm:cxn modelId="{BFE7D9F1-EEB4-4078-BE12-4469C9DC4A4F}" type="presParOf" srcId="{70A1B527-BB4A-43F5-A108-2D62DB51C731}" destId="{F04CEBD3-BC86-4C0C-9517-1C66DB1A8BDD}" srcOrd="2" destOrd="0" presId="urn:microsoft.com/office/officeart/2018/2/layout/IconVerticalSolidList"/>
    <dgm:cxn modelId="{B01F0797-6507-49DA-AF6B-7DAAD6D81AC2}" type="presParOf" srcId="{70A1B527-BB4A-43F5-A108-2D62DB51C731}" destId="{CB88BB5C-8A42-4613-B264-A72082B5B651}" srcOrd="3" destOrd="0" presId="urn:microsoft.com/office/officeart/2018/2/layout/IconVerticalSolidList"/>
    <dgm:cxn modelId="{DEF680D1-30C5-44B0-BCEC-46A54226FCA9}" type="presParOf" srcId="{FA39E36C-E97A-4078-AE1C-1CAC3226EB7B}" destId="{7249D3CB-7EEE-4799-819F-69F812B0C01D}" srcOrd="1" destOrd="0" presId="urn:microsoft.com/office/officeart/2018/2/layout/IconVerticalSolidList"/>
    <dgm:cxn modelId="{6985C6F7-CB17-447C-92DD-331C9EACDB9F}" type="presParOf" srcId="{FA39E36C-E97A-4078-AE1C-1CAC3226EB7B}" destId="{49641F31-4036-4FEA-B56C-AF7B61FA90EA}" srcOrd="2" destOrd="0" presId="urn:microsoft.com/office/officeart/2018/2/layout/IconVerticalSolidList"/>
    <dgm:cxn modelId="{C353504F-B5F5-446E-95DC-E1A569A07217}" type="presParOf" srcId="{49641F31-4036-4FEA-B56C-AF7B61FA90EA}" destId="{0D8375C5-8C90-40F9-A675-E404753AED0A}" srcOrd="0" destOrd="0" presId="urn:microsoft.com/office/officeart/2018/2/layout/IconVerticalSolidList"/>
    <dgm:cxn modelId="{45A55B88-4022-487C-9873-095122013936}" type="presParOf" srcId="{49641F31-4036-4FEA-B56C-AF7B61FA90EA}" destId="{727F210F-53B5-4FF0-850C-1B4373B54991}" srcOrd="1" destOrd="0" presId="urn:microsoft.com/office/officeart/2018/2/layout/IconVerticalSolidList"/>
    <dgm:cxn modelId="{48F45A2C-A595-4CF8-9F18-64ADB6460335}" type="presParOf" srcId="{49641F31-4036-4FEA-B56C-AF7B61FA90EA}" destId="{114064B5-A99E-478A-B7D2-9A2EFE6BD6F8}" srcOrd="2" destOrd="0" presId="urn:microsoft.com/office/officeart/2018/2/layout/IconVerticalSolidList"/>
    <dgm:cxn modelId="{61E228CD-141C-4CC1-89A8-21D22C5AD3DB}" type="presParOf" srcId="{49641F31-4036-4FEA-B56C-AF7B61FA90EA}" destId="{947AA2F4-6CA1-46B1-A190-A93B200B38F7}" srcOrd="3" destOrd="0" presId="urn:microsoft.com/office/officeart/2018/2/layout/IconVerticalSolidList"/>
    <dgm:cxn modelId="{12BAA955-AD1B-46B7-ADCE-7023DB00EBCE}" type="presParOf" srcId="{FA39E36C-E97A-4078-AE1C-1CAC3226EB7B}" destId="{65644628-5558-4183-BBD5-BC2E0E9294E2}" srcOrd="3" destOrd="0" presId="urn:microsoft.com/office/officeart/2018/2/layout/IconVerticalSolidList"/>
    <dgm:cxn modelId="{FB33E8D1-54BF-4BE1-8168-C56DB6408AEE}" type="presParOf" srcId="{FA39E36C-E97A-4078-AE1C-1CAC3226EB7B}" destId="{7210FCD8-3F7D-43D4-9A58-816B7CA76797}" srcOrd="4" destOrd="0" presId="urn:microsoft.com/office/officeart/2018/2/layout/IconVerticalSolidList"/>
    <dgm:cxn modelId="{EB973A3A-07EF-4602-AA9E-DBD407E7C893}" type="presParOf" srcId="{7210FCD8-3F7D-43D4-9A58-816B7CA76797}" destId="{DCA848EC-3114-468D-8F3F-03C284B87008}" srcOrd="0" destOrd="0" presId="urn:microsoft.com/office/officeart/2018/2/layout/IconVerticalSolidList"/>
    <dgm:cxn modelId="{D044298F-446E-4D8C-BF1C-FF3ED604464D}" type="presParOf" srcId="{7210FCD8-3F7D-43D4-9A58-816B7CA76797}" destId="{89871C7A-86C5-47DE-8C45-E89F530E6DBA}" srcOrd="1" destOrd="0" presId="urn:microsoft.com/office/officeart/2018/2/layout/IconVerticalSolidList"/>
    <dgm:cxn modelId="{4CCE299E-84C1-4B5C-9D80-B69850AA92E4}" type="presParOf" srcId="{7210FCD8-3F7D-43D4-9A58-816B7CA76797}" destId="{E8A7886B-3632-4072-A515-407346853A59}" srcOrd="2" destOrd="0" presId="urn:microsoft.com/office/officeart/2018/2/layout/IconVerticalSolidList"/>
    <dgm:cxn modelId="{F31694D2-C343-4B1D-B65A-99A8BAC3ABB4}" type="presParOf" srcId="{7210FCD8-3F7D-43D4-9A58-816B7CA76797}" destId="{B80CCEAF-167A-498C-BB83-65F8AB697DA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3597E72-0866-4F75-9F25-E0E8A91B9E36}">
      <dsp:nvSpPr>
        <dsp:cNvPr id="0" name=""/>
        <dsp:cNvSpPr/>
      </dsp:nvSpPr>
      <dsp:spPr>
        <a:xfrm>
          <a:off x="710944" y="645374"/>
          <a:ext cx="736435" cy="7364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BA37AE-8A5D-44DE-89BC-D5242567FD89}">
      <dsp:nvSpPr>
        <dsp:cNvPr id="0" name=""/>
        <dsp:cNvSpPr/>
      </dsp:nvSpPr>
      <dsp:spPr>
        <a:xfrm>
          <a:off x="260900" y="1704135"/>
          <a:ext cx="1636523" cy="777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Analysts predict that by 2025, there will be 17,200 gigabytes of data on every person in the world.</a:t>
          </a:r>
          <a:endParaRPr lang="en-US" sz="1100" kern="1200"/>
        </a:p>
      </dsp:txBody>
      <dsp:txXfrm>
        <a:off x="260900" y="1704135"/>
        <a:ext cx="1636523" cy="777348"/>
      </dsp:txXfrm>
    </dsp:sp>
    <dsp:sp modelId="{2CBB1C79-7FFD-48D4-BE2D-50691F0775C1}">
      <dsp:nvSpPr>
        <dsp:cNvPr id="0" name=""/>
        <dsp:cNvSpPr/>
      </dsp:nvSpPr>
      <dsp:spPr>
        <a:xfrm>
          <a:off x="2633859" y="645374"/>
          <a:ext cx="736435" cy="7364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44B48A-80C8-4999-9B2E-90AC66388792}">
      <dsp:nvSpPr>
        <dsp:cNvPr id="0" name=""/>
        <dsp:cNvSpPr/>
      </dsp:nvSpPr>
      <dsp:spPr>
        <a:xfrm>
          <a:off x="2183815" y="1704135"/>
          <a:ext cx="1636523" cy="777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On average, people send about 500 million tweets per day. </a:t>
          </a:r>
          <a:endParaRPr lang="en-US" sz="1100" kern="1200"/>
        </a:p>
      </dsp:txBody>
      <dsp:txXfrm>
        <a:off x="2183815" y="1704135"/>
        <a:ext cx="1636523" cy="777348"/>
      </dsp:txXfrm>
    </dsp:sp>
    <dsp:sp modelId="{5E848389-752C-471F-B27A-4B63CA6C3130}">
      <dsp:nvSpPr>
        <dsp:cNvPr id="0" name=""/>
        <dsp:cNvSpPr/>
      </dsp:nvSpPr>
      <dsp:spPr>
        <a:xfrm>
          <a:off x="4556774" y="645374"/>
          <a:ext cx="736435" cy="7364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66BE24-911B-4CC0-A914-DA80B6AD35A4}">
      <dsp:nvSpPr>
        <dsp:cNvPr id="0" name=""/>
        <dsp:cNvSpPr/>
      </dsp:nvSpPr>
      <dsp:spPr>
        <a:xfrm>
          <a:off x="4106730" y="1704135"/>
          <a:ext cx="1636523" cy="777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The average U.S. customer uses 1.8 gigabytes of data per month on his or her cell phone plan.</a:t>
          </a:r>
          <a:endParaRPr lang="en-US" sz="1100" kern="1200"/>
        </a:p>
      </dsp:txBody>
      <dsp:txXfrm>
        <a:off x="4106730" y="1704135"/>
        <a:ext cx="1636523" cy="777348"/>
      </dsp:txXfrm>
    </dsp:sp>
    <dsp:sp modelId="{EBB7E871-53DE-4451-B71A-C0DB09E3A26D}">
      <dsp:nvSpPr>
        <dsp:cNvPr id="0" name=""/>
        <dsp:cNvSpPr/>
      </dsp:nvSpPr>
      <dsp:spPr>
        <a:xfrm>
          <a:off x="6479689" y="645374"/>
          <a:ext cx="736435" cy="7364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115173-5674-4581-9F0D-C54F689E4EF6}">
      <dsp:nvSpPr>
        <dsp:cNvPr id="0" name=""/>
        <dsp:cNvSpPr/>
      </dsp:nvSpPr>
      <dsp:spPr>
        <a:xfrm>
          <a:off x="6029645" y="1704135"/>
          <a:ext cx="1636523" cy="777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Walmart processes one million customer transactions per hour. </a:t>
          </a:r>
          <a:endParaRPr lang="en-US" sz="1100" kern="1200"/>
        </a:p>
      </dsp:txBody>
      <dsp:txXfrm>
        <a:off x="6029645" y="1704135"/>
        <a:ext cx="1636523" cy="777348"/>
      </dsp:txXfrm>
    </dsp:sp>
    <dsp:sp modelId="{9772884B-3087-4339-859D-7F7C51F343AB}">
      <dsp:nvSpPr>
        <dsp:cNvPr id="0" name=""/>
        <dsp:cNvSpPr/>
      </dsp:nvSpPr>
      <dsp:spPr>
        <a:xfrm>
          <a:off x="8402604" y="645374"/>
          <a:ext cx="736435" cy="73643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EA3933-EF7B-433A-982A-B05F15302B2E}">
      <dsp:nvSpPr>
        <dsp:cNvPr id="0" name=""/>
        <dsp:cNvSpPr/>
      </dsp:nvSpPr>
      <dsp:spPr>
        <a:xfrm>
          <a:off x="7952560" y="1704135"/>
          <a:ext cx="1636523" cy="777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Amazon sells 600 items per second. </a:t>
          </a:r>
          <a:endParaRPr lang="en-US" sz="1100" kern="1200"/>
        </a:p>
      </dsp:txBody>
      <dsp:txXfrm>
        <a:off x="7952560" y="1704135"/>
        <a:ext cx="1636523" cy="777348"/>
      </dsp:txXfrm>
    </dsp:sp>
    <dsp:sp modelId="{52183092-025C-4326-989D-0154B9F7469F}">
      <dsp:nvSpPr>
        <dsp:cNvPr id="0" name=""/>
        <dsp:cNvSpPr/>
      </dsp:nvSpPr>
      <dsp:spPr>
        <a:xfrm>
          <a:off x="10325519" y="645374"/>
          <a:ext cx="736435" cy="736435"/>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BAC8AC-BD86-47AF-9F5A-D301D1D9ED80}">
      <dsp:nvSpPr>
        <dsp:cNvPr id="0" name=""/>
        <dsp:cNvSpPr/>
      </dsp:nvSpPr>
      <dsp:spPr>
        <a:xfrm>
          <a:off x="9875475" y="1704135"/>
          <a:ext cx="1636523" cy="777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On average, each person who uses email receives 88 emails per day and send 34. That adds up to more than 200 billion emails each day.</a:t>
          </a:r>
          <a:endParaRPr lang="en-US" sz="1100" kern="1200"/>
        </a:p>
      </dsp:txBody>
      <dsp:txXfrm>
        <a:off x="9875475" y="1704135"/>
        <a:ext cx="1636523" cy="777348"/>
      </dsp:txXfrm>
    </dsp:sp>
    <dsp:sp modelId="{4E532574-C4CD-4EFD-BDC1-2FBE46A41DB9}">
      <dsp:nvSpPr>
        <dsp:cNvPr id="0" name=""/>
        <dsp:cNvSpPr/>
      </dsp:nvSpPr>
      <dsp:spPr>
        <a:xfrm>
          <a:off x="4556774" y="2890615"/>
          <a:ext cx="736435" cy="736435"/>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AC8AD8-85F5-45EA-BC84-D14823287B9F}">
      <dsp:nvSpPr>
        <dsp:cNvPr id="0" name=""/>
        <dsp:cNvSpPr/>
      </dsp:nvSpPr>
      <dsp:spPr>
        <a:xfrm>
          <a:off x="4106730" y="3949376"/>
          <a:ext cx="1636523" cy="777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MasterCard processes 74 billion transactions per year.</a:t>
          </a:r>
          <a:endParaRPr lang="en-US" sz="1100" kern="1200"/>
        </a:p>
      </dsp:txBody>
      <dsp:txXfrm>
        <a:off x="4106730" y="3949376"/>
        <a:ext cx="1636523" cy="777348"/>
      </dsp:txXfrm>
    </dsp:sp>
    <dsp:sp modelId="{8E1F1930-35C3-44CC-A758-0D3F8249838B}">
      <dsp:nvSpPr>
        <dsp:cNvPr id="0" name=""/>
        <dsp:cNvSpPr/>
      </dsp:nvSpPr>
      <dsp:spPr>
        <a:xfrm>
          <a:off x="6479689" y="2890615"/>
          <a:ext cx="736435" cy="736435"/>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EFB137-1B40-4412-8E76-44D9B9A2198A}">
      <dsp:nvSpPr>
        <dsp:cNvPr id="0" name=""/>
        <dsp:cNvSpPr/>
      </dsp:nvSpPr>
      <dsp:spPr>
        <a:xfrm>
          <a:off x="6029645" y="3949376"/>
          <a:ext cx="1636523" cy="7773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CA" sz="1100" kern="1200"/>
            <a:t>Commercial airlines make about 5,800 flights per day. </a:t>
          </a:r>
          <a:endParaRPr lang="en-US" sz="1100" kern="1200"/>
        </a:p>
      </dsp:txBody>
      <dsp:txXfrm>
        <a:off x="6029645" y="3949376"/>
        <a:ext cx="1636523" cy="7773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CA9686-232B-4706-8E1C-9DC5D8A003A9}">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13562A-53B7-4280-B620-E9F5F7236396}">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700552A-612C-4CDC-B94A-EB5C0FE70695}">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CA" sz="1800" b="1" i="0" kern="1200"/>
            <a:t>Volume</a:t>
          </a:r>
          <a:r>
            <a:rPr lang="en-CA" sz="1800" b="0" i="0" kern="1200"/>
            <a:t>: The sheer amount of data generated and stored. It's not just terabytes but could be petabytes or exabytes of data.</a:t>
          </a:r>
          <a:endParaRPr lang="en-US" sz="1800" kern="1200"/>
        </a:p>
      </dsp:txBody>
      <dsp:txXfrm>
        <a:off x="836323" y="3399"/>
        <a:ext cx="9679276" cy="724089"/>
      </dsp:txXfrm>
    </dsp:sp>
    <dsp:sp modelId="{65CDF53B-854D-4525-A28E-B4A4AE1E5FBC}">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0BA28F-5FA3-4C6C-8D31-3175AB31C7F6}">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399DC7-E7A3-4949-96CC-EBD9D1F0D1C0}">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CA" sz="1800" b="1" i="0" kern="1200"/>
            <a:t>Velocity</a:t>
          </a:r>
          <a:r>
            <a:rPr lang="en-CA" sz="1800" b="0" i="0" kern="1200"/>
            <a:t>: The speed at which new data is generated and the pace at which data moves. It includes the rapid ingestion of data from sources like social media or sensors.</a:t>
          </a:r>
          <a:endParaRPr lang="en-US" sz="1800" kern="1200"/>
        </a:p>
      </dsp:txBody>
      <dsp:txXfrm>
        <a:off x="836323" y="908511"/>
        <a:ext cx="9679276" cy="724089"/>
      </dsp:txXfrm>
    </dsp:sp>
    <dsp:sp modelId="{CB763EC1-AE34-4535-BFFA-F6FFBDA0A7EF}">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731B24-4455-4DD0-B9BC-43D49ADC8794}">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DDDF5B-C537-4744-9382-6E263C69F23E}">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CA" sz="1800" b="1" i="0" kern="1200"/>
            <a:t>Variety</a:t>
          </a:r>
          <a:r>
            <a:rPr lang="en-CA" sz="1800" b="0" i="0" kern="1200"/>
            <a:t>: The different types of data, which could be structured, unstructured, or semi-structured. This variety includes everything from text and images to log files and video.</a:t>
          </a:r>
          <a:endParaRPr lang="en-US" sz="1800" kern="1200"/>
        </a:p>
      </dsp:txBody>
      <dsp:txXfrm>
        <a:off x="836323" y="1813624"/>
        <a:ext cx="9679276" cy="724089"/>
      </dsp:txXfrm>
    </dsp:sp>
    <dsp:sp modelId="{1222699F-7863-4C17-9D55-E5254323024C}">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9EA7D9-0C3C-4D93-A8C3-E32669C6E089}">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1B6B42-294D-47A6-9977-393D7A16A0CC}">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CA" sz="1800" b="1" i="0" kern="1200"/>
            <a:t>Veracity</a:t>
          </a:r>
          <a:r>
            <a:rPr lang="en-CA" sz="1800" b="0" i="0" kern="1200"/>
            <a:t>: The quality and accuracy of the data.</a:t>
          </a:r>
          <a:endParaRPr lang="en-US" sz="1800" kern="1200"/>
        </a:p>
      </dsp:txBody>
      <dsp:txXfrm>
        <a:off x="836323" y="2718736"/>
        <a:ext cx="9679276" cy="724089"/>
      </dsp:txXfrm>
    </dsp:sp>
    <dsp:sp modelId="{70C27C01-79C6-4898-BB19-32D45D201221}">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60F228-3420-44D4-862A-F03702A0FCEA}">
      <dsp:nvSpPr>
        <dsp:cNvPr id="0" name=""/>
        <dsp:cNvSpPr/>
      </dsp:nvSpPr>
      <dsp:spPr>
        <a:xfrm>
          <a:off x="219037" y="3786768"/>
          <a:ext cx="398249" cy="3982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DC867C-8C81-41C1-8334-DF23B42621D7}">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00100">
            <a:lnSpc>
              <a:spcPct val="100000"/>
            </a:lnSpc>
            <a:spcBef>
              <a:spcPct val="0"/>
            </a:spcBef>
            <a:spcAft>
              <a:spcPct val="35000"/>
            </a:spcAft>
            <a:buNone/>
          </a:pPr>
          <a:r>
            <a:rPr lang="en-CA" sz="1800" b="1" i="0" kern="1200"/>
            <a:t>Value</a:t>
          </a:r>
          <a:r>
            <a:rPr lang="en-CA" sz="1800" b="0" i="0" kern="1200"/>
            <a:t>: The usefulness of the data in making decisions.</a:t>
          </a:r>
          <a:endParaRPr lang="en-US" sz="1800" kern="1200"/>
        </a:p>
      </dsp:txBody>
      <dsp:txXfrm>
        <a:off x="836323" y="3623848"/>
        <a:ext cx="9679276" cy="7240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1BB865-9F78-6647-8298-9E92C48DF5DC}">
      <dsp:nvSpPr>
        <dsp:cNvPr id="0" name=""/>
        <dsp:cNvSpPr/>
      </dsp:nvSpPr>
      <dsp:spPr>
        <a:xfrm>
          <a:off x="582645" y="1178"/>
          <a:ext cx="2174490" cy="130469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Hugging Face: Specializes in transformers models for NLP tasks and has expanded to include models for other domains as well.</a:t>
          </a:r>
        </a:p>
      </dsp:txBody>
      <dsp:txXfrm>
        <a:off x="582645" y="1178"/>
        <a:ext cx="2174490" cy="1304694"/>
      </dsp:txXfrm>
    </dsp:sp>
    <dsp:sp modelId="{A12EF793-8CEC-AF42-833C-C2B2EB3297A3}">
      <dsp:nvSpPr>
        <dsp:cNvPr id="0" name=""/>
        <dsp:cNvSpPr/>
      </dsp:nvSpPr>
      <dsp:spPr>
        <a:xfrm>
          <a:off x="2974584" y="1178"/>
          <a:ext cx="2174490" cy="1304694"/>
        </a:xfrm>
        <a:prstGeom prst="rect">
          <a:avLst/>
        </a:prstGeom>
        <a:gradFill rotWithShape="0">
          <a:gsLst>
            <a:gs pos="0">
              <a:schemeClr val="accent2">
                <a:hueOff val="-145536"/>
                <a:satOff val="-8393"/>
                <a:lumOff val="863"/>
                <a:alphaOff val="0"/>
                <a:satMod val="103000"/>
                <a:lumMod val="102000"/>
                <a:tint val="94000"/>
              </a:schemeClr>
            </a:gs>
            <a:gs pos="50000">
              <a:schemeClr val="accent2">
                <a:hueOff val="-145536"/>
                <a:satOff val="-8393"/>
                <a:lumOff val="863"/>
                <a:alphaOff val="0"/>
                <a:satMod val="110000"/>
                <a:lumMod val="100000"/>
                <a:shade val="100000"/>
              </a:schemeClr>
            </a:gs>
            <a:gs pos="100000">
              <a:schemeClr val="accent2">
                <a:hueOff val="-145536"/>
                <a:satOff val="-8393"/>
                <a:lumOff val="86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TensorFlow Hub: Hosts a wide range of TensorFlow models, including those for image classification, object detection, NLP, and more.</a:t>
          </a:r>
        </a:p>
      </dsp:txBody>
      <dsp:txXfrm>
        <a:off x="2974584" y="1178"/>
        <a:ext cx="2174490" cy="1304694"/>
      </dsp:txXfrm>
    </dsp:sp>
    <dsp:sp modelId="{091417FE-FBCF-9641-987C-8116FDDEB04A}">
      <dsp:nvSpPr>
        <dsp:cNvPr id="0" name=""/>
        <dsp:cNvSpPr/>
      </dsp:nvSpPr>
      <dsp:spPr>
        <a:xfrm>
          <a:off x="5366524" y="1178"/>
          <a:ext cx="2174490" cy="1304694"/>
        </a:xfrm>
        <a:prstGeom prst="rect">
          <a:avLst/>
        </a:prstGeom>
        <a:gradFill rotWithShape="0">
          <a:gsLst>
            <a:gs pos="0">
              <a:schemeClr val="accent2">
                <a:hueOff val="-291073"/>
                <a:satOff val="-16786"/>
                <a:lumOff val="1726"/>
                <a:alphaOff val="0"/>
                <a:satMod val="103000"/>
                <a:lumMod val="102000"/>
                <a:tint val="94000"/>
              </a:schemeClr>
            </a:gs>
            <a:gs pos="50000">
              <a:schemeClr val="accent2">
                <a:hueOff val="-291073"/>
                <a:satOff val="-16786"/>
                <a:lumOff val="1726"/>
                <a:alphaOff val="0"/>
                <a:satMod val="110000"/>
                <a:lumMod val="100000"/>
                <a:shade val="100000"/>
              </a:schemeClr>
            </a:gs>
            <a:gs pos="100000">
              <a:schemeClr val="accent2">
                <a:hueOff val="-291073"/>
                <a:satOff val="-16786"/>
                <a:lumOff val="172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PyTorch Hub: A similar repository for PyTorch models, offering a collection of pre-trained models for various machine learning tasks.</a:t>
          </a:r>
        </a:p>
      </dsp:txBody>
      <dsp:txXfrm>
        <a:off x="5366524" y="1178"/>
        <a:ext cx="2174490" cy="1304694"/>
      </dsp:txXfrm>
    </dsp:sp>
    <dsp:sp modelId="{000E98C3-6BC2-3D4C-92BA-B86DC8265524}">
      <dsp:nvSpPr>
        <dsp:cNvPr id="0" name=""/>
        <dsp:cNvSpPr/>
      </dsp:nvSpPr>
      <dsp:spPr>
        <a:xfrm>
          <a:off x="7758464" y="1178"/>
          <a:ext cx="2174490" cy="1304694"/>
        </a:xfrm>
        <a:prstGeom prst="rect">
          <a:avLst/>
        </a:prstGeom>
        <a:gradFill rotWithShape="0">
          <a:gsLst>
            <a:gs pos="0">
              <a:schemeClr val="accent2">
                <a:hueOff val="-436609"/>
                <a:satOff val="-25178"/>
                <a:lumOff val="2588"/>
                <a:alphaOff val="0"/>
                <a:satMod val="103000"/>
                <a:lumMod val="102000"/>
                <a:tint val="94000"/>
              </a:schemeClr>
            </a:gs>
            <a:gs pos="50000">
              <a:schemeClr val="accent2">
                <a:hueOff val="-436609"/>
                <a:satOff val="-25178"/>
                <a:lumOff val="2588"/>
                <a:alphaOff val="0"/>
                <a:satMod val="110000"/>
                <a:lumMod val="100000"/>
                <a:shade val="100000"/>
              </a:schemeClr>
            </a:gs>
            <a:gs pos="100000">
              <a:schemeClr val="accent2">
                <a:hueOff val="-436609"/>
                <a:satOff val="-25178"/>
                <a:lumOff val="258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Model Zoo: Part of various deep learning frameworks, these are collections of pre-trained models. Examples include Caffe Model Zoo, TensorFlow Model Zoo, etc.</a:t>
          </a:r>
        </a:p>
      </dsp:txBody>
      <dsp:txXfrm>
        <a:off x="7758464" y="1178"/>
        <a:ext cx="2174490" cy="1304694"/>
      </dsp:txXfrm>
    </dsp:sp>
    <dsp:sp modelId="{1795AF43-6626-7043-8863-87A83160CFE1}">
      <dsp:nvSpPr>
        <dsp:cNvPr id="0" name=""/>
        <dsp:cNvSpPr/>
      </dsp:nvSpPr>
      <dsp:spPr>
        <a:xfrm>
          <a:off x="582645" y="1523321"/>
          <a:ext cx="2174490" cy="1304694"/>
        </a:xfrm>
        <a:prstGeom prst="rect">
          <a:avLst/>
        </a:prstGeom>
        <a:gradFill rotWithShape="0">
          <a:gsLst>
            <a:gs pos="0">
              <a:schemeClr val="accent2">
                <a:hueOff val="-582145"/>
                <a:satOff val="-33571"/>
                <a:lumOff val="3451"/>
                <a:alphaOff val="0"/>
                <a:satMod val="103000"/>
                <a:lumMod val="102000"/>
                <a:tint val="94000"/>
              </a:schemeClr>
            </a:gs>
            <a:gs pos="50000">
              <a:schemeClr val="accent2">
                <a:hueOff val="-582145"/>
                <a:satOff val="-33571"/>
                <a:lumOff val="3451"/>
                <a:alphaOff val="0"/>
                <a:satMod val="110000"/>
                <a:lumMod val="100000"/>
                <a:shade val="100000"/>
              </a:schemeClr>
            </a:gs>
            <a:gs pos="100000">
              <a:schemeClr val="accent2">
                <a:hueOff val="-582145"/>
                <a:satOff val="-33571"/>
                <a:lumOff val="345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Papers with Code: Offers links to code repositories for machine learning papers, often including pre-trained models.</a:t>
          </a:r>
        </a:p>
      </dsp:txBody>
      <dsp:txXfrm>
        <a:off x="582645" y="1523321"/>
        <a:ext cx="2174490" cy="1304694"/>
      </dsp:txXfrm>
    </dsp:sp>
    <dsp:sp modelId="{CED822D8-BAD6-1C43-9F93-D80A86D45F9F}">
      <dsp:nvSpPr>
        <dsp:cNvPr id="0" name=""/>
        <dsp:cNvSpPr/>
      </dsp:nvSpPr>
      <dsp:spPr>
        <a:xfrm>
          <a:off x="2974584" y="1523321"/>
          <a:ext cx="2174490" cy="1304694"/>
        </a:xfrm>
        <a:prstGeom prst="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GitHub: Many researchers and developers publish their models and code on GitHub, making it a rich source for machine learning models.</a:t>
          </a:r>
        </a:p>
      </dsp:txBody>
      <dsp:txXfrm>
        <a:off x="2974584" y="1523321"/>
        <a:ext cx="2174490" cy="1304694"/>
      </dsp:txXfrm>
    </dsp:sp>
    <dsp:sp modelId="{72532340-6348-8E4B-B17C-5B2C0AA8E546}">
      <dsp:nvSpPr>
        <dsp:cNvPr id="0" name=""/>
        <dsp:cNvSpPr/>
      </dsp:nvSpPr>
      <dsp:spPr>
        <a:xfrm>
          <a:off x="5366524" y="1523321"/>
          <a:ext cx="2174490" cy="1304694"/>
        </a:xfrm>
        <a:prstGeom prst="rect">
          <a:avLst/>
        </a:prstGeom>
        <a:gradFill rotWithShape="0">
          <a:gsLst>
            <a:gs pos="0">
              <a:schemeClr val="accent2">
                <a:hueOff val="-873218"/>
                <a:satOff val="-50357"/>
                <a:lumOff val="5177"/>
                <a:alphaOff val="0"/>
                <a:satMod val="103000"/>
                <a:lumMod val="102000"/>
                <a:tint val="94000"/>
              </a:schemeClr>
            </a:gs>
            <a:gs pos="50000">
              <a:schemeClr val="accent2">
                <a:hueOff val="-873218"/>
                <a:satOff val="-50357"/>
                <a:lumOff val="5177"/>
                <a:alphaOff val="0"/>
                <a:satMod val="110000"/>
                <a:lumMod val="100000"/>
                <a:shade val="100000"/>
              </a:schemeClr>
            </a:gs>
            <a:gs pos="100000">
              <a:schemeClr val="accent2">
                <a:hueOff val="-873218"/>
                <a:satOff val="-50357"/>
                <a:lumOff val="51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Google AI Hub: Provides a platform to host, share, and use machine learning pipelines and models.</a:t>
          </a:r>
        </a:p>
      </dsp:txBody>
      <dsp:txXfrm>
        <a:off x="5366524" y="1523321"/>
        <a:ext cx="2174490" cy="1304694"/>
      </dsp:txXfrm>
    </dsp:sp>
    <dsp:sp modelId="{AE11B30E-E850-594C-9EB0-6D9758B72142}">
      <dsp:nvSpPr>
        <dsp:cNvPr id="0" name=""/>
        <dsp:cNvSpPr/>
      </dsp:nvSpPr>
      <dsp:spPr>
        <a:xfrm>
          <a:off x="7758464" y="1523321"/>
          <a:ext cx="2174490" cy="1304694"/>
        </a:xfrm>
        <a:prstGeom prst="rect">
          <a:avLst/>
        </a:prstGeom>
        <a:gradFill rotWithShape="0">
          <a:gsLst>
            <a:gs pos="0">
              <a:schemeClr val="accent2">
                <a:hueOff val="-1018754"/>
                <a:satOff val="-58750"/>
                <a:lumOff val="6040"/>
                <a:alphaOff val="0"/>
                <a:satMod val="103000"/>
                <a:lumMod val="102000"/>
                <a:tint val="94000"/>
              </a:schemeClr>
            </a:gs>
            <a:gs pos="50000">
              <a:schemeClr val="accent2">
                <a:hueOff val="-1018754"/>
                <a:satOff val="-58750"/>
                <a:lumOff val="6040"/>
                <a:alphaOff val="0"/>
                <a:satMod val="110000"/>
                <a:lumMod val="100000"/>
                <a:shade val="100000"/>
              </a:schemeClr>
            </a:gs>
            <a:gs pos="100000">
              <a:schemeClr val="accent2">
                <a:hueOff val="-1018754"/>
                <a:satOff val="-58750"/>
                <a:lumOff val="604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AWS Marketplace for Machine Learning: Offers a variety of machine learning models and algorithms optimized for AWS.</a:t>
          </a:r>
        </a:p>
      </dsp:txBody>
      <dsp:txXfrm>
        <a:off x="7758464" y="1523321"/>
        <a:ext cx="2174490" cy="1304694"/>
      </dsp:txXfrm>
    </dsp:sp>
    <dsp:sp modelId="{24E129DD-3096-AA4D-B8F7-E87E09037EF6}">
      <dsp:nvSpPr>
        <dsp:cNvPr id="0" name=""/>
        <dsp:cNvSpPr/>
      </dsp:nvSpPr>
      <dsp:spPr>
        <a:xfrm>
          <a:off x="1778615" y="3045465"/>
          <a:ext cx="2174490" cy="1304694"/>
        </a:xfrm>
        <a:prstGeom prst="rect">
          <a:avLst/>
        </a:prstGeom>
        <a:gradFill rotWithShape="0">
          <a:gsLst>
            <a:gs pos="0">
              <a:schemeClr val="accent2">
                <a:hueOff val="-1164290"/>
                <a:satOff val="-67142"/>
                <a:lumOff val="6902"/>
                <a:alphaOff val="0"/>
                <a:satMod val="103000"/>
                <a:lumMod val="102000"/>
                <a:tint val="94000"/>
              </a:schemeClr>
            </a:gs>
            <a:gs pos="50000">
              <a:schemeClr val="accent2">
                <a:hueOff val="-1164290"/>
                <a:satOff val="-67142"/>
                <a:lumOff val="6902"/>
                <a:alphaOff val="0"/>
                <a:satMod val="110000"/>
                <a:lumMod val="100000"/>
                <a:shade val="100000"/>
              </a:schemeClr>
            </a:gs>
            <a:gs pos="100000">
              <a:schemeClr val="accent2">
                <a:hueOff val="-1164290"/>
                <a:satOff val="-67142"/>
                <a:lumOff val="690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ONNX Model Zoo: Hosts pre-trained models in the ONNX (Open Neural Network Exchange) format, which is a format for machine learning models that is framework agnostic.</a:t>
          </a:r>
        </a:p>
      </dsp:txBody>
      <dsp:txXfrm>
        <a:off x="1778615" y="3045465"/>
        <a:ext cx="2174490" cy="1304694"/>
      </dsp:txXfrm>
    </dsp:sp>
    <dsp:sp modelId="{E9C0CA76-3502-DB4C-8499-98DB17F39786}">
      <dsp:nvSpPr>
        <dsp:cNvPr id="0" name=""/>
        <dsp:cNvSpPr/>
      </dsp:nvSpPr>
      <dsp:spPr>
        <a:xfrm>
          <a:off x="4170554" y="3045465"/>
          <a:ext cx="2174490" cy="1304694"/>
        </a:xfrm>
        <a:prstGeom prst="rect">
          <a:avLst/>
        </a:prstGeom>
        <a:gradFill rotWithShape="0">
          <a:gsLst>
            <a:gs pos="0">
              <a:schemeClr val="accent2">
                <a:hueOff val="-1309827"/>
                <a:satOff val="-75535"/>
                <a:lumOff val="7765"/>
                <a:alphaOff val="0"/>
                <a:satMod val="103000"/>
                <a:lumMod val="102000"/>
                <a:tint val="94000"/>
              </a:schemeClr>
            </a:gs>
            <a:gs pos="50000">
              <a:schemeClr val="accent2">
                <a:hueOff val="-1309827"/>
                <a:satOff val="-75535"/>
                <a:lumOff val="7765"/>
                <a:alphaOff val="0"/>
                <a:satMod val="110000"/>
                <a:lumMod val="100000"/>
                <a:shade val="100000"/>
              </a:schemeClr>
            </a:gs>
            <a:gs pos="100000">
              <a:schemeClr val="accent2">
                <a:hueOff val="-1309827"/>
                <a:satOff val="-75535"/>
                <a:lumOff val="7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DeepAI: Offers a variety of APIs and pre-trained models for different AI tasks.</a:t>
          </a:r>
        </a:p>
      </dsp:txBody>
      <dsp:txXfrm>
        <a:off x="4170554" y="3045465"/>
        <a:ext cx="2174490" cy="1304694"/>
      </dsp:txXfrm>
    </dsp:sp>
    <dsp:sp modelId="{4EF48408-3F9C-B548-93D5-00CC4D8A50E3}">
      <dsp:nvSpPr>
        <dsp:cNvPr id="0" name=""/>
        <dsp:cNvSpPr/>
      </dsp:nvSpPr>
      <dsp:spPr>
        <a:xfrm>
          <a:off x="6562494" y="3045465"/>
          <a:ext cx="2174490" cy="1304694"/>
        </a:xfrm>
        <a:prstGeom prst="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Kaggle</a:t>
          </a:r>
        </a:p>
      </dsp:txBody>
      <dsp:txXfrm>
        <a:off x="6562494" y="3045465"/>
        <a:ext cx="2174490" cy="130469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A60D6F-8662-5645-82AA-7083AA92674F}">
      <dsp:nvSpPr>
        <dsp:cNvPr id="0" name=""/>
        <dsp:cNvSpPr/>
      </dsp:nvSpPr>
      <dsp:spPr>
        <a:xfrm>
          <a:off x="0" y="2703"/>
          <a:ext cx="6900512"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A11F43-79DC-EB4B-9FD4-04912519F0E1}">
      <dsp:nvSpPr>
        <dsp:cNvPr id="0" name=""/>
        <dsp:cNvSpPr/>
      </dsp:nvSpPr>
      <dsp:spPr>
        <a:xfrm>
          <a:off x="0" y="2703"/>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CA" sz="2700" kern="1200" dirty="0"/>
            <a:t>Interpretable Machine Learning refers to methods and models that make the predictions understandable.  What are the main predictors, their importance and effect?   </a:t>
          </a:r>
          <a:endParaRPr lang="en-US" sz="2700" kern="1200" dirty="0"/>
        </a:p>
      </dsp:txBody>
      <dsp:txXfrm>
        <a:off x="0" y="2703"/>
        <a:ext cx="6900512" cy="1843578"/>
      </dsp:txXfrm>
    </dsp:sp>
    <dsp:sp modelId="{C7BE8189-6450-A94A-BD40-F9419A6865DA}">
      <dsp:nvSpPr>
        <dsp:cNvPr id="0" name=""/>
        <dsp:cNvSpPr/>
      </dsp:nvSpPr>
      <dsp:spPr>
        <a:xfrm>
          <a:off x="0" y="1846281"/>
          <a:ext cx="6900512"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B651DB-B58B-894C-8B0D-109716E0EBF8}">
      <dsp:nvSpPr>
        <dsp:cNvPr id="0" name=""/>
        <dsp:cNvSpPr/>
      </dsp:nvSpPr>
      <dsp:spPr>
        <a:xfrm>
          <a:off x="0" y="1846281"/>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CA" sz="2700" kern="1200" dirty="0"/>
            <a:t>Interpretation of a predictor is </a:t>
          </a:r>
          <a:r>
            <a:rPr lang="en-CA" sz="2700" b="1" kern="1200" dirty="0"/>
            <a:t>DIFFERENT</a:t>
          </a:r>
          <a:r>
            <a:rPr lang="en-CA" sz="2700" kern="1200" dirty="0"/>
            <a:t> than an explanatory variable .  </a:t>
          </a:r>
        </a:p>
        <a:p>
          <a:pPr marL="0" lvl="0" indent="0" algn="l" defTabSz="1200150">
            <a:lnSpc>
              <a:spcPct val="90000"/>
            </a:lnSpc>
            <a:spcBef>
              <a:spcPct val="0"/>
            </a:spcBef>
            <a:spcAft>
              <a:spcPct val="35000"/>
            </a:spcAft>
            <a:buNone/>
          </a:pPr>
          <a:r>
            <a:rPr lang="en-CA" sz="2700" kern="1200" dirty="0">
              <a:solidFill>
                <a:schemeClr val="accent5"/>
              </a:solidFill>
            </a:rPr>
            <a:t>The ice cream sales - crime rate example</a:t>
          </a:r>
          <a:endParaRPr lang="en-US" sz="2700" kern="1200" dirty="0">
            <a:solidFill>
              <a:schemeClr val="accent5"/>
            </a:solidFill>
          </a:endParaRPr>
        </a:p>
      </dsp:txBody>
      <dsp:txXfrm>
        <a:off x="0" y="1846281"/>
        <a:ext cx="6900512" cy="1843578"/>
      </dsp:txXfrm>
    </dsp:sp>
    <dsp:sp modelId="{55882A7F-E2A4-644C-B0E8-26EA148B9008}">
      <dsp:nvSpPr>
        <dsp:cNvPr id="0" name=""/>
        <dsp:cNvSpPr/>
      </dsp:nvSpPr>
      <dsp:spPr>
        <a:xfrm>
          <a:off x="0" y="3689859"/>
          <a:ext cx="690051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16ABBA-2F83-9F4B-A353-82ED28CDA4E4}">
      <dsp:nvSpPr>
        <dsp:cNvPr id="0" name=""/>
        <dsp:cNvSpPr/>
      </dsp:nvSpPr>
      <dsp:spPr>
        <a:xfrm>
          <a:off x="0" y="3689859"/>
          <a:ext cx="6900512" cy="184357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CA" sz="2700" kern="1200" dirty="0"/>
            <a:t>Interpretation of an unbiased estimator or causal-treatment coefficient is </a:t>
          </a:r>
          <a:r>
            <a:rPr lang="en-CA" sz="2700" b="1" kern="1200" dirty="0"/>
            <a:t>VERY DIFFERENT</a:t>
          </a:r>
          <a:r>
            <a:rPr lang="en-CA" sz="2700" kern="1200" dirty="0"/>
            <a:t> than predictive coefficient if you have one (in a parametric ML model like lasso)! </a:t>
          </a:r>
          <a:endParaRPr lang="en-US" sz="2700" kern="1200" dirty="0"/>
        </a:p>
      </dsp:txBody>
      <dsp:txXfrm>
        <a:off x="0" y="3689859"/>
        <a:ext cx="6900512" cy="184357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4D271E-91FD-4C54-A7F0-FB7007CD8B8F}">
      <dsp:nvSpPr>
        <dsp:cNvPr id="0" name=""/>
        <dsp:cNvSpPr/>
      </dsp:nvSpPr>
      <dsp:spPr>
        <a:xfrm>
          <a:off x="0" y="2983"/>
          <a:ext cx="10515600" cy="14216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26CACD-8829-4455-BC24-EC038210C710}">
      <dsp:nvSpPr>
        <dsp:cNvPr id="0" name=""/>
        <dsp:cNvSpPr/>
      </dsp:nvSpPr>
      <dsp:spPr>
        <a:xfrm>
          <a:off x="430039" y="322847"/>
          <a:ext cx="782653" cy="7818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88BB5C-8A42-4613-B264-A72082B5B651}">
      <dsp:nvSpPr>
        <dsp:cNvPr id="0" name=""/>
        <dsp:cNvSpPr/>
      </dsp:nvSpPr>
      <dsp:spPr>
        <a:xfrm>
          <a:off x="1642732" y="2983"/>
          <a:ext cx="8610639" cy="1423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602" tIns="150602" rIns="150602" bIns="150602" numCol="1" spcCol="1270" anchor="ctr" anchorCtr="0">
          <a:noAutofit/>
        </a:bodyPr>
        <a:lstStyle/>
        <a:p>
          <a:pPr marL="0" lvl="0" indent="0" algn="l" defTabSz="1066800">
            <a:lnSpc>
              <a:spcPct val="100000"/>
            </a:lnSpc>
            <a:spcBef>
              <a:spcPct val="0"/>
            </a:spcBef>
            <a:spcAft>
              <a:spcPct val="35000"/>
            </a:spcAft>
            <a:buNone/>
          </a:pPr>
          <a:r>
            <a:rPr lang="en-CA" sz="2400" b="1" i="0" kern="1200" dirty="0"/>
            <a:t>1. Customer Lifetime Value Modeling: </a:t>
          </a:r>
          <a:r>
            <a:rPr lang="en-CA" sz="2400" b="0" i="0" kern="1200" dirty="0"/>
            <a:t>to identify, understand, and retain the company's most valuable customers, whether that means the biggest spenders, the most loyal advocates of your brand, or both. </a:t>
          </a:r>
          <a:endParaRPr lang="en-US" sz="2400" kern="1200" dirty="0"/>
        </a:p>
      </dsp:txBody>
      <dsp:txXfrm>
        <a:off x="1642732" y="2983"/>
        <a:ext cx="8610639" cy="1423006"/>
      </dsp:txXfrm>
    </dsp:sp>
    <dsp:sp modelId="{0D8375C5-8C90-40F9-A675-E404753AED0A}">
      <dsp:nvSpPr>
        <dsp:cNvPr id="0" name=""/>
        <dsp:cNvSpPr/>
      </dsp:nvSpPr>
      <dsp:spPr>
        <a:xfrm>
          <a:off x="0" y="1697039"/>
          <a:ext cx="10515600" cy="14216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27F210F-53B5-4FF0-850C-1B4373B54991}">
      <dsp:nvSpPr>
        <dsp:cNvPr id="0" name=""/>
        <dsp:cNvSpPr/>
      </dsp:nvSpPr>
      <dsp:spPr>
        <a:xfrm>
          <a:off x="430039" y="2016903"/>
          <a:ext cx="782653" cy="7818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7AA2F4-6CA1-46B1-A190-A93B200B38F7}">
      <dsp:nvSpPr>
        <dsp:cNvPr id="0" name=""/>
        <dsp:cNvSpPr/>
      </dsp:nvSpPr>
      <dsp:spPr>
        <a:xfrm>
          <a:off x="1642732" y="1697039"/>
          <a:ext cx="8610639" cy="1423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602" tIns="150602" rIns="150602" bIns="150602" numCol="1" spcCol="1270" anchor="ctr" anchorCtr="0">
          <a:noAutofit/>
        </a:bodyPr>
        <a:lstStyle/>
        <a:p>
          <a:pPr marL="0" lvl="0" indent="0" algn="l" defTabSz="1066800">
            <a:lnSpc>
              <a:spcPct val="100000"/>
            </a:lnSpc>
            <a:spcBef>
              <a:spcPct val="0"/>
            </a:spcBef>
            <a:spcAft>
              <a:spcPct val="35000"/>
            </a:spcAft>
            <a:buNone/>
          </a:pPr>
          <a:r>
            <a:rPr lang="en-CA" sz="2400" b="1" i="0" kern="1200" dirty="0"/>
            <a:t>2. Churn Modeling: </a:t>
          </a:r>
          <a:r>
            <a:rPr lang="en-CA" sz="2400" b="0" i="0" kern="1200" dirty="0"/>
            <a:t>help you identify which of your customers are likely to stop engaging with your business and why. The results of a churn model can range from churn risk scores for individual customers to drivers of churn ranked by importance. </a:t>
          </a:r>
          <a:endParaRPr lang="en-US" sz="2400" kern="1200" dirty="0"/>
        </a:p>
      </dsp:txBody>
      <dsp:txXfrm>
        <a:off x="1642732" y="1697039"/>
        <a:ext cx="8610639" cy="1423006"/>
      </dsp:txXfrm>
    </dsp:sp>
    <dsp:sp modelId="{DCA848EC-3114-468D-8F3F-03C284B87008}">
      <dsp:nvSpPr>
        <dsp:cNvPr id="0" name=""/>
        <dsp:cNvSpPr/>
      </dsp:nvSpPr>
      <dsp:spPr>
        <a:xfrm>
          <a:off x="0" y="3391095"/>
          <a:ext cx="10515600" cy="14216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9871C7A-86C5-47DE-8C45-E89F530E6DBA}">
      <dsp:nvSpPr>
        <dsp:cNvPr id="0" name=""/>
        <dsp:cNvSpPr/>
      </dsp:nvSpPr>
      <dsp:spPr>
        <a:xfrm>
          <a:off x="430039" y="3710959"/>
          <a:ext cx="782653" cy="7818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80CCEAF-167A-498C-BB83-65F8AB697DAF}">
      <dsp:nvSpPr>
        <dsp:cNvPr id="0" name=""/>
        <dsp:cNvSpPr/>
      </dsp:nvSpPr>
      <dsp:spPr>
        <a:xfrm>
          <a:off x="1642732" y="3391095"/>
          <a:ext cx="8610639" cy="14230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602" tIns="150602" rIns="150602" bIns="150602" numCol="1" spcCol="1270" anchor="ctr" anchorCtr="0">
          <a:noAutofit/>
        </a:bodyPr>
        <a:lstStyle/>
        <a:p>
          <a:pPr marL="0" lvl="0" indent="0" algn="l" defTabSz="1066800">
            <a:lnSpc>
              <a:spcPct val="100000"/>
            </a:lnSpc>
            <a:spcBef>
              <a:spcPct val="0"/>
            </a:spcBef>
            <a:spcAft>
              <a:spcPct val="35000"/>
            </a:spcAft>
            <a:buNone/>
          </a:pPr>
          <a:r>
            <a:rPr lang="en-CA" sz="2400" b="1" i="0" kern="1200" dirty="0"/>
            <a:t>3. Dynamic Pricing: </a:t>
          </a:r>
          <a:r>
            <a:rPr lang="en-CA" sz="2000" b="0" i="0" kern="1200" dirty="0"/>
            <a:t>Dynamic pricing, also known as demand pricing, is the practice of flexibly pricing items based on factors like the level of interest of the target customer, demand at the time of purchase, or whether the customer has engaged with a marketing campaign. </a:t>
          </a:r>
          <a:endParaRPr lang="en-US" sz="2000" kern="1200" dirty="0"/>
        </a:p>
      </dsp:txBody>
      <dsp:txXfrm>
        <a:off x="1642732" y="3391095"/>
        <a:ext cx="8610639" cy="142300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A38DE4-3012-A745-9816-2A5FE0C9DFA7}" type="datetimeFigureOut">
              <a:rPr lang="en-US" smtClean="0"/>
              <a:t>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16DFC-15E7-4542-BF4C-75B00D414856}" type="slidenum">
              <a:rPr lang="en-US" smtClean="0"/>
              <a:t>‹#›</a:t>
            </a:fld>
            <a:endParaRPr lang="en-US"/>
          </a:p>
        </p:txBody>
      </p:sp>
    </p:spTree>
    <p:extLst>
      <p:ext uri="{BB962C8B-B14F-4D97-AF65-F5344CB8AC3E}">
        <p14:creationId xmlns:p14="http://schemas.microsoft.com/office/powerpoint/2010/main" val="1926600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8916DFC-15E7-4542-BF4C-75B00D414856}" type="slidenum">
              <a:rPr lang="en-US" smtClean="0"/>
              <a:t>24</a:t>
            </a:fld>
            <a:endParaRPr lang="en-US"/>
          </a:p>
        </p:txBody>
      </p:sp>
    </p:spTree>
    <p:extLst>
      <p:ext uri="{BB962C8B-B14F-4D97-AF65-F5344CB8AC3E}">
        <p14:creationId xmlns:p14="http://schemas.microsoft.com/office/powerpoint/2010/main" val="7240253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F6A63-19FA-D94E-975D-4B93446A23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4976C2-AA6C-6A46-9240-B9425097E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47D854B-0795-EC4B-86F6-239825345BE0}"/>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5" name="Footer Placeholder 4">
            <a:extLst>
              <a:ext uri="{FF2B5EF4-FFF2-40B4-BE49-F238E27FC236}">
                <a16:creationId xmlns:a16="http://schemas.microsoft.com/office/drawing/2014/main" id="{789CEADD-58DF-0D48-99A4-F8E46B517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3D07DC-61E6-D84C-A9C2-19DB3BC09133}"/>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26245169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7A39F-11C7-0944-B00F-538AA235FE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2D4DBD-233D-EB46-9DE3-0380C64A559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19DA4C-046A-324A-B78B-4165E0158E15}"/>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5" name="Footer Placeholder 4">
            <a:extLst>
              <a:ext uri="{FF2B5EF4-FFF2-40B4-BE49-F238E27FC236}">
                <a16:creationId xmlns:a16="http://schemas.microsoft.com/office/drawing/2014/main" id="{4C281A1D-D767-6241-917F-91B0A95783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B43F3B-4743-3A40-BF70-14AC8ECD445A}"/>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4005484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18703-4223-2A49-ADC1-EE46D04D5E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0352636-CC0B-BE4B-84E8-0D0367C501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2E3350-2EE0-4849-BCFB-212F05A62BD4}"/>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5" name="Footer Placeholder 4">
            <a:extLst>
              <a:ext uri="{FF2B5EF4-FFF2-40B4-BE49-F238E27FC236}">
                <a16:creationId xmlns:a16="http://schemas.microsoft.com/office/drawing/2014/main" id="{CE0ED0E9-19D7-3049-ADA3-2AF37E24F48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7C549A-5B2C-874A-806D-084536CE3517}"/>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192988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01EFA-F879-A04B-B56F-BFCA35C62EB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8066F4-0890-8340-92CE-CAF8BDC49F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4611EA2-38DA-A04C-87F3-BCEA85E1E1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4403E1-6C62-074C-BD60-782574AC34F1}"/>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6" name="Footer Placeholder 5">
            <a:extLst>
              <a:ext uri="{FF2B5EF4-FFF2-40B4-BE49-F238E27FC236}">
                <a16:creationId xmlns:a16="http://schemas.microsoft.com/office/drawing/2014/main" id="{5950DBAE-5B50-104E-9956-C82D188284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31D2BA-4DFD-7447-A44E-1DC0BE269CCD}"/>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290922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69837-8165-3145-9490-3EAAF427260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78F1B8-2C02-AC4E-AE52-7F134904C8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DD6276B-996C-DC45-9592-61EDFE7639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548C73-EB98-3448-914B-F26628310B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8654A4-7C87-744A-8850-50C3ED4B26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315426-0D7E-5D4D-A388-E5551EC57CBE}"/>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8" name="Footer Placeholder 7">
            <a:extLst>
              <a:ext uri="{FF2B5EF4-FFF2-40B4-BE49-F238E27FC236}">
                <a16:creationId xmlns:a16="http://schemas.microsoft.com/office/drawing/2014/main" id="{5C22CBCE-89B4-0242-9AC3-2DF568D0EC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2FB50B3-70C8-4F4E-9651-2D08F30168E4}"/>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760901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D5BE2-F417-5748-AD40-1FE14E358F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AE3EE76-C806-0A42-B84A-5663DA36FD78}"/>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4" name="Footer Placeholder 3">
            <a:extLst>
              <a:ext uri="{FF2B5EF4-FFF2-40B4-BE49-F238E27FC236}">
                <a16:creationId xmlns:a16="http://schemas.microsoft.com/office/drawing/2014/main" id="{45587A32-F80A-A547-BD88-D47CC09E8AE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17E7D84-D279-C64E-8A55-4DEF399BC44F}"/>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1326778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501894-FDD1-EC44-8290-C83D6068F2D1}"/>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3" name="Footer Placeholder 2">
            <a:extLst>
              <a:ext uri="{FF2B5EF4-FFF2-40B4-BE49-F238E27FC236}">
                <a16:creationId xmlns:a16="http://schemas.microsoft.com/office/drawing/2014/main" id="{9E8FE158-D0FF-A94F-A268-A14CAA1120B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C7A24B3-3E6D-994F-B6E2-5C49D1C4E9F5}"/>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787814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86C68-784F-E346-B988-482ABF76E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23A01E-E101-1445-BAE7-C541AB29EE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8AA6D90-CFA8-7946-8FC8-1069724D74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50821A-7683-AF4C-9266-33C08FCCDEC3}"/>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6" name="Footer Placeholder 5">
            <a:extLst>
              <a:ext uri="{FF2B5EF4-FFF2-40B4-BE49-F238E27FC236}">
                <a16:creationId xmlns:a16="http://schemas.microsoft.com/office/drawing/2014/main" id="{F10B6384-D6EC-DC40-B208-2C1DE4899D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7AE5F7-A17C-D74C-88F0-DB7350246EF6}"/>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4146384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DB14B-E445-A948-A636-5253D569D2E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5A81DE-BA30-CD47-9E12-9AA5718F6B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323231-4621-B848-B3C9-3F35E753FA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EF18B4-D75C-B843-8A12-7EAF5D8094A7}"/>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6" name="Footer Placeholder 5">
            <a:extLst>
              <a:ext uri="{FF2B5EF4-FFF2-40B4-BE49-F238E27FC236}">
                <a16:creationId xmlns:a16="http://schemas.microsoft.com/office/drawing/2014/main" id="{DED4A4AE-F208-9741-885E-D21DEAAE59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00E9AF-1EFA-4A40-A0DD-7527E1BD2E05}"/>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3997708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89B5F-438E-C042-8F7A-45C19C59642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27680A-7705-BA40-9644-F14B65ABD7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8458C9-2CCD-9341-B20F-E478AF3E7901}"/>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5" name="Footer Placeholder 4">
            <a:extLst>
              <a:ext uri="{FF2B5EF4-FFF2-40B4-BE49-F238E27FC236}">
                <a16:creationId xmlns:a16="http://schemas.microsoft.com/office/drawing/2014/main" id="{561AA315-AC07-A64D-BB8C-C027249651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90FFB-6477-4441-A1C6-287468017E5C}"/>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4147885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22E9EC-6FC3-EB41-BBD5-FFF4D5A219B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D608975-1EDB-8B41-A388-7B33B205DB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A3D048-162D-2649-8221-13C8B0730E0D}"/>
              </a:ext>
            </a:extLst>
          </p:cNvPr>
          <p:cNvSpPr>
            <a:spLocks noGrp="1"/>
          </p:cNvSpPr>
          <p:nvPr>
            <p:ph type="dt" sz="half" idx="10"/>
          </p:nvPr>
        </p:nvSpPr>
        <p:spPr/>
        <p:txBody>
          <a:bodyPr/>
          <a:lstStyle/>
          <a:p>
            <a:fld id="{50B90569-EB1A-344E-B708-455F362A9EE6}" type="datetimeFigureOut">
              <a:rPr lang="en-US" smtClean="0"/>
              <a:t>1/14/25</a:t>
            </a:fld>
            <a:endParaRPr lang="en-US"/>
          </a:p>
        </p:txBody>
      </p:sp>
      <p:sp>
        <p:nvSpPr>
          <p:cNvPr id="5" name="Footer Placeholder 4">
            <a:extLst>
              <a:ext uri="{FF2B5EF4-FFF2-40B4-BE49-F238E27FC236}">
                <a16:creationId xmlns:a16="http://schemas.microsoft.com/office/drawing/2014/main" id="{06355DE2-49D4-0340-8EE1-3DDB3F0AE3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47ECE2-5FB4-9D43-B021-2986E387ED56}"/>
              </a:ext>
            </a:extLst>
          </p:cNvPr>
          <p:cNvSpPr>
            <a:spLocks noGrp="1"/>
          </p:cNvSpPr>
          <p:nvPr>
            <p:ph type="sldNum" sz="quarter" idx="12"/>
          </p:nvPr>
        </p:nvSpPr>
        <p:spPr/>
        <p:txBody>
          <a:bodyPr/>
          <a:lstStyle/>
          <a:p>
            <a:fld id="{67EB850D-0627-2444-84A1-AD2EC1919A28}" type="slidenum">
              <a:rPr lang="en-US" smtClean="0"/>
              <a:t>‹#›</a:t>
            </a:fld>
            <a:endParaRPr lang="en-US"/>
          </a:p>
        </p:txBody>
      </p:sp>
    </p:spTree>
    <p:extLst>
      <p:ext uri="{BB962C8B-B14F-4D97-AF65-F5344CB8AC3E}">
        <p14:creationId xmlns:p14="http://schemas.microsoft.com/office/powerpoint/2010/main" val="41179288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354C3F-4166-E849-B1BE-4B82C2960E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25C27F-7381-AF40-B514-117ACE26426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916C3E-97D9-E440-9A42-33450B370F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0B90569-EB1A-344E-B708-455F362A9EE6}" type="datetimeFigureOut">
              <a:rPr lang="en-US" smtClean="0"/>
              <a:t>1/14/25</a:t>
            </a:fld>
            <a:endParaRPr lang="en-US"/>
          </a:p>
        </p:txBody>
      </p:sp>
      <p:sp>
        <p:nvSpPr>
          <p:cNvPr id="5" name="Footer Placeholder 4">
            <a:extLst>
              <a:ext uri="{FF2B5EF4-FFF2-40B4-BE49-F238E27FC236}">
                <a16:creationId xmlns:a16="http://schemas.microsoft.com/office/drawing/2014/main" id="{48E639FF-171D-6C43-80EE-7B86A0EF5A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AA7014F-9058-9C4C-A9F5-4BCB895AFD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EB850D-0627-2444-84A1-AD2EC1919A28}" type="slidenum">
              <a:rPr lang="en-US" smtClean="0"/>
              <a:t>‹#›</a:t>
            </a:fld>
            <a:endParaRPr lang="en-US"/>
          </a:p>
        </p:txBody>
      </p:sp>
    </p:spTree>
    <p:extLst>
      <p:ext uri="{BB962C8B-B14F-4D97-AF65-F5344CB8AC3E}">
        <p14:creationId xmlns:p14="http://schemas.microsoft.com/office/powerpoint/2010/main" val="183451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coursera.org/learn/machine-learn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tylervigen.com/spurious-correlations"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mitpress.mit.edu/books/introduction-machine-learning-third-editio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hyperlink" Target="https://cloud.google.com/products/ai" TargetMode="External"/><Relationship Id="rId3" Type="http://schemas.openxmlformats.org/officeDocument/2006/relationships/hyperlink" Target="https://www.edx.org/course/machine-learning" TargetMode="External"/><Relationship Id="rId7" Type="http://schemas.openxmlformats.org/officeDocument/2006/relationships/hyperlink" Target="https://aws.amazon.com/machine-learning/" TargetMode="External"/><Relationship Id="rId2" Type="http://schemas.openxmlformats.org/officeDocument/2006/relationships/hyperlink" Target="https://learn.stanford.edu/PPC-SCH-CompSci.html?utm_source=google&amp;utm_medium=ppc&amp;utm_term=computerscience&amp;utm_campaign=CS&amp;_vsrefdom=Adwords-Other&amp;gclid=Cj0KCQiAkNiMBhCxARIsAIDDKNWmyOZHAMIoA226ENoQJverpY3pDCMaq6vt5wI1Lj-wVYUn5kWev9EaAlqDEALw_wcB" TargetMode="External"/><Relationship Id="rId1" Type="http://schemas.openxmlformats.org/officeDocument/2006/relationships/slideLayout" Target="../slideLayouts/slideLayout2.xml"/><Relationship Id="rId6" Type="http://schemas.openxmlformats.org/officeDocument/2006/relationships/hyperlink" Target="https://youtu.be/ynrygvcYeFc" TargetMode="External"/><Relationship Id="rId5" Type="http://schemas.openxmlformats.org/officeDocument/2006/relationships/hyperlink" Target="https://sites.google.com/view/mlportal/home" TargetMode="External"/><Relationship Id="rId10" Type="http://schemas.openxmlformats.org/officeDocument/2006/relationships/hyperlink" Target="https://www.g2.com/products/h2o/competitors/alternatives" TargetMode="External"/><Relationship Id="rId4" Type="http://schemas.openxmlformats.org/officeDocument/2006/relationships/hyperlink" Target="https://raw.githack.com/yaydede/Teaching/main/MLPoster.pdf" TargetMode="External"/><Relationship Id="rId9" Type="http://schemas.openxmlformats.org/officeDocument/2006/relationships/hyperlink" Target="https://www.ibm.com/cloud/ai" TargetMode="Externa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3.xml.rels><?xml version="1.0" encoding="UTF-8" standalone="yes"?>
<Relationships xmlns="http://schemas.openxmlformats.org/package/2006/relationships"><Relationship Id="rId3" Type="http://schemas.openxmlformats.org/officeDocument/2006/relationships/hyperlink" Target="https://www.datascience.com/resources/video/data-science-building-a-recommendation-engine-machine-learning" TargetMode="External"/><Relationship Id="rId2" Type="http://schemas.openxmlformats.org/officeDocument/2006/relationships/hyperlink" Target="https://www.datascience.com/resources/white-papers/introduction-to-recommendation-engines-for-business"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47766EE-4192-4B2D-A5A0-F60F9A5F7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4" descr="Abstract background of data">
            <a:extLst>
              <a:ext uri="{FF2B5EF4-FFF2-40B4-BE49-F238E27FC236}">
                <a16:creationId xmlns:a16="http://schemas.microsoft.com/office/drawing/2014/main" id="{C9E41052-DAAF-4D84-890A-C111ED8E935A}"/>
              </a:ext>
            </a:extLst>
          </p:cNvPr>
          <p:cNvPicPr>
            <a:picLocks noChangeAspect="1"/>
          </p:cNvPicPr>
          <p:nvPr/>
        </p:nvPicPr>
        <p:blipFill rotWithShape="1">
          <a:blip r:embed="rId2"/>
          <a:srcRect/>
          <a:stretch/>
        </p:blipFill>
        <p:spPr>
          <a:xfrm>
            <a:off x="20" y="1"/>
            <a:ext cx="12191980" cy="6857999"/>
          </a:xfrm>
          <a:prstGeom prst="rect">
            <a:avLst/>
          </a:prstGeom>
        </p:spPr>
      </p:pic>
      <p:sp>
        <p:nvSpPr>
          <p:cNvPr id="21" name="Graphic 1">
            <a:extLst>
              <a:ext uri="{FF2B5EF4-FFF2-40B4-BE49-F238E27FC236}">
                <a16:creationId xmlns:a16="http://schemas.microsoft.com/office/drawing/2014/main" id="{D6705569-F545-4F47-A260-A9202826E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2" name="Title 1">
            <a:extLst>
              <a:ext uri="{FF2B5EF4-FFF2-40B4-BE49-F238E27FC236}">
                <a16:creationId xmlns:a16="http://schemas.microsoft.com/office/drawing/2014/main" id="{7D16C4C5-AAC1-944F-B17E-6E65E4125990}"/>
              </a:ext>
            </a:extLst>
          </p:cNvPr>
          <p:cNvSpPr>
            <a:spLocks noGrp="1"/>
          </p:cNvSpPr>
          <p:nvPr>
            <p:ph type="ctrTitle"/>
          </p:nvPr>
        </p:nvSpPr>
        <p:spPr>
          <a:xfrm>
            <a:off x="3325473" y="1924619"/>
            <a:ext cx="5541054" cy="1655378"/>
          </a:xfrm>
        </p:spPr>
        <p:txBody>
          <a:bodyPr>
            <a:normAutofit/>
          </a:bodyPr>
          <a:lstStyle/>
          <a:p>
            <a:r>
              <a:rPr lang="en-US" sz="4800" b="1" dirty="0"/>
              <a:t>Machine Learning &amp; AI</a:t>
            </a:r>
          </a:p>
        </p:txBody>
      </p:sp>
      <p:sp>
        <p:nvSpPr>
          <p:cNvPr id="3" name="Subtitle 2">
            <a:extLst>
              <a:ext uri="{FF2B5EF4-FFF2-40B4-BE49-F238E27FC236}">
                <a16:creationId xmlns:a16="http://schemas.microsoft.com/office/drawing/2014/main" id="{F17A4206-55CD-AC44-9307-8F7BD1F815E7}"/>
              </a:ext>
            </a:extLst>
          </p:cNvPr>
          <p:cNvSpPr>
            <a:spLocks noGrp="1"/>
          </p:cNvSpPr>
          <p:nvPr>
            <p:ph type="subTitle" idx="1"/>
          </p:nvPr>
        </p:nvSpPr>
        <p:spPr>
          <a:xfrm>
            <a:off x="3880419" y="3668285"/>
            <a:ext cx="4431162" cy="1337967"/>
          </a:xfrm>
        </p:spPr>
        <p:txBody>
          <a:bodyPr>
            <a:normAutofit/>
          </a:bodyPr>
          <a:lstStyle/>
          <a:p>
            <a:r>
              <a:rPr lang="en-US" dirty="0"/>
              <a:t>Yigit Aydede – SMU</a:t>
            </a:r>
          </a:p>
          <a:p>
            <a:r>
              <a:rPr lang="en-US"/>
              <a:t>Winter 2025</a:t>
            </a:r>
            <a:endParaRPr lang="en-US" dirty="0"/>
          </a:p>
        </p:txBody>
      </p:sp>
    </p:spTree>
    <p:extLst>
      <p:ext uri="{BB962C8B-B14F-4D97-AF65-F5344CB8AC3E}">
        <p14:creationId xmlns:p14="http://schemas.microsoft.com/office/powerpoint/2010/main" val="249156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EDA89B-DB70-4F4D-9EF9-E24CEAED0EA2}"/>
              </a:ext>
            </a:extLst>
          </p:cNvPr>
          <p:cNvSpPr>
            <a:spLocks noGrp="1"/>
          </p:cNvSpPr>
          <p:nvPr>
            <p:ph type="title"/>
          </p:nvPr>
        </p:nvSpPr>
        <p:spPr>
          <a:xfrm>
            <a:off x="838201" y="365125"/>
            <a:ext cx="5251316" cy="1807305"/>
          </a:xfrm>
        </p:spPr>
        <p:txBody>
          <a:bodyPr>
            <a:normAutofit/>
          </a:bodyPr>
          <a:lstStyle/>
          <a:p>
            <a:r>
              <a:rPr lang="en-US" b="1" dirty="0"/>
              <a:t>Hard to find a good definition…</a:t>
            </a:r>
          </a:p>
        </p:txBody>
      </p:sp>
      <p:sp>
        <p:nvSpPr>
          <p:cNvPr id="3" name="Content Placeholder 2">
            <a:extLst>
              <a:ext uri="{FF2B5EF4-FFF2-40B4-BE49-F238E27FC236}">
                <a16:creationId xmlns:a16="http://schemas.microsoft.com/office/drawing/2014/main" id="{8FC5C2B9-2828-864B-A514-D9734C5F5C2F}"/>
              </a:ext>
            </a:extLst>
          </p:cNvPr>
          <p:cNvSpPr>
            <a:spLocks noGrp="1"/>
          </p:cNvSpPr>
          <p:nvPr>
            <p:ph idx="1"/>
          </p:nvPr>
        </p:nvSpPr>
        <p:spPr>
          <a:xfrm>
            <a:off x="838200" y="2333297"/>
            <a:ext cx="4619621" cy="3843666"/>
          </a:xfrm>
        </p:spPr>
        <p:txBody>
          <a:bodyPr>
            <a:normAutofit/>
          </a:bodyPr>
          <a:lstStyle/>
          <a:p>
            <a:r>
              <a:rPr lang="en-CA" sz="1900" dirty="0"/>
              <a:t>It is hard finding a good description for a field where the level of interest is jaw-dropping.</a:t>
            </a:r>
          </a:p>
          <a:p>
            <a:r>
              <a:rPr lang="en-CA" sz="1900" dirty="0"/>
              <a:t>As of today, </a:t>
            </a:r>
            <a:r>
              <a:rPr lang="en-CA" sz="1900" b="1" dirty="0"/>
              <a:t>7,496,227</a:t>
            </a:r>
            <a:r>
              <a:rPr lang="en-CA" sz="1900" dirty="0"/>
              <a:t> already enrolled in the Machine Learning course offered online at </a:t>
            </a:r>
            <a:r>
              <a:rPr lang="en-CA" sz="1900" dirty="0">
                <a:hlinkClick r:id="rId2"/>
              </a:rPr>
              <a:t>Coursera</a:t>
            </a:r>
            <a:r>
              <a:rPr lang="en-CA" sz="1900" dirty="0"/>
              <a:t> </a:t>
            </a:r>
          </a:p>
          <a:p>
            <a:r>
              <a:rPr lang="en-CA" sz="1900" dirty="0"/>
              <a:t>Even finding a good definition for Machine Learning has become a subtle job as “machine learning” seems increasingly an overloaded term implying that a robot-like machine predicts the things by learning itself without being explicitly programmed. </a:t>
            </a:r>
          </a:p>
          <a:p>
            <a:endParaRPr lang="en-US" sz="1900" dirty="0"/>
          </a:p>
        </p:txBody>
      </p:sp>
      <p:pic>
        <p:nvPicPr>
          <p:cNvPr id="5" name="Picture 4" descr="Abstract background of data">
            <a:extLst>
              <a:ext uri="{FF2B5EF4-FFF2-40B4-BE49-F238E27FC236}">
                <a16:creationId xmlns:a16="http://schemas.microsoft.com/office/drawing/2014/main" id="{65A0026E-E770-D10E-8FE8-DE4562CC2D5B}"/>
              </a:ext>
            </a:extLst>
          </p:cNvPr>
          <p:cNvPicPr>
            <a:picLocks noChangeAspect="1"/>
          </p:cNvPicPr>
          <p:nvPr/>
        </p:nvPicPr>
        <p:blipFill rotWithShape="1">
          <a:blip r:embed="rId3"/>
          <a:srcRect l="21337" r="29756"/>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293988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E0A1D7-4111-091F-C671-9B294FDF9124}"/>
              </a:ext>
            </a:extLst>
          </p:cNvPr>
          <p:cNvSpPr>
            <a:spLocks noGrp="1"/>
          </p:cNvSpPr>
          <p:nvPr>
            <p:ph type="title"/>
          </p:nvPr>
        </p:nvSpPr>
        <p:spPr>
          <a:xfrm>
            <a:off x="1171074" y="1396686"/>
            <a:ext cx="3240506" cy="4064628"/>
          </a:xfrm>
        </p:spPr>
        <p:txBody>
          <a:bodyPr>
            <a:normAutofit/>
          </a:bodyPr>
          <a:lstStyle/>
          <a:p>
            <a:r>
              <a:rPr lang="en-US">
                <a:solidFill>
                  <a:srgbClr val="FFFFFF"/>
                </a:solidFill>
              </a:rPr>
              <a:t>Simple Definition</a:t>
            </a:r>
          </a:p>
        </p:txBody>
      </p:sp>
      <p:sp>
        <p:nvSpPr>
          <p:cNvPr id="12" name="Arc 11">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4516DE6-B8CA-B2A5-0AB0-E69D7D4E4633}"/>
              </a:ext>
            </a:extLst>
          </p:cNvPr>
          <p:cNvSpPr>
            <a:spLocks noGrp="1"/>
          </p:cNvSpPr>
          <p:nvPr>
            <p:ph idx="1"/>
          </p:nvPr>
        </p:nvSpPr>
        <p:spPr>
          <a:xfrm>
            <a:off x="5370153" y="1526033"/>
            <a:ext cx="5536397" cy="3935281"/>
          </a:xfrm>
        </p:spPr>
        <p:txBody>
          <a:bodyPr>
            <a:normAutofit fontScale="92500"/>
          </a:bodyPr>
          <a:lstStyle/>
          <a:p>
            <a:pPr marL="0" indent="0">
              <a:buNone/>
            </a:pPr>
            <a:r>
              <a:rPr lang="en-US" sz="3600" dirty="0"/>
              <a:t>Machine Learning is an </a:t>
            </a:r>
            <a:r>
              <a:rPr lang="en-US" sz="3600" b="1" dirty="0"/>
              <a:t>interdisciplinary science </a:t>
            </a:r>
            <a:r>
              <a:rPr lang="en-US" sz="3600" dirty="0"/>
              <a:t>that focuses on the development of algorithms and statistical models that enable computers to improve their performance on a specific task through experience. </a:t>
            </a:r>
          </a:p>
        </p:txBody>
      </p:sp>
    </p:spTree>
    <p:extLst>
      <p:ext uri="{BB962C8B-B14F-4D97-AF65-F5344CB8AC3E}">
        <p14:creationId xmlns:p14="http://schemas.microsoft.com/office/powerpoint/2010/main" val="7254506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DE527-EE06-CE40-86A2-5FC6F930DFDA}"/>
              </a:ext>
            </a:extLst>
          </p:cNvPr>
          <p:cNvSpPr>
            <a:spLocks noGrp="1"/>
          </p:cNvSpPr>
          <p:nvPr>
            <p:ph type="title"/>
          </p:nvPr>
        </p:nvSpPr>
        <p:spPr/>
        <p:txBody>
          <a:bodyPr>
            <a:normAutofit/>
          </a:bodyPr>
          <a:lstStyle/>
          <a:p>
            <a:r>
              <a:rPr lang="en-US" sz="6600" b="1" dirty="0"/>
              <a:t>What does it do?</a:t>
            </a:r>
          </a:p>
        </p:txBody>
      </p:sp>
      <p:sp>
        <p:nvSpPr>
          <p:cNvPr id="3" name="Content Placeholder 2">
            <a:extLst>
              <a:ext uri="{FF2B5EF4-FFF2-40B4-BE49-F238E27FC236}">
                <a16:creationId xmlns:a16="http://schemas.microsoft.com/office/drawing/2014/main" id="{E7C42379-42A3-444B-B78A-FB0E29106964}"/>
              </a:ext>
            </a:extLst>
          </p:cNvPr>
          <p:cNvSpPr>
            <a:spLocks noGrp="1"/>
          </p:cNvSpPr>
          <p:nvPr>
            <p:ph idx="1"/>
          </p:nvPr>
        </p:nvSpPr>
        <p:spPr/>
        <p:txBody>
          <a:bodyPr>
            <a:normAutofit/>
          </a:bodyPr>
          <a:lstStyle/>
          <a:p>
            <a:r>
              <a:rPr lang="en-US" sz="4400" dirty="0"/>
              <a:t>Prediction …</a:t>
            </a:r>
          </a:p>
          <a:p>
            <a:r>
              <a:rPr lang="en-US" sz="4400" dirty="0"/>
              <a:t>And helps identify the important predictors.</a:t>
            </a:r>
          </a:p>
          <a:p>
            <a:r>
              <a:rPr lang="en-US" sz="4400" dirty="0"/>
              <a:t>But it does not yield a </a:t>
            </a:r>
            <a:r>
              <a:rPr lang="en-US" sz="4400" dirty="0">
                <a:solidFill>
                  <a:srgbClr val="FF0000"/>
                </a:solidFill>
              </a:rPr>
              <a:t>causal interpretation</a:t>
            </a:r>
          </a:p>
          <a:p>
            <a:pPr marL="0" indent="0" algn="ctr">
              <a:buNone/>
            </a:pPr>
            <a:r>
              <a:rPr lang="en-US" sz="4400" dirty="0">
                <a:solidFill>
                  <a:schemeClr val="accent1"/>
                </a:solidFill>
              </a:rPr>
              <a:t>Ice cream sales are good predictors for local crime rates (true!), but it doesn’t cause the crime</a:t>
            </a:r>
            <a:r>
              <a:rPr lang="en-US" sz="4400" dirty="0">
                <a:solidFill>
                  <a:schemeClr val="accent1"/>
                </a:solidFill>
                <a:sym typeface="Wingdings" pitchFamily="2" charset="2"/>
              </a:rPr>
              <a:t></a:t>
            </a:r>
          </a:p>
        </p:txBody>
      </p:sp>
      <p:sp>
        <p:nvSpPr>
          <p:cNvPr id="4" name="TextBox 3">
            <a:extLst>
              <a:ext uri="{FF2B5EF4-FFF2-40B4-BE49-F238E27FC236}">
                <a16:creationId xmlns:a16="http://schemas.microsoft.com/office/drawing/2014/main" id="{5FE8C4A5-BB41-4449-B2B9-D4A0E6F9E4B9}"/>
              </a:ext>
            </a:extLst>
          </p:cNvPr>
          <p:cNvSpPr txBox="1"/>
          <p:nvPr/>
        </p:nvSpPr>
        <p:spPr>
          <a:xfrm>
            <a:off x="1152144" y="6123543"/>
            <a:ext cx="7179145" cy="369332"/>
          </a:xfrm>
          <a:prstGeom prst="rect">
            <a:avLst/>
          </a:prstGeom>
          <a:noFill/>
        </p:spPr>
        <p:txBody>
          <a:bodyPr wrap="none" rtlCol="0">
            <a:spAutoFit/>
          </a:bodyPr>
          <a:lstStyle/>
          <a:p>
            <a:r>
              <a:rPr lang="en-US" dirty="0"/>
              <a:t>See </a:t>
            </a:r>
            <a:r>
              <a:rPr lang="en-US" dirty="0">
                <a:hlinkClick r:id="rId2"/>
              </a:rPr>
              <a:t>http://tylervigen.com/spurious-correlations</a:t>
            </a:r>
            <a:r>
              <a:rPr lang="en-US" dirty="0"/>
              <a:t>, but all useful predictors! </a:t>
            </a:r>
          </a:p>
        </p:txBody>
      </p:sp>
    </p:spTree>
    <p:extLst>
      <p:ext uri="{BB962C8B-B14F-4D97-AF65-F5344CB8AC3E}">
        <p14:creationId xmlns:p14="http://schemas.microsoft.com/office/powerpoint/2010/main" val="3892691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B378D-66A0-ED40-931F-5E204AA6DD3E}"/>
              </a:ext>
            </a:extLst>
          </p:cNvPr>
          <p:cNvSpPr>
            <a:spLocks noGrp="1"/>
          </p:cNvSpPr>
          <p:nvPr>
            <p:ph type="title"/>
          </p:nvPr>
        </p:nvSpPr>
        <p:spPr>
          <a:xfrm>
            <a:off x="838200" y="378610"/>
            <a:ext cx="10515600" cy="1325563"/>
          </a:xfrm>
        </p:spPr>
        <p:txBody>
          <a:bodyPr/>
          <a:lstStyle/>
          <a:p>
            <a:r>
              <a:rPr lang="en-US" b="1" dirty="0"/>
              <a:t>Not new ... But,</a:t>
            </a:r>
          </a:p>
        </p:txBody>
      </p:sp>
      <p:sp>
        <p:nvSpPr>
          <p:cNvPr id="3" name="Content Placeholder 2">
            <a:extLst>
              <a:ext uri="{FF2B5EF4-FFF2-40B4-BE49-F238E27FC236}">
                <a16:creationId xmlns:a16="http://schemas.microsoft.com/office/drawing/2014/main" id="{5F91FCA5-D60E-1849-8FDD-BE88D3593AA8}"/>
              </a:ext>
            </a:extLst>
          </p:cNvPr>
          <p:cNvSpPr>
            <a:spLocks noGrp="1"/>
          </p:cNvSpPr>
          <p:nvPr>
            <p:ph idx="1"/>
          </p:nvPr>
        </p:nvSpPr>
        <p:spPr/>
        <p:txBody>
          <a:bodyPr/>
          <a:lstStyle/>
          <a:p>
            <a:pPr marL="0" indent="0">
              <a:buNone/>
            </a:pPr>
            <a:endParaRPr lang="en-US" dirty="0"/>
          </a:p>
          <a:p>
            <a:endParaRPr lang="en-US" dirty="0"/>
          </a:p>
        </p:txBody>
      </p:sp>
      <p:pic>
        <p:nvPicPr>
          <p:cNvPr id="5" name="Picture 4" descr="Timeline&#10;&#10;Description automatically generated">
            <a:extLst>
              <a:ext uri="{FF2B5EF4-FFF2-40B4-BE49-F238E27FC236}">
                <a16:creationId xmlns:a16="http://schemas.microsoft.com/office/drawing/2014/main" id="{CF6BA49C-E66A-D840-8B5D-B130428B47EA}"/>
              </a:ext>
            </a:extLst>
          </p:cNvPr>
          <p:cNvPicPr>
            <a:picLocks noChangeAspect="1"/>
          </p:cNvPicPr>
          <p:nvPr/>
        </p:nvPicPr>
        <p:blipFill>
          <a:blip r:embed="rId2"/>
          <a:stretch>
            <a:fillRect/>
          </a:stretch>
        </p:blipFill>
        <p:spPr>
          <a:xfrm>
            <a:off x="838200" y="1650937"/>
            <a:ext cx="7711747" cy="4351338"/>
          </a:xfrm>
          <a:prstGeom prst="rect">
            <a:avLst/>
          </a:prstGeom>
        </p:spPr>
      </p:pic>
      <p:sp>
        <p:nvSpPr>
          <p:cNvPr id="6" name="TextBox 5">
            <a:extLst>
              <a:ext uri="{FF2B5EF4-FFF2-40B4-BE49-F238E27FC236}">
                <a16:creationId xmlns:a16="http://schemas.microsoft.com/office/drawing/2014/main" id="{B2B18E1C-DF50-EE43-A160-3AC5A30845F4}"/>
              </a:ext>
            </a:extLst>
          </p:cNvPr>
          <p:cNvSpPr txBox="1"/>
          <p:nvPr/>
        </p:nvSpPr>
        <p:spPr>
          <a:xfrm>
            <a:off x="8945245" y="1933780"/>
            <a:ext cx="2615184" cy="3785652"/>
          </a:xfrm>
          <a:prstGeom prst="rect">
            <a:avLst/>
          </a:prstGeom>
          <a:noFill/>
        </p:spPr>
        <p:txBody>
          <a:bodyPr wrap="square" rtlCol="0">
            <a:spAutoFit/>
          </a:bodyPr>
          <a:lstStyle/>
          <a:p>
            <a:r>
              <a:rPr lang="en-CA" sz="2400" dirty="0"/>
              <a:t>Machine Learning is not a monolithic concept but a collection or tools and techniques which have their own separate origins throughout the past 70 years or more. </a:t>
            </a:r>
            <a:endParaRPr lang="en-US" sz="2400" dirty="0"/>
          </a:p>
        </p:txBody>
      </p:sp>
    </p:spTree>
    <p:extLst>
      <p:ext uri="{BB962C8B-B14F-4D97-AF65-F5344CB8AC3E}">
        <p14:creationId xmlns:p14="http://schemas.microsoft.com/office/powerpoint/2010/main" val="3279964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29917F3-0560-4C6F-B265-458B218C4B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1CDE206-D8E4-B846-9A62-6A08D85C3692}"/>
              </a:ext>
            </a:extLst>
          </p:cNvPr>
          <p:cNvSpPr>
            <a:spLocks noGrp="1"/>
          </p:cNvSpPr>
          <p:nvPr>
            <p:ph type="title"/>
          </p:nvPr>
        </p:nvSpPr>
        <p:spPr>
          <a:xfrm>
            <a:off x="1271588" y="662400"/>
            <a:ext cx="10055721" cy="1325563"/>
          </a:xfrm>
        </p:spPr>
        <p:txBody>
          <a:bodyPr anchor="t">
            <a:normAutofit/>
          </a:bodyPr>
          <a:lstStyle/>
          <a:p>
            <a:r>
              <a:rPr lang="en-US" sz="3400" b="1"/>
              <a:t>Let’s try…</a:t>
            </a:r>
            <a:br>
              <a:rPr lang="en-US" sz="3400"/>
            </a:br>
            <a:r>
              <a:rPr lang="en-US" sz="3400"/>
              <a:t>(from </a:t>
            </a:r>
            <a:r>
              <a:rPr lang="en-US" sz="3400">
                <a:hlinkClick r:id="rId2"/>
              </a:rPr>
              <a:t>Introduction of Machine Learning</a:t>
            </a:r>
            <a:r>
              <a:rPr lang="en-US" sz="3400"/>
              <a:t> – MIT Press)</a:t>
            </a:r>
          </a:p>
        </p:txBody>
      </p:sp>
      <p:grpSp>
        <p:nvGrpSpPr>
          <p:cNvPr id="10" name="Group 9">
            <a:extLst>
              <a:ext uri="{FF2B5EF4-FFF2-40B4-BE49-F238E27FC236}">
                <a16:creationId xmlns:a16="http://schemas.microsoft.com/office/drawing/2014/main" id="{AA39BAE7-7EB8-4E22-BCBB-F00F514DB7E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885825" cy="6858000"/>
            <a:chOff x="0" y="0"/>
            <a:chExt cx="885825" cy="6858000"/>
          </a:xfrm>
        </p:grpSpPr>
        <p:sp>
          <p:nvSpPr>
            <p:cNvPr id="11" name="Freeform 6">
              <a:extLst>
                <a:ext uri="{FF2B5EF4-FFF2-40B4-BE49-F238E27FC236}">
                  <a16:creationId xmlns:a16="http://schemas.microsoft.com/office/drawing/2014/main" id="{CE476A00-9FF6-4B98-9E5C-7A22D8F59C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rgbClr val="FFFFFF"/>
            </a:solidFill>
            <a:ln w="0">
              <a:noFill/>
              <a:prstDash val="solid"/>
              <a:round/>
              <a:headEnd/>
              <a:tailEnd/>
            </a:ln>
          </p:spPr>
          <p:txBody>
            <a:bodyPr/>
            <a:lstStyle/>
            <a:p>
              <a:endParaRPr lang="en-US"/>
            </a:p>
          </p:txBody>
        </p:sp>
        <p:sp>
          <p:nvSpPr>
            <p:cNvPr id="12" name="Freeform 6">
              <a:extLst>
                <a:ext uri="{FF2B5EF4-FFF2-40B4-BE49-F238E27FC236}">
                  <a16:creationId xmlns:a16="http://schemas.microsoft.com/office/drawing/2014/main" id="{8F0632CB-5E59-4727-9C88-4537512D5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txBody>
            <a:bodyPr/>
            <a:lstStyle/>
            <a:p>
              <a:endParaRPr lang="en-US"/>
            </a:p>
          </p:txBody>
        </p:sp>
      </p:grpSp>
      <p:sp>
        <p:nvSpPr>
          <p:cNvPr id="3" name="Content Placeholder 2">
            <a:extLst>
              <a:ext uri="{FF2B5EF4-FFF2-40B4-BE49-F238E27FC236}">
                <a16:creationId xmlns:a16="http://schemas.microsoft.com/office/drawing/2014/main" id="{827C1B25-C21F-814A-A7B2-6B3519FDFC52}"/>
              </a:ext>
            </a:extLst>
          </p:cNvPr>
          <p:cNvSpPr>
            <a:spLocks noGrp="1"/>
          </p:cNvSpPr>
          <p:nvPr>
            <p:ph idx="1"/>
          </p:nvPr>
        </p:nvSpPr>
        <p:spPr>
          <a:xfrm>
            <a:off x="1251678" y="2286001"/>
            <a:ext cx="10089112" cy="3909599"/>
          </a:xfrm>
        </p:spPr>
        <p:txBody>
          <a:bodyPr>
            <a:normAutofit/>
          </a:bodyPr>
          <a:lstStyle/>
          <a:p>
            <a:r>
              <a:rPr lang="en-CA" sz="1700" dirty="0">
                <a:solidFill>
                  <a:schemeClr val="tx1">
                    <a:alpha val="60000"/>
                  </a:schemeClr>
                </a:solidFill>
              </a:rPr>
              <a:t>Machine learning is programming computers to optimize a performance criterion using example data or past experience.</a:t>
            </a:r>
          </a:p>
          <a:p>
            <a:r>
              <a:rPr lang="en-CA" sz="1700" dirty="0">
                <a:solidFill>
                  <a:schemeClr val="tx1">
                    <a:alpha val="60000"/>
                  </a:schemeClr>
                </a:solidFill>
              </a:rPr>
              <a:t>We have a model defined up to some parameters, and learning is the execution of a computer program to optimize the parameters of the model using the training data of past experience.</a:t>
            </a:r>
          </a:p>
          <a:p>
            <a:r>
              <a:rPr lang="en-CA" sz="1700" dirty="0">
                <a:solidFill>
                  <a:schemeClr val="tx1">
                    <a:alpha val="60000"/>
                  </a:schemeClr>
                </a:solidFill>
              </a:rPr>
              <a:t>Machine learning uses the </a:t>
            </a:r>
            <a:r>
              <a:rPr lang="en-CA" sz="1700" b="1" dirty="0">
                <a:solidFill>
                  <a:schemeClr val="tx1">
                    <a:alpha val="60000"/>
                  </a:schemeClr>
                </a:solidFill>
              </a:rPr>
              <a:t>theory of statistics</a:t>
            </a:r>
            <a:r>
              <a:rPr lang="en-CA" sz="1700" dirty="0">
                <a:solidFill>
                  <a:schemeClr val="tx1">
                    <a:alpha val="60000"/>
                  </a:schemeClr>
                </a:solidFill>
              </a:rPr>
              <a:t> in building </a:t>
            </a:r>
            <a:r>
              <a:rPr lang="en-CA" sz="1700" b="1" dirty="0">
                <a:solidFill>
                  <a:schemeClr val="tx1">
                    <a:alpha val="60000"/>
                  </a:schemeClr>
                </a:solidFill>
              </a:rPr>
              <a:t>mathematical models</a:t>
            </a:r>
            <a:r>
              <a:rPr lang="en-CA" sz="1700" dirty="0">
                <a:solidFill>
                  <a:schemeClr val="tx1">
                    <a:alpha val="60000"/>
                  </a:schemeClr>
                </a:solidFill>
              </a:rPr>
              <a:t>, because the core task is making inference from sample. </a:t>
            </a:r>
          </a:p>
          <a:p>
            <a:r>
              <a:rPr lang="en-CA" sz="1700" b="1" dirty="0">
                <a:solidFill>
                  <a:schemeClr val="tx1">
                    <a:alpha val="60000"/>
                  </a:schemeClr>
                </a:solidFill>
              </a:rPr>
              <a:t>The role of computer science is twofold</a:t>
            </a:r>
            <a:r>
              <a:rPr lang="en-CA" sz="1700" dirty="0">
                <a:solidFill>
                  <a:schemeClr val="tx1">
                    <a:alpha val="60000"/>
                  </a:schemeClr>
                </a:solidFill>
              </a:rPr>
              <a:t>: First, in training, we need efficient algorithms to solve the optimization problem, as well as to store and process the massive amount of data we generally have. Second, once the model is learned, its representation and algorithmic solution for inference needs to be efficient as well. </a:t>
            </a:r>
          </a:p>
          <a:p>
            <a:pPr marL="0" indent="0">
              <a:buNone/>
            </a:pPr>
            <a:r>
              <a:rPr lang="en-CA" sz="1700" b="1" dirty="0">
                <a:solidFill>
                  <a:schemeClr val="tx1">
                    <a:alpha val="60000"/>
                  </a:schemeClr>
                </a:solidFill>
              </a:rPr>
              <a:t>Hence, there are no “mysterious” machines that learn and act alone, but well-defined </a:t>
            </a:r>
            <a:r>
              <a:rPr lang="en-CA" sz="1700" b="1" u="sng" dirty="0">
                <a:solidFill>
                  <a:schemeClr val="tx1">
                    <a:alpha val="60000"/>
                  </a:schemeClr>
                </a:solidFill>
              </a:rPr>
              <a:t>statistical models </a:t>
            </a:r>
            <a:r>
              <a:rPr lang="en-CA" sz="1700" b="1" dirty="0">
                <a:solidFill>
                  <a:schemeClr val="tx1">
                    <a:alpha val="60000"/>
                  </a:schemeClr>
                </a:solidFill>
              </a:rPr>
              <a:t>for predictions that are optimized by </a:t>
            </a:r>
            <a:r>
              <a:rPr lang="en-CA" sz="1700" b="1" u="sng" dirty="0">
                <a:solidFill>
                  <a:schemeClr val="tx1">
                    <a:alpha val="60000"/>
                  </a:schemeClr>
                </a:solidFill>
              </a:rPr>
              <a:t>efficient algorithms </a:t>
            </a:r>
            <a:r>
              <a:rPr lang="en-CA" sz="1700" b="1" dirty="0">
                <a:solidFill>
                  <a:schemeClr val="tx1">
                    <a:alpha val="60000"/>
                  </a:schemeClr>
                </a:solidFill>
              </a:rPr>
              <a:t>and executed by </a:t>
            </a:r>
            <a:r>
              <a:rPr lang="en-CA" sz="1700" b="1" u="sng" dirty="0">
                <a:solidFill>
                  <a:schemeClr val="tx1">
                    <a:alpha val="60000"/>
                  </a:schemeClr>
                </a:solidFill>
              </a:rPr>
              <a:t>powerful machines</a:t>
            </a:r>
            <a:r>
              <a:rPr lang="en-CA" sz="1700" b="1" dirty="0">
                <a:solidFill>
                  <a:schemeClr val="tx1">
                    <a:alpha val="60000"/>
                  </a:schemeClr>
                </a:solidFill>
              </a:rPr>
              <a:t>, as know as computers. </a:t>
            </a:r>
          </a:p>
          <a:p>
            <a:endParaRPr lang="en-US" sz="1700" dirty="0">
              <a:solidFill>
                <a:schemeClr val="tx1">
                  <a:alpha val="60000"/>
                </a:schemeClr>
              </a:solidFill>
            </a:endParaRPr>
          </a:p>
        </p:txBody>
      </p:sp>
    </p:spTree>
    <p:extLst>
      <p:ext uri="{BB962C8B-B14F-4D97-AF65-F5344CB8AC3E}">
        <p14:creationId xmlns:p14="http://schemas.microsoft.com/office/powerpoint/2010/main" val="3478078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B9B907B-F9A2-45A5-BDBA-C371127CA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1996" cy="6858000"/>
          </a:xfrm>
          <a:prstGeom prst="rect">
            <a:avLst/>
          </a:prstGeom>
          <a:ln w="0">
            <a:noFill/>
            <a:prstDash val="solid"/>
            <a:round/>
            <a:headEnd/>
            <a:tailEnd/>
          </a:ln>
        </p:spPr>
        <p:txBody>
          <a:bodyPr rtlCol="0" anchor="ctr"/>
          <a:lstStyle/>
          <a:p>
            <a:pPr algn="ctr" defTabSz="457200"/>
            <a:endParaRPr lang="en-US">
              <a:solidFill>
                <a:schemeClr val="tx1"/>
              </a:solidFill>
            </a:endParaRPr>
          </a:p>
        </p:txBody>
      </p:sp>
      <p:sp>
        <p:nvSpPr>
          <p:cNvPr id="2" name="Title 1">
            <a:extLst>
              <a:ext uri="{FF2B5EF4-FFF2-40B4-BE49-F238E27FC236}">
                <a16:creationId xmlns:a16="http://schemas.microsoft.com/office/drawing/2014/main" id="{C534537D-FEAC-1247-9D17-58E4ADEA0A0C}"/>
              </a:ext>
            </a:extLst>
          </p:cNvPr>
          <p:cNvSpPr>
            <a:spLocks noGrp="1"/>
          </p:cNvSpPr>
          <p:nvPr>
            <p:ph type="title"/>
          </p:nvPr>
        </p:nvSpPr>
        <p:spPr>
          <a:xfrm>
            <a:off x="4916251" y="662400"/>
            <a:ext cx="6614814" cy="1492132"/>
          </a:xfrm>
        </p:spPr>
        <p:txBody>
          <a:bodyPr anchor="t">
            <a:normAutofit/>
          </a:bodyPr>
          <a:lstStyle/>
          <a:p>
            <a:r>
              <a:rPr lang="en-US" b="1" dirty="0"/>
              <a:t>Statistical Learning by Machines</a:t>
            </a:r>
          </a:p>
        </p:txBody>
      </p:sp>
      <p:pic>
        <p:nvPicPr>
          <p:cNvPr id="5" name="Picture 4" descr="Pencil and answer-sheet">
            <a:extLst>
              <a:ext uri="{FF2B5EF4-FFF2-40B4-BE49-F238E27FC236}">
                <a16:creationId xmlns:a16="http://schemas.microsoft.com/office/drawing/2014/main" id="{AC950594-1157-146E-2A3F-08E949CDA62F}"/>
              </a:ext>
            </a:extLst>
          </p:cNvPr>
          <p:cNvPicPr>
            <a:picLocks noChangeAspect="1"/>
          </p:cNvPicPr>
          <p:nvPr/>
        </p:nvPicPr>
        <p:blipFill rotWithShape="1">
          <a:blip r:embed="rId2"/>
          <a:srcRect l="65271" r="5106" b="-1"/>
          <a:stretch/>
        </p:blipFill>
        <p:spPr>
          <a:xfrm>
            <a:off x="688434" y="-9525"/>
            <a:ext cx="3584766" cy="6867525"/>
          </a:xfrm>
          <a:prstGeom prst="rect">
            <a:avLst/>
          </a:prstGeom>
        </p:spPr>
      </p:pic>
      <p:sp>
        <p:nvSpPr>
          <p:cNvPr id="11" name="Freeform 6">
            <a:extLst>
              <a:ext uri="{FF2B5EF4-FFF2-40B4-BE49-F238E27FC236}">
                <a16:creationId xmlns:a16="http://schemas.microsoft.com/office/drawing/2014/main" id="{FC72A6E7-EEB3-4011-AFDE-5D01CF93E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1"/>
          </a:solidFill>
          <a:ln w="0">
            <a:noFill/>
            <a:prstDash val="solid"/>
            <a:round/>
            <a:headEnd/>
            <a:tailEnd/>
          </a:ln>
        </p:spPr>
        <p:txBody>
          <a:bodyPr/>
          <a:lstStyle/>
          <a:p>
            <a:endParaRPr lang="en-US"/>
          </a:p>
        </p:txBody>
      </p:sp>
      <p:sp>
        <p:nvSpPr>
          <p:cNvPr id="13" name="Freeform 6">
            <a:extLst>
              <a:ext uri="{FF2B5EF4-FFF2-40B4-BE49-F238E27FC236}">
                <a16:creationId xmlns:a16="http://schemas.microsoft.com/office/drawing/2014/main" id="{8CD93300-52E3-4A04-AB11-4E86A29BE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accent1">
              <a:lumMod val="50000"/>
              <a:alpha val="25000"/>
            </a:schemeClr>
          </a:solidFill>
          <a:ln w="0">
            <a:noFill/>
            <a:prstDash val="solid"/>
            <a:round/>
            <a:headEnd/>
            <a:tailEnd/>
          </a:ln>
        </p:spPr>
        <p:txBody>
          <a:bodyPr/>
          <a:lstStyle/>
          <a:p>
            <a:endParaRPr lang="en-US" dirty="0"/>
          </a:p>
        </p:txBody>
      </p:sp>
      <p:sp>
        <p:nvSpPr>
          <p:cNvPr id="3" name="Content Placeholder 2">
            <a:extLst>
              <a:ext uri="{FF2B5EF4-FFF2-40B4-BE49-F238E27FC236}">
                <a16:creationId xmlns:a16="http://schemas.microsoft.com/office/drawing/2014/main" id="{E78A60C1-D1E6-8A48-9743-B82F861E2F38}"/>
              </a:ext>
            </a:extLst>
          </p:cNvPr>
          <p:cNvSpPr>
            <a:spLocks noGrp="1"/>
          </p:cNvSpPr>
          <p:nvPr>
            <p:ph idx="1"/>
          </p:nvPr>
        </p:nvSpPr>
        <p:spPr>
          <a:xfrm>
            <a:off x="4916251" y="2286000"/>
            <a:ext cx="6614814" cy="3844800"/>
          </a:xfrm>
        </p:spPr>
        <p:txBody>
          <a:bodyPr>
            <a:normAutofit/>
          </a:bodyPr>
          <a:lstStyle/>
          <a:p>
            <a:pPr marL="0" indent="0">
              <a:buNone/>
            </a:pPr>
            <a:r>
              <a:rPr lang="en-CA" sz="1900" dirty="0">
                <a:solidFill>
                  <a:schemeClr val="tx1">
                    <a:alpha val="60000"/>
                  </a:schemeClr>
                </a:solidFill>
              </a:rPr>
              <a:t>The task is to build a model that predicts an “unseen” outcome from “seen” data.   Learning is the key concept here: </a:t>
            </a:r>
          </a:p>
          <a:p>
            <a:pPr marL="0" indent="0">
              <a:buNone/>
            </a:pPr>
            <a:r>
              <a:rPr lang="en-CA" sz="1900" dirty="0">
                <a:solidFill>
                  <a:schemeClr val="tx1">
                    <a:alpha val="60000"/>
                  </a:schemeClr>
                </a:solidFill>
              </a:rPr>
              <a:t>1. Start with an initial model,</a:t>
            </a:r>
            <a:br>
              <a:rPr lang="en-CA" sz="1900" dirty="0">
                <a:solidFill>
                  <a:schemeClr val="tx1">
                    <a:alpha val="60000"/>
                  </a:schemeClr>
                </a:solidFill>
              </a:rPr>
            </a:br>
            <a:r>
              <a:rPr lang="en-CA" sz="1900" dirty="0">
                <a:solidFill>
                  <a:schemeClr val="tx1">
                    <a:alpha val="60000"/>
                  </a:schemeClr>
                </a:solidFill>
              </a:rPr>
              <a:t>2. Test its predictions on unseen data,</a:t>
            </a:r>
            <a:br>
              <a:rPr lang="en-CA" sz="1900" dirty="0">
                <a:solidFill>
                  <a:schemeClr val="tx1">
                    <a:alpha val="60000"/>
                  </a:schemeClr>
                </a:solidFill>
              </a:rPr>
            </a:br>
            <a:r>
              <a:rPr lang="en-CA" sz="1900" dirty="0">
                <a:solidFill>
                  <a:schemeClr val="tx1">
                    <a:alpha val="60000"/>
                  </a:schemeClr>
                </a:solidFill>
              </a:rPr>
              <a:t>3. Get prediction errors,</a:t>
            </a:r>
            <a:br>
              <a:rPr lang="en-CA" sz="1900" dirty="0">
                <a:solidFill>
                  <a:schemeClr val="tx1">
                    <a:alpha val="60000"/>
                  </a:schemeClr>
                </a:solidFill>
              </a:rPr>
            </a:br>
            <a:r>
              <a:rPr lang="en-CA" sz="1900" dirty="0">
                <a:solidFill>
                  <a:schemeClr val="tx1">
                    <a:alpha val="60000"/>
                  </a:schemeClr>
                </a:solidFill>
              </a:rPr>
              <a:t>4. Learn from your mistakes (prediction error),</a:t>
            </a:r>
            <a:br>
              <a:rPr lang="en-CA" sz="1900" dirty="0">
                <a:solidFill>
                  <a:schemeClr val="tx1">
                    <a:alpha val="60000"/>
                  </a:schemeClr>
                </a:solidFill>
              </a:rPr>
            </a:br>
            <a:r>
              <a:rPr lang="en-CA" sz="1900" dirty="0">
                <a:solidFill>
                  <a:schemeClr val="tx1">
                    <a:alpha val="60000"/>
                  </a:schemeClr>
                </a:solidFill>
              </a:rPr>
              <a:t>5. Adjust your model</a:t>
            </a:r>
            <a:br>
              <a:rPr lang="en-CA" sz="1900" dirty="0">
                <a:solidFill>
                  <a:schemeClr val="tx1">
                    <a:alpha val="60000"/>
                  </a:schemeClr>
                </a:solidFill>
              </a:rPr>
            </a:br>
            <a:r>
              <a:rPr lang="en-CA" sz="1900" dirty="0">
                <a:solidFill>
                  <a:schemeClr val="tx1">
                    <a:alpha val="60000"/>
                  </a:schemeClr>
                </a:solidFill>
              </a:rPr>
              <a:t>6. Go back to step 2,</a:t>
            </a:r>
            <a:br>
              <a:rPr lang="en-CA" sz="1900" dirty="0">
                <a:solidFill>
                  <a:schemeClr val="tx1">
                    <a:alpha val="60000"/>
                  </a:schemeClr>
                </a:solidFill>
              </a:rPr>
            </a:br>
            <a:r>
              <a:rPr lang="en-CA" sz="1900" dirty="0">
                <a:solidFill>
                  <a:schemeClr val="tx1">
                    <a:alpha val="60000"/>
                  </a:schemeClr>
                </a:solidFill>
              </a:rPr>
              <a:t>7. Stop when the improvement in the error is minimum </a:t>
            </a:r>
          </a:p>
          <a:p>
            <a:pPr marL="0" indent="0">
              <a:buNone/>
            </a:pPr>
            <a:r>
              <a:rPr lang="en-CA" sz="1900" dirty="0">
                <a:solidFill>
                  <a:schemeClr val="tx1">
                    <a:alpha val="60000"/>
                  </a:schemeClr>
                </a:solidFill>
              </a:rPr>
              <a:t>As you can see learning a recursive process. But it’s much faster with machines.  </a:t>
            </a:r>
            <a:r>
              <a:rPr lang="en-CA" sz="1900" b="1" dirty="0">
                <a:solidFill>
                  <a:schemeClr val="tx1">
                    <a:alpha val="60000"/>
                  </a:schemeClr>
                </a:solidFill>
              </a:rPr>
              <a:t>This process is called “training”. </a:t>
            </a:r>
            <a:r>
              <a:rPr lang="en-CA" sz="1900" dirty="0">
                <a:solidFill>
                  <a:schemeClr val="tx1">
                    <a:alpha val="60000"/>
                  </a:schemeClr>
                </a:solidFill>
              </a:rPr>
              <a:t>When the model is “trained” and efficient, we use it to predict unseen outcomes. </a:t>
            </a:r>
          </a:p>
          <a:p>
            <a:endParaRPr lang="en-US" sz="1900" dirty="0">
              <a:solidFill>
                <a:schemeClr val="tx1">
                  <a:alpha val="60000"/>
                </a:schemeClr>
              </a:solidFill>
            </a:endParaRPr>
          </a:p>
        </p:txBody>
      </p:sp>
    </p:spTree>
    <p:extLst>
      <p:ext uri="{BB962C8B-B14F-4D97-AF65-F5344CB8AC3E}">
        <p14:creationId xmlns:p14="http://schemas.microsoft.com/office/powerpoint/2010/main" val="10151785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F2D28-DA39-A24E-BD72-E1EE70852900}"/>
              </a:ext>
            </a:extLst>
          </p:cNvPr>
          <p:cNvSpPr>
            <a:spLocks noGrp="1"/>
          </p:cNvSpPr>
          <p:nvPr>
            <p:ph type="title"/>
          </p:nvPr>
        </p:nvSpPr>
        <p:spPr>
          <a:xfrm>
            <a:off x="4965430" y="629268"/>
            <a:ext cx="6586491" cy="1286160"/>
          </a:xfrm>
        </p:spPr>
        <p:txBody>
          <a:bodyPr anchor="b">
            <a:normAutofit/>
          </a:bodyPr>
          <a:lstStyle/>
          <a:p>
            <a:r>
              <a:rPr lang="en-US" sz="4100" b="1" dirty="0"/>
              <a:t>Why it’s getting more popular…</a:t>
            </a:r>
          </a:p>
        </p:txBody>
      </p:sp>
      <p:sp>
        <p:nvSpPr>
          <p:cNvPr id="3" name="Content Placeholder 2">
            <a:extLst>
              <a:ext uri="{FF2B5EF4-FFF2-40B4-BE49-F238E27FC236}">
                <a16:creationId xmlns:a16="http://schemas.microsoft.com/office/drawing/2014/main" id="{DC0335D2-60A7-C144-9ED6-404F99FC7E8E}"/>
              </a:ext>
            </a:extLst>
          </p:cNvPr>
          <p:cNvSpPr>
            <a:spLocks noGrp="1"/>
          </p:cNvSpPr>
          <p:nvPr>
            <p:ph idx="1"/>
          </p:nvPr>
        </p:nvSpPr>
        <p:spPr>
          <a:xfrm>
            <a:off x="4965431" y="2438400"/>
            <a:ext cx="6586489" cy="3785419"/>
          </a:xfrm>
        </p:spPr>
        <p:txBody>
          <a:bodyPr>
            <a:normAutofit/>
          </a:bodyPr>
          <a:lstStyle/>
          <a:p>
            <a:pPr marL="0" indent="0">
              <a:buNone/>
            </a:pPr>
            <a:r>
              <a:rPr lang="en-CA" sz="4000" dirty="0"/>
              <a:t>With the </a:t>
            </a:r>
            <a:r>
              <a:rPr lang="en-CA" sz="4000" b="1" dirty="0"/>
              <a:t>data explosion </a:t>
            </a:r>
            <a:r>
              <a:rPr lang="en-CA" sz="4000" dirty="0"/>
              <a:t>in recent decades accompanied by the advent of big data and huge strides made in the sector of </a:t>
            </a:r>
            <a:r>
              <a:rPr lang="en-CA" sz="4000" b="1" dirty="0"/>
              <a:t>performance computing</a:t>
            </a:r>
          </a:p>
        </p:txBody>
      </p:sp>
      <p:pic>
        <p:nvPicPr>
          <p:cNvPr id="5" name="Picture 4" descr="Light bulb on yellow background with sketched light beams and cord">
            <a:extLst>
              <a:ext uri="{FF2B5EF4-FFF2-40B4-BE49-F238E27FC236}">
                <a16:creationId xmlns:a16="http://schemas.microsoft.com/office/drawing/2014/main" id="{4030E8DB-E7CA-5E38-15FD-DD425936D53C}"/>
              </a:ext>
            </a:extLst>
          </p:cNvPr>
          <p:cNvPicPr>
            <a:picLocks noChangeAspect="1"/>
          </p:cNvPicPr>
          <p:nvPr/>
        </p:nvPicPr>
        <p:blipFill rotWithShape="1">
          <a:blip r:embed="rId2"/>
          <a:srcRect l="51344" r="7086"/>
          <a:stretch/>
        </p:blipFill>
        <p:spPr>
          <a:xfrm>
            <a:off x="20" y="10"/>
            <a:ext cx="4635571" cy="6857990"/>
          </a:xfrm>
          <a:prstGeom prst="rect">
            <a:avLst/>
          </a:prstGeom>
          <a:effectLst/>
        </p:spPr>
      </p:pic>
      <p:cxnSp>
        <p:nvCxnSpPr>
          <p:cNvPr id="9" name="Straight Connector 8">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080934" y="2115117"/>
            <a:ext cx="6309360" cy="0"/>
          </a:xfrm>
          <a:prstGeom prst="line">
            <a:avLst/>
          </a:prstGeom>
          <a:ln w="19050">
            <a:solidFill>
              <a:srgbClr val="F5E83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180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89154-67E8-9642-8BFA-F9EDE696FC2A}"/>
              </a:ext>
            </a:extLst>
          </p:cNvPr>
          <p:cNvSpPr>
            <a:spLocks noGrp="1"/>
          </p:cNvSpPr>
          <p:nvPr>
            <p:ph type="title"/>
          </p:nvPr>
        </p:nvSpPr>
        <p:spPr/>
        <p:txBody>
          <a:bodyPr/>
          <a:lstStyle/>
          <a:p>
            <a:r>
              <a:rPr lang="en-US" b="1" dirty="0"/>
              <a:t>Big Data?</a:t>
            </a:r>
          </a:p>
        </p:txBody>
      </p:sp>
      <p:graphicFrame>
        <p:nvGraphicFramePr>
          <p:cNvPr id="5" name="Content Placeholder 2">
            <a:extLst>
              <a:ext uri="{FF2B5EF4-FFF2-40B4-BE49-F238E27FC236}">
                <a16:creationId xmlns:a16="http://schemas.microsoft.com/office/drawing/2014/main" id="{818E6619-ADA2-7C6E-E3D7-2FF05BD3FC19}"/>
              </a:ext>
            </a:extLst>
          </p:cNvPr>
          <p:cNvGraphicFramePr>
            <a:graphicFrameLocks noGrp="1"/>
          </p:cNvGraphicFramePr>
          <p:nvPr>
            <p:ph idx="1"/>
            <p:extLst>
              <p:ext uri="{D42A27DB-BD31-4B8C-83A1-F6EECF244321}">
                <p14:modId xmlns:p14="http://schemas.microsoft.com/office/powerpoint/2010/main" val="3586258671"/>
              </p:ext>
            </p:extLst>
          </p:nvPr>
        </p:nvGraphicFramePr>
        <p:xfrm>
          <a:off x="195943" y="1289957"/>
          <a:ext cx="11772900" cy="5372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1642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1BD24-ADF1-8E2D-030E-A16485143162}"/>
              </a:ext>
            </a:extLst>
          </p:cNvPr>
          <p:cNvSpPr>
            <a:spLocks noGrp="1"/>
          </p:cNvSpPr>
          <p:nvPr>
            <p:ph type="title"/>
          </p:nvPr>
        </p:nvSpPr>
        <p:spPr/>
        <p:txBody>
          <a:bodyPr/>
          <a:lstStyle/>
          <a:p>
            <a:r>
              <a:rPr lang="en-US" dirty="0"/>
              <a:t>5 V’s</a:t>
            </a:r>
          </a:p>
        </p:txBody>
      </p:sp>
      <p:graphicFrame>
        <p:nvGraphicFramePr>
          <p:cNvPr id="5" name="Content Placeholder 2">
            <a:extLst>
              <a:ext uri="{FF2B5EF4-FFF2-40B4-BE49-F238E27FC236}">
                <a16:creationId xmlns:a16="http://schemas.microsoft.com/office/drawing/2014/main" id="{A92B993E-BEF5-3BC4-6148-F65C5E3BB4F3}"/>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2433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0D976-FE2C-EB44-A452-79A39643E6E3}"/>
              </a:ext>
            </a:extLst>
          </p:cNvPr>
          <p:cNvSpPr>
            <a:spLocks noGrp="1"/>
          </p:cNvSpPr>
          <p:nvPr>
            <p:ph type="title"/>
          </p:nvPr>
        </p:nvSpPr>
        <p:spPr/>
        <p:txBody>
          <a:bodyPr/>
          <a:lstStyle/>
          <a:p>
            <a:r>
              <a:rPr lang="en-US" b="1" dirty="0"/>
              <a:t>3 Types</a:t>
            </a:r>
          </a:p>
        </p:txBody>
      </p:sp>
      <p:pic>
        <p:nvPicPr>
          <p:cNvPr id="5" name="Content Placeholder 4" descr="Diagram&#10;&#10;Description automatically generated">
            <a:extLst>
              <a:ext uri="{FF2B5EF4-FFF2-40B4-BE49-F238E27FC236}">
                <a16:creationId xmlns:a16="http://schemas.microsoft.com/office/drawing/2014/main" id="{EAA6FDEC-E72F-A64A-B8D3-75EFD936363A}"/>
              </a:ext>
            </a:extLst>
          </p:cNvPr>
          <p:cNvPicPr>
            <a:picLocks noGrp="1" noChangeAspect="1"/>
          </p:cNvPicPr>
          <p:nvPr>
            <p:ph idx="1"/>
          </p:nvPr>
        </p:nvPicPr>
        <p:blipFill>
          <a:blip r:embed="rId2"/>
          <a:stretch>
            <a:fillRect/>
          </a:stretch>
        </p:blipFill>
        <p:spPr>
          <a:xfrm>
            <a:off x="1322614" y="1690688"/>
            <a:ext cx="8926286" cy="3157718"/>
          </a:xfrm>
        </p:spPr>
      </p:pic>
      <p:sp>
        <p:nvSpPr>
          <p:cNvPr id="6" name="TextBox 5">
            <a:extLst>
              <a:ext uri="{FF2B5EF4-FFF2-40B4-BE49-F238E27FC236}">
                <a16:creationId xmlns:a16="http://schemas.microsoft.com/office/drawing/2014/main" id="{3AD32F96-E851-BD43-A691-B12418A6BF9E}"/>
              </a:ext>
            </a:extLst>
          </p:cNvPr>
          <p:cNvSpPr txBox="1"/>
          <p:nvPr/>
        </p:nvSpPr>
        <p:spPr>
          <a:xfrm>
            <a:off x="1322614" y="4897580"/>
            <a:ext cx="2628900" cy="1111333"/>
          </a:xfrm>
          <a:prstGeom prst="rect">
            <a:avLst/>
          </a:prstGeom>
          <a:noFill/>
        </p:spPr>
        <p:txBody>
          <a:bodyPr wrap="square" rtlCol="0">
            <a:spAutoFit/>
          </a:bodyPr>
          <a:lstStyle/>
          <a:p>
            <a:r>
              <a:rPr lang="en-CA" sz="1600" dirty="0"/>
              <a:t>Machine Learning algorithm takes labeled data as input and then predicts output for an unlabeled set of data</a:t>
            </a:r>
            <a:endParaRPr lang="en-US" sz="1600" dirty="0"/>
          </a:p>
        </p:txBody>
      </p:sp>
      <p:sp>
        <p:nvSpPr>
          <p:cNvPr id="7" name="TextBox 6">
            <a:extLst>
              <a:ext uri="{FF2B5EF4-FFF2-40B4-BE49-F238E27FC236}">
                <a16:creationId xmlns:a16="http://schemas.microsoft.com/office/drawing/2014/main" id="{6A350376-A5A5-C449-94AC-24A2CB59C95B}"/>
              </a:ext>
            </a:extLst>
          </p:cNvPr>
          <p:cNvSpPr txBox="1"/>
          <p:nvPr/>
        </p:nvSpPr>
        <p:spPr>
          <a:xfrm>
            <a:off x="5065692" y="4913871"/>
            <a:ext cx="2060615" cy="1569660"/>
          </a:xfrm>
          <a:prstGeom prst="rect">
            <a:avLst/>
          </a:prstGeom>
          <a:noFill/>
        </p:spPr>
        <p:txBody>
          <a:bodyPr wrap="square" rtlCol="0">
            <a:spAutoFit/>
          </a:bodyPr>
          <a:lstStyle/>
          <a:p>
            <a:r>
              <a:rPr lang="en-CA" sz="1600" dirty="0"/>
              <a:t>The algorithm is expected to mine the data and derive patterns and relationships to formulate the context</a:t>
            </a:r>
            <a:endParaRPr lang="en-US" sz="1600" dirty="0"/>
          </a:p>
        </p:txBody>
      </p:sp>
      <p:sp>
        <p:nvSpPr>
          <p:cNvPr id="3" name="TextBox 2">
            <a:extLst>
              <a:ext uri="{FF2B5EF4-FFF2-40B4-BE49-F238E27FC236}">
                <a16:creationId xmlns:a16="http://schemas.microsoft.com/office/drawing/2014/main" id="{25CB5EF1-8CC3-C2C4-3EF6-D6C0A35F2CF9}"/>
              </a:ext>
            </a:extLst>
          </p:cNvPr>
          <p:cNvSpPr txBox="1"/>
          <p:nvPr/>
        </p:nvSpPr>
        <p:spPr>
          <a:xfrm>
            <a:off x="8240485" y="4897580"/>
            <a:ext cx="2060615" cy="1815882"/>
          </a:xfrm>
          <a:prstGeom prst="rect">
            <a:avLst/>
          </a:prstGeom>
          <a:noFill/>
        </p:spPr>
        <p:txBody>
          <a:bodyPr wrap="square" rtlCol="0">
            <a:spAutoFit/>
          </a:bodyPr>
          <a:lstStyle/>
          <a:p>
            <a:r>
              <a:rPr lang="en-CA" sz="1600" dirty="0"/>
              <a:t>A type of machine learning where an agent learns to make decisions by performing actions in an environment to achieve some goal. </a:t>
            </a:r>
            <a:endParaRPr lang="en-US" sz="1600" dirty="0"/>
          </a:p>
        </p:txBody>
      </p:sp>
    </p:spTree>
    <p:extLst>
      <p:ext uri="{BB962C8B-B14F-4D97-AF65-F5344CB8AC3E}">
        <p14:creationId xmlns:p14="http://schemas.microsoft.com/office/powerpoint/2010/main" val="28411803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10;&#10;Description automatically generated with medium confidence">
            <a:extLst>
              <a:ext uri="{FF2B5EF4-FFF2-40B4-BE49-F238E27FC236}">
                <a16:creationId xmlns:a16="http://schemas.microsoft.com/office/drawing/2014/main" id="{0D86CBA5-99A9-0F48-A836-9E48D3185FD0}"/>
              </a:ext>
            </a:extLst>
          </p:cNvPr>
          <p:cNvPicPr>
            <a:picLocks noGrp="1" noChangeAspect="1"/>
          </p:cNvPicPr>
          <p:nvPr>
            <p:ph idx="1"/>
          </p:nvPr>
        </p:nvPicPr>
        <p:blipFill>
          <a:blip r:embed="rId2"/>
          <a:stretch>
            <a:fillRect/>
          </a:stretch>
        </p:blipFill>
        <p:spPr>
          <a:xfrm>
            <a:off x="1453243" y="339969"/>
            <a:ext cx="8947815" cy="6210356"/>
          </a:xfrm>
        </p:spPr>
      </p:pic>
    </p:spTree>
    <p:extLst>
      <p:ext uri="{BB962C8B-B14F-4D97-AF65-F5344CB8AC3E}">
        <p14:creationId xmlns:p14="http://schemas.microsoft.com/office/powerpoint/2010/main" val="2147698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9FE920A-8EC2-C048-9000-ED4807670432}"/>
              </a:ext>
            </a:extLst>
          </p:cNvPr>
          <p:cNvSpPr>
            <a:spLocks noGrp="1"/>
          </p:cNvSpPr>
          <p:nvPr>
            <p:ph type="title"/>
          </p:nvPr>
        </p:nvSpPr>
        <p:spPr>
          <a:xfrm>
            <a:off x="838200" y="365125"/>
            <a:ext cx="5558489" cy="1325563"/>
          </a:xfrm>
        </p:spPr>
        <p:txBody>
          <a:bodyPr>
            <a:normAutofit/>
          </a:bodyPr>
          <a:lstStyle/>
          <a:p>
            <a:r>
              <a:rPr lang="en-US" b="1" dirty="0"/>
              <a:t>One needs…</a:t>
            </a:r>
          </a:p>
        </p:txBody>
      </p:sp>
      <p:sp>
        <p:nvSpPr>
          <p:cNvPr id="10" name="Freeform: Shape 9">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9F689316-0685-CF4D-A916-5B8954126180}"/>
              </a:ext>
            </a:extLst>
          </p:cNvPr>
          <p:cNvSpPr>
            <a:spLocks noGrp="1"/>
          </p:cNvSpPr>
          <p:nvPr>
            <p:ph idx="1"/>
          </p:nvPr>
        </p:nvSpPr>
        <p:spPr>
          <a:xfrm>
            <a:off x="277586" y="1439650"/>
            <a:ext cx="6119103" cy="4737313"/>
          </a:xfrm>
        </p:spPr>
        <p:txBody>
          <a:bodyPr>
            <a:normAutofit lnSpcReduction="10000"/>
          </a:bodyPr>
          <a:lstStyle/>
          <a:p>
            <a:r>
              <a:rPr lang="en-US" sz="1400" dirty="0"/>
              <a:t>R and Python are the main platforms for ML applications</a:t>
            </a:r>
          </a:p>
          <a:p>
            <a:r>
              <a:rPr lang="en-US" sz="1400" dirty="0"/>
              <a:t>There are multiple “packages” for each ML model in those languages</a:t>
            </a:r>
          </a:p>
          <a:p>
            <a:r>
              <a:rPr lang="en-US" sz="1400" dirty="0"/>
              <a:t>But high-level data management skills are also needed</a:t>
            </a:r>
          </a:p>
          <a:p>
            <a:r>
              <a:rPr lang="en-US" sz="1400" dirty="0"/>
              <a:t>Stata 18 is more user-friendly but less customizable </a:t>
            </a:r>
          </a:p>
          <a:p>
            <a:r>
              <a:rPr lang="en-US" sz="1400" dirty="0"/>
              <a:t>There are hundreds of 2-week online courses but most of them lacks statistical rigor</a:t>
            </a:r>
          </a:p>
          <a:p>
            <a:r>
              <a:rPr lang="en-US" sz="1400" dirty="0"/>
              <a:t>A university-level (online) </a:t>
            </a:r>
            <a:r>
              <a:rPr lang="en-US" sz="1400" dirty="0">
                <a:hlinkClick r:id="rId2"/>
              </a:rPr>
              <a:t>course</a:t>
            </a:r>
            <a:r>
              <a:rPr lang="en-US" sz="1400" dirty="0"/>
              <a:t> with statistical emphases is the best, but </a:t>
            </a:r>
            <a:r>
              <a:rPr lang="en-US" sz="1400" dirty="0">
                <a:hlinkClick r:id="rId3"/>
              </a:rPr>
              <a:t>EdX</a:t>
            </a:r>
            <a:r>
              <a:rPr lang="en-US" sz="1400" dirty="0"/>
              <a:t> is also the one we recommend for online micro-credits</a:t>
            </a:r>
          </a:p>
          <a:p>
            <a:r>
              <a:rPr lang="en-US" sz="1400" dirty="0"/>
              <a:t>I also teach </a:t>
            </a:r>
            <a:r>
              <a:rPr lang="en-US" sz="1400" dirty="0">
                <a:hlinkClick r:id="rId4"/>
              </a:rPr>
              <a:t>Introduction to Applied Machine Learning with R</a:t>
            </a:r>
            <a:r>
              <a:rPr lang="en-US" sz="1400" dirty="0"/>
              <a:t> at SSB and Summer Schools at </a:t>
            </a:r>
            <a:r>
              <a:rPr lang="en-US" sz="1400" dirty="0">
                <a:hlinkClick r:id="rId5"/>
              </a:rPr>
              <a:t>MLPortal</a:t>
            </a:r>
            <a:r>
              <a:rPr lang="en-US" sz="1400" dirty="0"/>
              <a:t> </a:t>
            </a:r>
          </a:p>
          <a:p>
            <a:pPr marL="0" indent="0">
              <a:buNone/>
            </a:pPr>
            <a:endParaRPr lang="en-US" sz="1400" dirty="0"/>
          </a:p>
          <a:p>
            <a:pPr marL="0" indent="0">
              <a:buNone/>
            </a:pPr>
            <a:r>
              <a:rPr lang="en-US" sz="1400" b="1" u="sng" dirty="0"/>
              <a:t>Ready-to-use platforms:</a:t>
            </a:r>
          </a:p>
          <a:p>
            <a:r>
              <a:rPr lang="en-US" sz="1400" dirty="0"/>
              <a:t>H2O: </a:t>
            </a:r>
            <a:r>
              <a:rPr lang="en-US" sz="1400" dirty="0">
                <a:hlinkClick r:id="rId6"/>
              </a:rPr>
              <a:t>https://youtu.be/ynrygvcYeFc</a:t>
            </a:r>
            <a:endParaRPr lang="en-US" sz="1400" dirty="0"/>
          </a:p>
          <a:p>
            <a:r>
              <a:rPr lang="en-US" sz="1400" dirty="0"/>
              <a:t>Amazon: </a:t>
            </a:r>
            <a:r>
              <a:rPr lang="en-US" sz="1400" dirty="0">
                <a:hlinkClick r:id="rId7"/>
              </a:rPr>
              <a:t>https://aws.amazon.com/machine-learning/</a:t>
            </a:r>
            <a:r>
              <a:rPr lang="en-US" sz="1400" dirty="0"/>
              <a:t> </a:t>
            </a:r>
          </a:p>
          <a:p>
            <a:r>
              <a:rPr lang="en-US" sz="1400" dirty="0"/>
              <a:t>Google: </a:t>
            </a:r>
            <a:r>
              <a:rPr lang="en-US" sz="1400" dirty="0">
                <a:hlinkClick r:id="rId8"/>
              </a:rPr>
              <a:t>https://cloud.google.com/products/ai</a:t>
            </a:r>
            <a:r>
              <a:rPr lang="en-US" sz="1400" dirty="0"/>
              <a:t> </a:t>
            </a:r>
          </a:p>
          <a:p>
            <a:r>
              <a:rPr lang="en-US" sz="1400" dirty="0"/>
              <a:t>IBM: </a:t>
            </a:r>
            <a:r>
              <a:rPr lang="en-US" sz="1400" dirty="0">
                <a:hlinkClick r:id="rId9"/>
              </a:rPr>
              <a:t>https://www.ibm.com/cloud/ai</a:t>
            </a:r>
            <a:endParaRPr lang="en-US" sz="1400" dirty="0"/>
          </a:p>
          <a:p>
            <a:pPr marL="0" indent="0">
              <a:buNone/>
            </a:pPr>
            <a:r>
              <a:rPr lang="en-US" sz="1400" dirty="0"/>
              <a:t>Look at the list here: </a:t>
            </a:r>
            <a:r>
              <a:rPr lang="en-US" sz="1400" dirty="0">
                <a:hlinkClick r:id="rId10"/>
              </a:rPr>
              <a:t>https://www.g2.com/products/h2o/competitors/alternatives</a:t>
            </a:r>
            <a:r>
              <a:rPr lang="en-US" sz="1400" dirty="0"/>
              <a:t>  </a:t>
            </a:r>
          </a:p>
          <a:p>
            <a:endParaRPr lang="en-US" sz="1100" dirty="0"/>
          </a:p>
        </p:txBody>
      </p:sp>
      <p:sp>
        <p:nvSpPr>
          <p:cNvPr id="12" name="Oval 11">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Block Arc 13">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6" name="Freeform: Shape 15">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18" name="Straight Connector 17">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0" name="Freeform: Shape 19">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2" name="Arc 21">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6459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8DF9E3-9C22-ECDC-B5BA-05EED7B2D105}"/>
              </a:ext>
            </a:extLst>
          </p:cNvPr>
          <p:cNvPicPr>
            <a:picLocks noChangeAspect="1"/>
          </p:cNvPicPr>
          <p:nvPr/>
        </p:nvPicPr>
        <p:blipFill rotWithShape="1">
          <a:blip r:embed="rId2">
            <a:duotone>
              <a:schemeClr val="bg2">
                <a:shade val="45000"/>
                <a:satMod val="135000"/>
              </a:schemeClr>
              <a:prstClr val="white"/>
            </a:duotone>
          </a:blip>
          <a:srcRect t="4311" b="11420"/>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0C60E6-E02E-AF3F-8D50-C60528566428}"/>
              </a:ext>
            </a:extLst>
          </p:cNvPr>
          <p:cNvSpPr>
            <a:spLocks noGrp="1"/>
          </p:cNvSpPr>
          <p:nvPr>
            <p:ph type="title"/>
          </p:nvPr>
        </p:nvSpPr>
        <p:spPr>
          <a:xfrm>
            <a:off x="838200" y="365125"/>
            <a:ext cx="10515600" cy="1325563"/>
          </a:xfrm>
        </p:spPr>
        <p:txBody>
          <a:bodyPr>
            <a:normAutofit/>
          </a:bodyPr>
          <a:lstStyle/>
          <a:p>
            <a:r>
              <a:rPr lang="en-US" dirty="0"/>
              <a:t>Repositories offering services/hosting a variety of machine learning models. </a:t>
            </a:r>
          </a:p>
        </p:txBody>
      </p:sp>
      <p:graphicFrame>
        <p:nvGraphicFramePr>
          <p:cNvPr id="5" name="Content Placeholder 2">
            <a:extLst>
              <a:ext uri="{FF2B5EF4-FFF2-40B4-BE49-F238E27FC236}">
                <a16:creationId xmlns:a16="http://schemas.microsoft.com/office/drawing/2014/main" id="{825AA7BE-5BEF-BDB9-BE5B-13FAE462DEF5}"/>
              </a:ext>
            </a:extLst>
          </p:cNvPr>
          <p:cNvGraphicFramePr>
            <a:graphicFrameLocks noGrp="1"/>
          </p:cNvGraphicFramePr>
          <p:nvPr>
            <p:ph idx="1"/>
            <p:extLst>
              <p:ext uri="{D42A27DB-BD31-4B8C-83A1-F6EECF244321}">
                <p14:modId xmlns:p14="http://schemas.microsoft.com/office/powerpoint/2010/main" val="301511481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13233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C1A5C1-1A3B-C246-9002-596442BC21A8}"/>
              </a:ext>
            </a:extLst>
          </p:cNvPr>
          <p:cNvSpPr>
            <a:spLocks noGrp="1"/>
          </p:cNvSpPr>
          <p:nvPr>
            <p:ph type="title"/>
          </p:nvPr>
        </p:nvSpPr>
        <p:spPr>
          <a:xfrm>
            <a:off x="841248" y="548640"/>
            <a:ext cx="3600860" cy="5431536"/>
          </a:xfrm>
        </p:spPr>
        <p:txBody>
          <a:bodyPr>
            <a:normAutofit/>
          </a:bodyPr>
          <a:lstStyle/>
          <a:p>
            <a:r>
              <a:rPr lang="en-US" sz="5400" b="1" dirty="0"/>
              <a:t>How ML “models” are different than others?</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A9453C-E896-104F-A2F9-C83887D6C21A}"/>
                  </a:ext>
                </a:extLst>
              </p:cNvPr>
              <p:cNvSpPr>
                <a:spLocks noGrp="1"/>
              </p:cNvSpPr>
              <p:nvPr>
                <p:ph idx="1"/>
              </p:nvPr>
            </p:nvSpPr>
            <p:spPr>
              <a:xfrm>
                <a:off x="5126418" y="552091"/>
                <a:ext cx="6946520" cy="5431536"/>
              </a:xfrm>
            </p:spPr>
            <p:txBody>
              <a:bodyPr anchor="ctr">
                <a:normAutofit/>
              </a:bodyPr>
              <a:lstStyle/>
              <a:p>
                <a:r>
                  <a:rPr lang="en-US" sz="2400" dirty="0"/>
                  <a:t>Models must be “trainable” and flexible in searching the feature space for having self-learning capabilities</a:t>
                </a:r>
              </a:p>
              <a:p>
                <a:r>
                  <a:rPr lang="en-US" sz="2400" dirty="0"/>
                  <a:t>A trainable model includes “hyperparameter(s)”. </a:t>
                </a:r>
              </a:p>
              <a:p>
                <a:r>
                  <a:rPr lang="en-US" sz="2400" dirty="0"/>
                  <a:t>For example, an ordinary OLS estimation of </a:t>
                </a:r>
                <a14:m>
                  <m:oMath xmlns:m="http://schemas.openxmlformats.org/officeDocument/2006/math">
                    <m:sSub>
                      <m:sSubPr>
                        <m:ctrlPr>
                          <a:rPr lang="en-CA"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𝑖</m:t>
                        </m:r>
                      </m:sub>
                    </m:sSub>
                    <m:r>
                      <a:rPr lang="en-US" sz="2400">
                        <a:latin typeface="Cambria Math" panose="02040503050406030204" pitchFamily="18" charset="0"/>
                      </a:rPr>
                      <m:t>=</m:t>
                    </m:r>
                    <m:sSub>
                      <m:sSubPr>
                        <m:ctrlPr>
                          <a:rPr lang="en-CA" sz="2400" i="1">
                            <a:latin typeface="Cambria Math" panose="02040503050406030204" pitchFamily="18" charset="0"/>
                          </a:rPr>
                        </m:ctrlPr>
                      </m:sSubPr>
                      <m:e>
                        <m:r>
                          <a:rPr lang="en-US" sz="2400" i="1">
                            <a:latin typeface="Cambria Math" panose="02040503050406030204" pitchFamily="18" charset="0"/>
                          </a:rPr>
                          <m:t>𝛽</m:t>
                        </m:r>
                      </m:e>
                      <m:sub>
                        <m:r>
                          <a:rPr lang="en-US" sz="2400">
                            <a:latin typeface="Cambria Math" panose="02040503050406030204" pitchFamily="18" charset="0"/>
                          </a:rPr>
                          <m:t>1</m:t>
                        </m:r>
                      </m:sub>
                    </m:sSub>
                    <m:sSub>
                      <m:sSubPr>
                        <m:ctrlPr>
                          <a:rPr lang="en-CA"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r>
                          <a:rPr lang="en-US" sz="2400">
                            <a:latin typeface="Cambria Math" panose="02040503050406030204" pitchFamily="18" charset="0"/>
                          </a:rPr>
                          <m:t>1</m:t>
                        </m:r>
                      </m:sub>
                    </m:sSub>
                    <m:r>
                      <a:rPr lang="en-US" sz="2400">
                        <a:latin typeface="Cambria Math" panose="02040503050406030204" pitchFamily="18" charset="0"/>
                      </a:rPr>
                      <m:t>+</m:t>
                    </m:r>
                    <m:sSub>
                      <m:sSubPr>
                        <m:ctrlPr>
                          <a:rPr lang="en-CA" sz="2400" i="1">
                            <a:latin typeface="Cambria Math" panose="02040503050406030204" pitchFamily="18" charset="0"/>
                          </a:rPr>
                        </m:ctrlPr>
                      </m:sSubPr>
                      <m:e>
                        <m:r>
                          <a:rPr lang="en-US" sz="2400" i="1">
                            <a:latin typeface="Cambria Math" panose="02040503050406030204" pitchFamily="18" charset="0"/>
                          </a:rPr>
                          <m:t>𝛽</m:t>
                        </m:r>
                      </m:e>
                      <m:sub>
                        <m:r>
                          <a:rPr lang="en-US" sz="2400">
                            <a:latin typeface="Cambria Math" panose="02040503050406030204" pitchFamily="18" charset="0"/>
                          </a:rPr>
                          <m:t>2</m:t>
                        </m:r>
                      </m:sub>
                    </m:sSub>
                    <m:sSub>
                      <m:sSubPr>
                        <m:ctrlPr>
                          <a:rPr lang="en-CA"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r>
                          <a:rPr lang="en-US" sz="2400">
                            <a:latin typeface="Cambria Math" panose="02040503050406030204" pitchFamily="18" charset="0"/>
                          </a:rPr>
                          <m:t>2</m:t>
                        </m:r>
                      </m:sub>
                    </m:sSub>
                    <m:r>
                      <a:rPr lang="en-US" sz="2400">
                        <a:latin typeface="Cambria Math" panose="02040503050406030204" pitchFamily="18" charset="0"/>
                      </a:rPr>
                      <m:t>+⋯+</m:t>
                    </m:r>
                    <m:sSub>
                      <m:sSubPr>
                        <m:ctrlPr>
                          <a:rPr lang="en-CA" sz="2400" i="1">
                            <a:latin typeface="Cambria Math" panose="02040503050406030204" pitchFamily="18" charset="0"/>
                          </a:rPr>
                        </m:ctrlPr>
                      </m:sSubPr>
                      <m:e>
                        <m:r>
                          <a:rPr lang="en-US" sz="2400" i="1">
                            <a:latin typeface="Cambria Math" panose="02040503050406030204" pitchFamily="18" charset="0"/>
                          </a:rPr>
                          <m:t>𝛽</m:t>
                        </m:r>
                      </m:e>
                      <m:sub>
                        <m:r>
                          <a:rPr lang="en-US" sz="2400" i="1">
                            <a:latin typeface="Cambria Math" panose="02040503050406030204" pitchFamily="18" charset="0"/>
                          </a:rPr>
                          <m:t>𝑝</m:t>
                        </m:r>
                      </m:sub>
                    </m:sSub>
                    <m:sSub>
                      <m:sSubPr>
                        <m:ctrlPr>
                          <a:rPr lang="en-CA"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𝑖𝑝</m:t>
                        </m:r>
                      </m:sub>
                    </m:sSub>
                    <m:r>
                      <a:rPr lang="en-US" sz="2400">
                        <a:latin typeface="Cambria Math" panose="02040503050406030204" pitchFamily="18" charset="0"/>
                      </a:rPr>
                      <m:t>+</m:t>
                    </m:r>
                    <m:sSub>
                      <m:sSubPr>
                        <m:ctrlPr>
                          <a:rPr lang="en-CA" sz="2400" i="1">
                            <a:latin typeface="Cambria Math" panose="02040503050406030204" pitchFamily="18" charset="0"/>
                          </a:rPr>
                        </m:ctrlPr>
                      </m:sSubPr>
                      <m:e>
                        <m:r>
                          <a:rPr lang="en-US" sz="2400" i="1">
                            <a:latin typeface="Cambria Math" panose="02040503050406030204" pitchFamily="18" charset="0"/>
                          </a:rPr>
                          <m:t>𝜀</m:t>
                        </m:r>
                      </m:e>
                      <m:sub>
                        <m:r>
                          <a:rPr lang="en-US" sz="2400" i="1">
                            <a:latin typeface="Cambria Math" panose="02040503050406030204" pitchFamily="18" charset="0"/>
                          </a:rPr>
                          <m:t>𝑖</m:t>
                        </m:r>
                      </m:sub>
                    </m:sSub>
                  </m:oMath>
                </a14:m>
                <a:r>
                  <a:rPr lang="en-CA" sz="2400" dirty="0"/>
                  <a:t> finds the parameters by minimizing </a:t>
                </a:r>
                <a14:m>
                  <m:oMath xmlns:m="http://schemas.openxmlformats.org/officeDocument/2006/math">
                    <m:r>
                      <m:rPr>
                        <m:sty m:val="p"/>
                      </m:rPr>
                      <a:rPr lang="en-US" sz="2400">
                        <a:latin typeface="Cambria Math" panose="02040503050406030204" pitchFamily="18" charset="0"/>
                      </a:rPr>
                      <m:t>RSS</m:t>
                    </m:r>
                    <m:r>
                      <a:rPr lang="en-US" sz="2400">
                        <a:latin typeface="Cambria Math" panose="02040503050406030204" pitchFamily="18" charset="0"/>
                      </a:rPr>
                      <m:t>=</m:t>
                    </m:r>
                    <m:sSubSup>
                      <m:sSubSupPr>
                        <m:ctrlPr>
                          <a:rPr lang="en-CA" sz="2400" i="1">
                            <a:latin typeface="Cambria Math" panose="02040503050406030204" pitchFamily="18" charset="0"/>
                          </a:rPr>
                        </m:ctrlPr>
                      </m:sSubSupPr>
                      <m:e>
                        <m:r>
                          <a:rPr lang="en-US" sz="2400">
                            <a:latin typeface="Cambria Math" panose="02040503050406030204" pitchFamily="18" charset="0"/>
                          </a:rPr>
                          <m:t>∑</m:t>
                        </m:r>
                      </m:e>
                      <m:sub>
                        <m:r>
                          <a:rPr lang="en-US" sz="2400" i="1">
                            <a:latin typeface="Cambria Math" panose="02040503050406030204" pitchFamily="18" charset="0"/>
                          </a:rPr>
                          <m:t>𝑖</m:t>
                        </m:r>
                        <m:r>
                          <a:rPr lang="en-US" sz="2400">
                            <a:latin typeface="Cambria Math" panose="02040503050406030204" pitchFamily="18" charset="0"/>
                          </a:rPr>
                          <m:t>=1</m:t>
                        </m:r>
                      </m:sub>
                      <m:sup>
                        <m:r>
                          <a:rPr lang="en-US" sz="2400" i="1">
                            <a:latin typeface="Cambria Math" panose="02040503050406030204" pitchFamily="18" charset="0"/>
                          </a:rPr>
                          <m:t>𝑛</m:t>
                        </m:r>
                      </m:sup>
                    </m:sSubSup>
                    <m:r>
                      <a:rPr lang="en-US" sz="2400">
                        <a:latin typeface="Cambria Math" panose="02040503050406030204" pitchFamily="18" charset="0"/>
                      </a:rPr>
                      <m:t> </m:t>
                    </m:r>
                    <m:sSup>
                      <m:sSupPr>
                        <m:ctrlPr>
                          <a:rPr lang="en-CA" sz="2400" i="1">
                            <a:latin typeface="Cambria Math" panose="02040503050406030204" pitchFamily="18" charset="0"/>
                          </a:rPr>
                        </m:ctrlPr>
                      </m:sSupPr>
                      <m:e>
                        <m:d>
                          <m:dPr>
                            <m:ctrlPr>
                              <a:rPr lang="en-CA" sz="2400" i="1">
                                <a:latin typeface="Cambria Math" panose="02040503050406030204" pitchFamily="18" charset="0"/>
                              </a:rPr>
                            </m:ctrlPr>
                          </m:dPr>
                          <m:e>
                            <m:sSub>
                              <m:sSubPr>
                                <m:ctrlPr>
                                  <a:rPr lang="en-CA"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𝑖</m:t>
                                </m:r>
                              </m:sub>
                            </m:sSub>
                            <m:r>
                              <a:rPr lang="en-US" sz="2400" i="1">
                                <a:latin typeface="Cambria Math" panose="02040503050406030204" pitchFamily="18" charset="0"/>
                              </a:rPr>
                              <m:t>−</m:t>
                            </m:r>
                            <m:r>
                              <a:rPr lang="en-US" sz="2400" i="1">
                                <a:latin typeface="Cambria Math" panose="02040503050406030204" pitchFamily="18" charset="0"/>
                              </a:rPr>
                              <m:t>𝑓</m:t>
                            </m:r>
                            <m:d>
                              <m:dPr>
                                <m:ctrlPr>
                                  <a:rPr lang="en-CA" sz="2400" i="1">
                                    <a:latin typeface="Cambria Math" panose="02040503050406030204" pitchFamily="18" charset="0"/>
                                  </a:rPr>
                                </m:ctrlPr>
                              </m:dPr>
                              <m:e>
                                <m:sSub>
                                  <m:sSubPr>
                                    <m:ctrlPr>
                                      <a:rPr lang="en-CA"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e>
                            </m:d>
                          </m:e>
                        </m:d>
                      </m:e>
                      <m:sup>
                        <m:r>
                          <a:rPr lang="en-US" sz="2400">
                            <a:latin typeface="Cambria Math" panose="02040503050406030204" pitchFamily="18" charset="0"/>
                          </a:rPr>
                          <m:t>2</m:t>
                        </m:r>
                      </m:sup>
                    </m:sSup>
                  </m:oMath>
                </a14:m>
                <a:r>
                  <a:rPr lang="en-CA" sz="2400" dirty="0"/>
                  <a:t> and not trainable.</a:t>
                </a:r>
              </a:p>
              <a:p>
                <a:r>
                  <a:rPr lang="en-CA" sz="2400" dirty="0"/>
                  <a:t>But a RIDGE estimation of the same function using </a:t>
                </a:r>
                <a14:m>
                  <m:oMath xmlns:m="http://schemas.openxmlformats.org/officeDocument/2006/math">
                    <m:sSub>
                      <m:sSubPr>
                        <m:ctrlPr>
                          <a:rPr lang="en-CA" sz="2400" i="1">
                            <a:latin typeface="Cambria Math" panose="02040503050406030204" pitchFamily="18" charset="0"/>
                          </a:rPr>
                        </m:ctrlPr>
                      </m:sSubPr>
                      <m:e>
                        <m:r>
                          <a:rPr lang="en-US" sz="2400" i="1">
                            <a:latin typeface="Cambria Math" panose="02040503050406030204" pitchFamily="18" charset="0"/>
                          </a:rPr>
                          <m:t>𝐿</m:t>
                        </m:r>
                      </m:e>
                      <m:sub>
                        <m:r>
                          <m:rPr>
                            <m:nor/>
                          </m:rPr>
                          <a:rPr lang="en-US" sz="2400"/>
                          <m:t>ridge</m:t>
                        </m:r>
                        <m:r>
                          <m:rPr>
                            <m:nor/>
                          </m:rPr>
                          <a:rPr lang="en-US" sz="2400" i="1"/>
                          <m:t> </m:t>
                        </m:r>
                      </m:sub>
                    </m:sSub>
                    <m:r>
                      <a:rPr lang="en-US" sz="2400">
                        <a:latin typeface="Cambria Math" panose="02040503050406030204" pitchFamily="18" charset="0"/>
                      </a:rPr>
                      <m:t>(</m:t>
                    </m:r>
                    <m:acc>
                      <m:accPr>
                        <m:chr m:val="ˆ"/>
                        <m:ctrlPr>
                          <a:rPr lang="en-CA" sz="2400" i="1">
                            <a:latin typeface="Cambria Math" panose="02040503050406030204" pitchFamily="18" charset="0"/>
                          </a:rPr>
                        </m:ctrlPr>
                      </m:accPr>
                      <m:e>
                        <m:r>
                          <a:rPr lang="en-US" sz="2400" i="1">
                            <a:latin typeface="Cambria Math" panose="02040503050406030204" pitchFamily="18" charset="0"/>
                          </a:rPr>
                          <m:t>𝛽</m:t>
                        </m:r>
                      </m:e>
                    </m:acc>
                    <m:r>
                      <a:rPr lang="en-US" sz="2400">
                        <a:latin typeface="Cambria Math" panose="02040503050406030204" pitchFamily="18" charset="0"/>
                      </a:rPr>
                      <m:t>)=</m:t>
                    </m:r>
                    <m:sSubSup>
                      <m:sSubSupPr>
                        <m:ctrlPr>
                          <a:rPr lang="en-CA" sz="2400" i="1">
                            <a:latin typeface="Cambria Math" panose="02040503050406030204" pitchFamily="18" charset="0"/>
                          </a:rPr>
                        </m:ctrlPr>
                      </m:sSubSupPr>
                      <m:e>
                        <m:r>
                          <a:rPr lang="en-US" sz="2400">
                            <a:latin typeface="Cambria Math" panose="02040503050406030204" pitchFamily="18" charset="0"/>
                          </a:rPr>
                          <m:t>∑</m:t>
                        </m:r>
                      </m:e>
                      <m:sub>
                        <m:r>
                          <a:rPr lang="en-US" sz="2400" i="1">
                            <a:latin typeface="Cambria Math" panose="02040503050406030204" pitchFamily="18" charset="0"/>
                          </a:rPr>
                          <m:t>𝑖</m:t>
                        </m:r>
                        <m:r>
                          <a:rPr lang="en-US" sz="2400">
                            <a:latin typeface="Cambria Math" panose="02040503050406030204" pitchFamily="18" charset="0"/>
                          </a:rPr>
                          <m:t>=1</m:t>
                        </m:r>
                      </m:sub>
                      <m:sup>
                        <m:r>
                          <a:rPr lang="en-US" sz="2400" i="1">
                            <a:latin typeface="Cambria Math" panose="02040503050406030204" pitchFamily="18" charset="0"/>
                          </a:rPr>
                          <m:t>𝑛</m:t>
                        </m:r>
                      </m:sup>
                    </m:sSubSup>
                    <m:r>
                      <a:rPr lang="en-US" sz="2400">
                        <a:latin typeface="Cambria Math" panose="02040503050406030204" pitchFamily="18" charset="0"/>
                      </a:rPr>
                      <m:t> </m:t>
                    </m:r>
                    <m:sSup>
                      <m:sSupPr>
                        <m:ctrlPr>
                          <a:rPr lang="en-CA" sz="2400" i="1">
                            <a:latin typeface="Cambria Math" panose="02040503050406030204" pitchFamily="18" charset="0"/>
                          </a:rPr>
                        </m:ctrlPr>
                      </m:sSupPr>
                      <m:e>
                        <m:d>
                          <m:dPr>
                            <m:ctrlPr>
                              <a:rPr lang="en-CA" sz="2400" i="1">
                                <a:latin typeface="Cambria Math" panose="02040503050406030204" pitchFamily="18" charset="0"/>
                              </a:rPr>
                            </m:ctrlPr>
                          </m:dPr>
                          <m:e>
                            <m:sSub>
                              <m:sSubPr>
                                <m:ctrlPr>
                                  <a:rPr lang="en-CA" sz="2400" i="1">
                                    <a:latin typeface="Cambria Math" panose="02040503050406030204" pitchFamily="18" charset="0"/>
                                  </a:rPr>
                                </m:ctrlPr>
                              </m:sSubPr>
                              <m:e>
                                <m:r>
                                  <a:rPr lang="en-US" sz="2400" i="1">
                                    <a:latin typeface="Cambria Math" panose="02040503050406030204" pitchFamily="18" charset="0"/>
                                  </a:rPr>
                                  <m:t>𝑦</m:t>
                                </m:r>
                              </m:e>
                              <m:sub>
                                <m:r>
                                  <a:rPr lang="en-US" sz="2400" i="1">
                                    <a:latin typeface="Cambria Math" panose="02040503050406030204" pitchFamily="18" charset="0"/>
                                  </a:rPr>
                                  <m:t>𝑖</m:t>
                                </m:r>
                              </m:sub>
                            </m:sSub>
                            <m:r>
                              <a:rPr lang="en-US" sz="2400" i="1">
                                <a:latin typeface="Cambria Math" panose="02040503050406030204" pitchFamily="18" charset="0"/>
                              </a:rPr>
                              <m:t>−</m:t>
                            </m:r>
                            <m:r>
                              <a:rPr lang="en-US" sz="2400" i="1" smtClean="0">
                                <a:latin typeface="Cambria Math" panose="02040503050406030204" pitchFamily="18" charset="0"/>
                              </a:rPr>
                              <m:t>𝑓</m:t>
                            </m:r>
                            <m:d>
                              <m:dPr>
                                <m:ctrlPr>
                                  <a:rPr lang="en-CA" sz="2400" i="1">
                                    <a:latin typeface="Cambria Math" panose="02040503050406030204" pitchFamily="18" charset="0"/>
                                  </a:rPr>
                                </m:ctrlPr>
                              </m:dPr>
                              <m:e>
                                <m:sSub>
                                  <m:sSubPr>
                                    <m:ctrlPr>
                                      <a:rPr lang="en-CA" sz="2400" i="1">
                                        <a:latin typeface="Cambria Math" panose="02040503050406030204" pitchFamily="18" charset="0"/>
                                      </a:rPr>
                                    </m:ctrlPr>
                                  </m:sSubPr>
                                  <m:e>
                                    <m:r>
                                      <a:rPr lang="en-US" sz="2400" i="1">
                                        <a:latin typeface="Cambria Math" panose="02040503050406030204" pitchFamily="18" charset="0"/>
                                      </a:rPr>
                                      <m:t>𝑥</m:t>
                                    </m:r>
                                  </m:e>
                                  <m:sub>
                                    <m:r>
                                      <a:rPr lang="en-US" sz="2400" i="1">
                                        <a:latin typeface="Cambria Math" panose="02040503050406030204" pitchFamily="18" charset="0"/>
                                      </a:rPr>
                                      <m:t>𝑖</m:t>
                                    </m:r>
                                  </m:sub>
                                </m:sSub>
                              </m:e>
                            </m:d>
                          </m:e>
                        </m:d>
                      </m:e>
                      <m:sup>
                        <m:r>
                          <a:rPr lang="en-US" sz="2400">
                            <a:latin typeface="Cambria Math" panose="02040503050406030204" pitchFamily="18" charset="0"/>
                          </a:rPr>
                          <m:t>2</m:t>
                        </m:r>
                      </m:sup>
                    </m:sSup>
                    <m:r>
                      <a:rPr lang="en-US" sz="2400">
                        <a:latin typeface="Cambria Math" panose="02040503050406030204" pitchFamily="18" charset="0"/>
                      </a:rPr>
                      <m:t>+</m:t>
                    </m:r>
                    <m:r>
                      <a:rPr lang="en-US" sz="2400" i="1">
                        <a:latin typeface="Cambria Math" panose="02040503050406030204" pitchFamily="18" charset="0"/>
                      </a:rPr>
                      <m:t>𝜆</m:t>
                    </m:r>
                    <m:sSubSup>
                      <m:sSubSupPr>
                        <m:ctrlPr>
                          <a:rPr lang="en-CA" sz="2400" i="1">
                            <a:latin typeface="Cambria Math" panose="02040503050406030204" pitchFamily="18" charset="0"/>
                          </a:rPr>
                        </m:ctrlPr>
                      </m:sSubSupPr>
                      <m:e>
                        <m:r>
                          <a:rPr lang="en-US" sz="2400">
                            <a:latin typeface="Cambria Math" panose="02040503050406030204" pitchFamily="18" charset="0"/>
                          </a:rPr>
                          <m:t>∑</m:t>
                        </m:r>
                      </m:e>
                      <m:sub>
                        <m:r>
                          <a:rPr lang="en-CA" sz="2400" b="0" i="1">
                            <a:latin typeface="Cambria Math" panose="02040503050406030204" pitchFamily="18" charset="0"/>
                          </a:rPr>
                          <m:t>𝑖</m:t>
                        </m:r>
                        <m:r>
                          <a:rPr lang="en-US" sz="2400" i="1">
                            <a:latin typeface="Cambria Math" panose="02040503050406030204" pitchFamily="18" charset="0"/>
                          </a:rPr>
                          <m:t>−</m:t>
                        </m:r>
                        <m:r>
                          <a:rPr lang="en-US" sz="2400">
                            <a:latin typeface="Cambria Math" panose="02040503050406030204" pitchFamily="18" charset="0"/>
                          </a:rPr>
                          <m:t>1</m:t>
                        </m:r>
                      </m:sub>
                      <m:sup>
                        <m:r>
                          <a:rPr lang="en-US" sz="2400" i="1">
                            <a:latin typeface="Cambria Math" panose="02040503050406030204" pitchFamily="18" charset="0"/>
                          </a:rPr>
                          <m:t>𝑚</m:t>
                        </m:r>
                      </m:sup>
                    </m:sSubSup>
                    <m:r>
                      <a:rPr lang="en-US" sz="2400">
                        <a:latin typeface="Cambria Math" panose="02040503050406030204" pitchFamily="18" charset="0"/>
                      </a:rPr>
                      <m:t> </m:t>
                    </m:r>
                    <m:sSubSup>
                      <m:sSubSupPr>
                        <m:ctrlPr>
                          <a:rPr lang="en-CA" sz="2400" i="1">
                            <a:latin typeface="Cambria Math" panose="02040503050406030204" pitchFamily="18" charset="0"/>
                          </a:rPr>
                        </m:ctrlPr>
                      </m:sSubSupPr>
                      <m:e>
                        <m:acc>
                          <m:accPr>
                            <m:chr m:val="ˆ"/>
                            <m:ctrlPr>
                              <a:rPr lang="en-CA" sz="2400" i="1">
                                <a:latin typeface="Cambria Math" panose="02040503050406030204" pitchFamily="18" charset="0"/>
                              </a:rPr>
                            </m:ctrlPr>
                          </m:accPr>
                          <m:e>
                            <m:r>
                              <a:rPr lang="en-US" sz="2400" i="1">
                                <a:latin typeface="Cambria Math" panose="02040503050406030204" pitchFamily="18" charset="0"/>
                              </a:rPr>
                              <m:t>𝛽</m:t>
                            </m:r>
                          </m:e>
                        </m:acc>
                      </m:e>
                      <m:sub>
                        <m:r>
                          <a:rPr lang="en-CA" sz="2400" b="0" i="1">
                            <a:latin typeface="Cambria Math" panose="02040503050406030204" pitchFamily="18" charset="0"/>
                          </a:rPr>
                          <m:t>𝑖</m:t>
                        </m:r>
                      </m:sub>
                      <m:sup>
                        <m:r>
                          <a:rPr lang="en-US" sz="2400">
                            <a:latin typeface="Cambria Math" panose="02040503050406030204" pitchFamily="18" charset="0"/>
                          </a:rPr>
                          <m:t>2</m:t>
                        </m:r>
                      </m:sup>
                    </m:sSubSup>
                  </m:oMath>
                </a14:m>
                <a:r>
                  <a:rPr lang="en-CA" sz="2400" dirty="0"/>
                  <a:t> trainable due to </a:t>
                </a:r>
                <a14:m>
                  <m:oMath xmlns:m="http://schemas.openxmlformats.org/officeDocument/2006/math">
                    <m:r>
                      <a:rPr lang="en-US" sz="2400" i="1">
                        <a:latin typeface="Cambria Math" panose="02040503050406030204" pitchFamily="18" charset="0"/>
                      </a:rPr>
                      <m:t>𝜆</m:t>
                    </m:r>
                  </m:oMath>
                </a14:m>
                <a:r>
                  <a:rPr lang="en-CA" sz="2400" dirty="0"/>
                  <a:t>, called as ”</a:t>
                </a:r>
                <a:r>
                  <a:rPr lang="en-CA" sz="2400" dirty="0">
                    <a:solidFill>
                      <a:schemeClr val="accent5"/>
                    </a:solidFill>
                  </a:rPr>
                  <a:t>tuning</a:t>
                </a:r>
                <a:r>
                  <a:rPr lang="en-CA" sz="2400" dirty="0"/>
                  <a:t>” or “</a:t>
                </a:r>
                <a:r>
                  <a:rPr lang="en-CA" sz="2400" dirty="0">
                    <a:solidFill>
                      <a:schemeClr val="accent5"/>
                    </a:solidFill>
                  </a:rPr>
                  <a:t>hyperparameter</a:t>
                </a:r>
                <a:r>
                  <a:rPr lang="en-CA" sz="2400" dirty="0"/>
                  <a:t>”</a:t>
                </a:r>
                <a:endParaRPr lang="en-US" sz="2200" dirty="0"/>
              </a:p>
            </p:txBody>
          </p:sp>
        </mc:Choice>
        <mc:Fallback xmlns="">
          <p:sp>
            <p:nvSpPr>
              <p:cNvPr id="3" name="Content Placeholder 2">
                <a:extLst>
                  <a:ext uri="{FF2B5EF4-FFF2-40B4-BE49-F238E27FC236}">
                    <a16:creationId xmlns:a16="http://schemas.microsoft.com/office/drawing/2014/main" id="{E2A9453C-E896-104F-A2F9-C83887D6C21A}"/>
                  </a:ext>
                </a:extLst>
              </p:cNvPr>
              <p:cNvSpPr>
                <a:spLocks noGrp="1" noRot="1" noChangeAspect="1" noMove="1" noResize="1" noEditPoints="1" noAdjustHandles="1" noChangeArrowheads="1" noChangeShapeType="1" noTextEdit="1"/>
              </p:cNvSpPr>
              <p:nvPr>
                <p:ph idx="1"/>
              </p:nvPr>
            </p:nvSpPr>
            <p:spPr>
              <a:xfrm>
                <a:off x="5126418" y="552091"/>
                <a:ext cx="6946520" cy="5431536"/>
              </a:xfrm>
              <a:blipFill>
                <a:blip r:embed="rId2"/>
                <a:stretch>
                  <a:fillRect l="-1277" r="-1460"/>
                </a:stretch>
              </a:blipFill>
            </p:spPr>
            <p:txBody>
              <a:bodyPr/>
              <a:lstStyle/>
              <a:p>
                <a:r>
                  <a:rPr lang="en-US">
                    <a:noFill/>
                  </a:rPr>
                  <a:t> </a:t>
                </a:r>
              </a:p>
            </p:txBody>
          </p:sp>
        </mc:Fallback>
      </mc:AlternateContent>
    </p:spTree>
    <p:extLst>
      <p:ext uri="{BB962C8B-B14F-4D97-AF65-F5344CB8AC3E}">
        <p14:creationId xmlns:p14="http://schemas.microsoft.com/office/powerpoint/2010/main" val="24741399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EC6AF-71A9-7CFB-2578-B98A91F81794}"/>
              </a:ext>
            </a:extLst>
          </p:cNvPr>
          <p:cNvSpPr>
            <a:spLocks noGrp="1"/>
          </p:cNvSpPr>
          <p:nvPr>
            <p:ph type="title"/>
          </p:nvPr>
        </p:nvSpPr>
        <p:spPr/>
        <p:txBody>
          <a:bodyPr/>
          <a:lstStyle/>
          <a:p>
            <a:r>
              <a:rPr lang="en-US" dirty="0"/>
              <a:t>Typical training: cross-validation</a:t>
            </a:r>
          </a:p>
        </p:txBody>
      </p:sp>
      <p:pic>
        <p:nvPicPr>
          <p:cNvPr id="4" name="Content Placeholder 4" descr="Table&#10;&#10;Description automatically generated">
            <a:extLst>
              <a:ext uri="{FF2B5EF4-FFF2-40B4-BE49-F238E27FC236}">
                <a16:creationId xmlns:a16="http://schemas.microsoft.com/office/drawing/2014/main" id="{CFA8C5F8-1FC1-0E39-9C09-A6825BBC1AD5}"/>
              </a:ext>
            </a:extLst>
          </p:cNvPr>
          <p:cNvPicPr>
            <a:picLocks noChangeAspect="1"/>
          </p:cNvPicPr>
          <p:nvPr/>
        </p:nvPicPr>
        <p:blipFill>
          <a:blip r:embed="rId2"/>
          <a:stretch>
            <a:fillRect/>
          </a:stretch>
        </p:blipFill>
        <p:spPr>
          <a:xfrm>
            <a:off x="2013126" y="1690688"/>
            <a:ext cx="7074043" cy="4802187"/>
          </a:xfrm>
          <a:prstGeom prst="rect">
            <a:avLst/>
          </a:prstGeom>
        </p:spPr>
      </p:pic>
    </p:spTree>
    <p:extLst>
      <p:ext uri="{BB962C8B-B14F-4D97-AF65-F5344CB8AC3E}">
        <p14:creationId xmlns:p14="http://schemas.microsoft.com/office/powerpoint/2010/main" val="1417150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48ED0DF1-3F71-4649-A9B6-4DB1386EA7A9}"/>
              </a:ext>
            </a:extLst>
          </p:cNvPr>
          <p:cNvSpPr/>
          <p:nvPr/>
        </p:nvSpPr>
        <p:spPr>
          <a:xfrm>
            <a:off x="299123" y="1967382"/>
            <a:ext cx="2116667" cy="181789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Population: {Y;X’}</a:t>
            </a:r>
          </a:p>
        </p:txBody>
      </p:sp>
      <p:sp>
        <p:nvSpPr>
          <p:cNvPr id="7" name="Oval 6">
            <a:extLst>
              <a:ext uri="{FF2B5EF4-FFF2-40B4-BE49-F238E27FC236}">
                <a16:creationId xmlns:a16="http://schemas.microsoft.com/office/drawing/2014/main" id="{733688F3-2293-9348-A9E2-843A37E11E8B}"/>
              </a:ext>
            </a:extLst>
          </p:cNvPr>
          <p:cNvSpPr/>
          <p:nvPr/>
        </p:nvSpPr>
        <p:spPr>
          <a:xfrm>
            <a:off x="3352900" y="1967382"/>
            <a:ext cx="1055077" cy="870113"/>
          </a:xfrm>
          <a:prstGeom prst="ellipse">
            <a:avLst/>
          </a:prstGeom>
          <a:solidFill>
            <a:schemeClr val="accent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Sample 1</a:t>
            </a:r>
          </a:p>
        </p:txBody>
      </p:sp>
      <p:cxnSp>
        <p:nvCxnSpPr>
          <p:cNvPr id="9" name="Elbow Connector 8">
            <a:extLst>
              <a:ext uri="{FF2B5EF4-FFF2-40B4-BE49-F238E27FC236}">
                <a16:creationId xmlns:a16="http://schemas.microsoft.com/office/drawing/2014/main" id="{F3D0F289-D578-2748-89E2-0B758D2B7256}"/>
              </a:ext>
            </a:extLst>
          </p:cNvPr>
          <p:cNvCxnSpPr>
            <a:cxnSpLocks/>
          </p:cNvCxnSpPr>
          <p:nvPr/>
        </p:nvCxnSpPr>
        <p:spPr>
          <a:xfrm flipV="1">
            <a:off x="1492082" y="3429000"/>
            <a:ext cx="1392263" cy="2049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C592DB7-45CD-E04B-8F74-D89667B40FC7}"/>
              </a:ext>
            </a:extLst>
          </p:cNvPr>
          <p:cNvSpPr txBox="1"/>
          <p:nvPr/>
        </p:nvSpPr>
        <p:spPr>
          <a:xfrm>
            <a:off x="639631" y="4629328"/>
            <a:ext cx="3867975" cy="1200329"/>
          </a:xfrm>
          <a:prstGeom prst="rect">
            <a:avLst/>
          </a:prstGeom>
          <a:noFill/>
        </p:spPr>
        <p:txBody>
          <a:bodyPr wrap="square" rtlCol="0">
            <a:spAutoFit/>
          </a:bodyPr>
          <a:lstStyle/>
          <a:p>
            <a:r>
              <a:rPr lang="en-US" b="1" dirty="0">
                <a:solidFill>
                  <a:schemeClr val="accent1"/>
                </a:solidFill>
              </a:rPr>
              <a:t>Objective: </a:t>
            </a:r>
            <a:r>
              <a:rPr lang="en-US" dirty="0"/>
              <a:t>find a predictive model/algorithm</a:t>
            </a:r>
          </a:p>
          <a:p>
            <a:r>
              <a:rPr lang="en-US" dirty="0"/>
              <a:t>using the sample that predict unobserved Y’s in the population</a:t>
            </a:r>
          </a:p>
        </p:txBody>
      </p:sp>
      <p:sp>
        <p:nvSpPr>
          <p:cNvPr id="12" name="TextBox 11">
            <a:extLst>
              <a:ext uri="{FF2B5EF4-FFF2-40B4-BE49-F238E27FC236}">
                <a16:creationId xmlns:a16="http://schemas.microsoft.com/office/drawing/2014/main" id="{C3763B48-B667-D848-A05E-9A8CA414FA75}"/>
              </a:ext>
            </a:extLst>
          </p:cNvPr>
          <p:cNvSpPr txBox="1"/>
          <p:nvPr/>
        </p:nvSpPr>
        <p:spPr>
          <a:xfrm>
            <a:off x="5444717" y="1028343"/>
            <a:ext cx="5715652" cy="4801314"/>
          </a:xfrm>
          <a:prstGeom prst="rect">
            <a:avLst/>
          </a:prstGeom>
          <a:noFill/>
        </p:spPr>
        <p:txBody>
          <a:bodyPr wrap="square" rtlCol="0">
            <a:spAutoFit/>
          </a:bodyPr>
          <a:lstStyle/>
          <a:p>
            <a:r>
              <a:rPr lang="en-US" sz="3200" b="1" dirty="0">
                <a:solidFill>
                  <a:schemeClr val="accent1"/>
                </a:solidFill>
              </a:rPr>
              <a:t>Problem:</a:t>
            </a:r>
            <a:r>
              <a:rPr lang="en-US" sz="3200" dirty="0"/>
              <a:t> if we find a model that “fits” Sample 1 very well – that is, although it’s unbiased and predicts Y’s in the sample very well - that model would be </a:t>
            </a:r>
            <a:r>
              <a:rPr lang="en-US" sz="3200" b="1" dirty="0">
                <a:solidFill>
                  <a:srgbClr val="FF0000"/>
                </a:solidFill>
              </a:rPr>
              <a:t>too specific</a:t>
            </a:r>
            <a:r>
              <a:rPr lang="en-US" sz="3200" dirty="0"/>
              <a:t> for the sample and may not be </a:t>
            </a:r>
            <a:r>
              <a:rPr lang="en-US" sz="3200" dirty="0">
                <a:solidFill>
                  <a:srgbClr val="FF0000"/>
                </a:solidFill>
              </a:rPr>
              <a:t>generalizable</a:t>
            </a:r>
            <a:r>
              <a:rPr lang="en-US" sz="3200" dirty="0"/>
              <a:t> for other data (like Sample2) not in the sample </a:t>
            </a:r>
          </a:p>
          <a:p>
            <a:endParaRPr lang="en-US" dirty="0"/>
          </a:p>
        </p:txBody>
      </p:sp>
      <p:sp>
        <p:nvSpPr>
          <p:cNvPr id="2" name="TextBox 1">
            <a:extLst>
              <a:ext uri="{FF2B5EF4-FFF2-40B4-BE49-F238E27FC236}">
                <a16:creationId xmlns:a16="http://schemas.microsoft.com/office/drawing/2014/main" id="{48AC167F-B3A9-D342-9F83-3B1CE6C8CA55}"/>
              </a:ext>
            </a:extLst>
          </p:cNvPr>
          <p:cNvSpPr txBox="1"/>
          <p:nvPr/>
        </p:nvSpPr>
        <p:spPr>
          <a:xfrm>
            <a:off x="462987" y="126969"/>
            <a:ext cx="5800049" cy="523220"/>
          </a:xfrm>
          <a:prstGeom prst="rect">
            <a:avLst/>
          </a:prstGeom>
          <a:noFill/>
        </p:spPr>
        <p:txBody>
          <a:bodyPr wrap="none" rtlCol="0">
            <a:spAutoFit/>
          </a:bodyPr>
          <a:lstStyle/>
          <a:p>
            <a:r>
              <a:rPr lang="en-US" sz="2800" b="1" dirty="0"/>
              <a:t>Why training is important: Overfitting</a:t>
            </a:r>
          </a:p>
        </p:txBody>
      </p:sp>
      <p:sp>
        <p:nvSpPr>
          <p:cNvPr id="14" name="Oval 13">
            <a:extLst>
              <a:ext uri="{FF2B5EF4-FFF2-40B4-BE49-F238E27FC236}">
                <a16:creationId xmlns:a16="http://schemas.microsoft.com/office/drawing/2014/main" id="{1513354F-A866-2EE0-747C-01BB34CE2FDC}"/>
              </a:ext>
            </a:extLst>
          </p:cNvPr>
          <p:cNvSpPr/>
          <p:nvPr/>
        </p:nvSpPr>
        <p:spPr>
          <a:xfrm>
            <a:off x="2825362" y="3174775"/>
            <a:ext cx="1055077" cy="870113"/>
          </a:xfrm>
          <a:prstGeom prst="ellipse">
            <a:avLst/>
          </a:prstGeom>
          <a:solidFill>
            <a:schemeClr val="accent2"/>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Sample 2</a:t>
            </a:r>
          </a:p>
        </p:txBody>
      </p:sp>
      <p:cxnSp>
        <p:nvCxnSpPr>
          <p:cNvPr id="15" name="Elbow Connector 14">
            <a:extLst>
              <a:ext uri="{FF2B5EF4-FFF2-40B4-BE49-F238E27FC236}">
                <a16:creationId xmlns:a16="http://schemas.microsoft.com/office/drawing/2014/main" id="{C02D0B78-5840-03F2-0897-8F1EFCE03558}"/>
              </a:ext>
            </a:extLst>
          </p:cNvPr>
          <p:cNvCxnSpPr>
            <a:cxnSpLocks/>
          </p:cNvCxnSpPr>
          <p:nvPr/>
        </p:nvCxnSpPr>
        <p:spPr>
          <a:xfrm flipV="1">
            <a:off x="1805243" y="2413695"/>
            <a:ext cx="1392263" cy="20496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5417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3FF91-CB28-5FE3-A2A8-BA598C5FCB47}"/>
              </a:ext>
            </a:extLst>
          </p:cNvPr>
          <p:cNvSpPr>
            <a:spLocks noGrp="1"/>
          </p:cNvSpPr>
          <p:nvPr>
            <p:ph type="title"/>
          </p:nvPr>
        </p:nvSpPr>
        <p:spPr/>
        <p:txBody>
          <a:bodyPr/>
          <a:lstStyle/>
          <a:p>
            <a:r>
              <a:rPr lang="en-US" dirty="0"/>
              <a:t>Overfitting</a:t>
            </a:r>
          </a:p>
        </p:txBody>
      </p:sp>
      <p:pic>
        <p:nvPicPr>
          <p:cNvPr id="4" name="Picture 3">
            <a:extLst>
              <a:ext uri="{FF2B5EF4-FFF2-40B4-BE49-F238E27FC236}">
                <a16:creationId xmlns:a16="http://schemas.microsoft.com/office/drawing/2014/main" id="{C07A2903-616C-78A3-58A3-110CD560A8DD}"/>
              </a:ext>
            </a:extLst>
          </p:cNvPr>
          <p:cNvPicPr>
            <a:picLocks noChangeAspect="1"/>
          </p:cNvPicPr>
          <p:nvPr/>
        </p:nvPicPr>
        <p:blipFill>
          <a:blip r:embed="rId2"/>
          <a:stretch>
            <a:fillRect/>
          </a:stretch>
        </p:blipFill>
        <p:spPr>
          <a:xfrm>
            <a:off x="442686" y="1690688"/>
            <a:ext cx="7052128" cy="4578102"/>
          </a:xfrm>
          <a:prstGeom prst="rect">
            <a:avLst/>
          </a:prstGeom>
        </p:spPr>
      </p:pic>
      <p:sp>
        <p:nvSpPr>
          <p:cNvPr id="7" name="TextBox 6">
            <a:extLst>
              <a:ext uri="{FF2B5EF4-FFF2-40B4-BE49-F238E27FC236}">
                <a16:creationId xmlns:a16="http://schemas.microsoft.com/office/drawing/2014/main" id="{9B61CFEA-20BF-005D-17FF-A1AB65EBAFF3}"/>
              </a:ext>
            </a:extLst>
          </p:cNvPr>
          <p:cNvSpPr txBox="1"/>
          <p:nvPr/>
        </p:nvSpPr>
        <p:spPr>
          <a:xfrm>
            <a:off x="7889631" y="2133079"/>
            <a:ext cx="4067907" cy="3693319"/>
          </a:xfrm>
          <a:prstGeom prst="rect">
            <a:avLst/>
          </a:prstGeom>
          <a:noFill/>
        </p:spPr>
        <p:txBody>
          <a:bodyPr wrap="square" rtlCol="0">
            <a:spAutoFit/>
          </a:bodyPr>
          <a:lstStyle/>
          <a:p>
            <a:pPr marL="285750" indent="-285750" algn="just">
              <a:buFont typeface="Arial" panose="020B0604020202020204" pitchFamily="34" charset="0"/>
              <a:buChar char="•"/>
            </a:pPr>
            <a:r>
              <a:rPr lang="en-CA" i="0" dirty="0">
                <a:effectLst/>
                <a:latin typeface="Söhne"/>
              </a:rPr>
              <a:t>The number of epochs is the number of times the algorithm works through the complete training dataset. </a:t>
            </a:r>
          </a:p>
          <a:p>
            <a:pPr marL="285750" indent="-285750" algn="just">
              <a:buFont typeface="Arial" panose="020B0604020202020204" pitchFamily="34" charset="0"/>
              <a:buChar char="•"/>
            </a:pPr>
            <a:r>
              <a:rPr lang="en-CA" i="0" dirty="0">
                <a:effectLst/>
                <a:latin typeface="Söhne"/>
              </a:rPr>
              <a:t>We need multiple passes through the entire data because updating the weights with gradient descent in a single pass (one epoch) is not enough.</a:t>
            </a:r>
          </a:p>
          <a:p>
            <a:pPr marL="285750" indent="-285750" algn="just">
              <a:buFont typeface="Arial" panose="020B0604020202020204" pitchFamily="34" charset="0"/>
              <a:buChar char="•"/>
            </a:pPr>
            <a:r>
              <a:rPr lang="en-CA" i="0" dirty="0">
                <a:effectLst/>
                <a:latin typeface="Söhne"/>
              </a:rPr>
              <a:t>But, when the number of epochs goes up, the algorithm updates the weights more. </a:t>
            </a:r>
          </a:p>
          <a:p>
            <a:pPr marL="285750" indent="-285750" algn="just">
              <a:buFont typeface="Arial" panose="020B0604020202020204" pitchFamily="34" charset="0"/>
              <a:buChar char="•"/>
            </a:pPr>
            <a:r>
              <a:rPr lang="en-CA" i="0" dirty="0">
                <a:effectLst/>
                <a:latin typeface="Söhne"/>
              </a:rPr>
              <a:t>As a result, the curve goes from underfitting (very few runs) to overfitting (too many runs).</a:t>
            </a:r>
          </a:p>
        </p:txBody>
      </p:sp>
    </p:spTree>
    <p:extLst>
      <p:ext uri="{BB962C8B-B14F-4D97-AF65-F5344CB8AC3E}">
        <p14:creationId xmlns:p14="http://schemas.microsoft.com/office/powerpoint/2010/main" val="783428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343E91-BF9A-402C-C337-E58933E29BA1}"/>
              </a:ext>
            </a:extLst>
          </p:cNvPr>
          <p:cNvSpPr>
            <a:spLocks noGrp="1"/>
          </p:cNvSpPr>
          <p:nvPr>
            <p:ph type="title"/>
          </p:nvPr>
        </p:nvSpPr>
        <p:spPr/>
        <p:txBody>
          <a:bodyPr/>
          <a:lstStyle/>
          <a:p>
            <a:r>
              <a:rPr lang="en-US" dirty="0"/>
              <a:t>Overfitting is related to Bias – Variance Tradeoff</a:t>
            </a:r>
          </a:p>
        </p:txBody>
      </p:sp>
      <p:pic>
        <p:nvPicPr>
          <p:cNvPr id="5" name="Picture 4" descr="A graph of a line graph&#10;&#10;Description automatically generated with medium confidence">
            <a:extLst>
              <a:ext uri="{FF2B5EF4-FFF2-40B4-BE49-F238E27FC236}">
                <a16:creationId xmlns:a16="http://schemas.microsoft.com/office/drawing/2014/main" id="{41D61C78-B224-9463-2F41-847FD3E8328D}"/>
              </a:ext>
            </a:extLst>
          </p:cNvPr>
          <p:cNvPicPr>
            <a:picLocks noChangeAspect="1"/>
          </p:cNvPicPr>
          <p:nvPr/>
        </p:nvPicPr>
        <p:blipFill>
          <a:blip r:embed="rId2"/>
          <a:stretch>
            <a:fillRect/>
          </a:stretch>
        </p:blipFill>
        <p:spPr>
          <a:xfrm>
            <a:off x="1500553" y="1611385"/>
            <a:ext cx="8135816" cy="4881490"/>
          </a:xfrm>
          <a:prstGeom prst="rect">
            <a:avLst/>
          </a:prstGeom>
        </p:spPr>
      </p:pic>
    </p:spTree>
    <p:extLst>
      <p:ext uri="{BB962C8B-B14F-4D97-AF65-F5344CB8AC3E}">
        <p14:creationId xmlns:p14="http://schemas.microsoft.com/office/powerpoint/2010/main" val="3357729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EBEFE-3A31-7342-826C-681DCE75D02D}"/>
              </a:ext>
            </a:extLst>
          </p:cNvPr>
          <p:cNvSpPr>
            <a:spLocks noGrp="1"/>
          </p:cNvSpPr>
          <p:nvPr>
            <p:ph type="title"/>
          </p:nvPr>
        </p:nvSpPr>
        <p:spPr/>
        <p:txBody>
          <a:bodyPr/>
          <a:lstStyle/>
          <a:p>
            <a:r>
              <a:rPr lang="en-US" dirty="0"/>
              <a:t>Interpretability vs. Accuracy</a:t>
            </a:r>
          </a:p>
        </p:txBody>
      </p:sp>
      <p:pic>
        <p:nvPicPr>
          <p:cNvPr id="5" name="Content Placeholder 4" descr="Text&#10;&#10;Description automatically generated with medium confidence">
            <a:extLst>
              <a:ext uri="{FF2B5EF4-FFF2-40B4-BE49-F238E27FC236}">
                <a16:creationId xmlns:a16="http://schemas.microsoft.com/office/drawing/2014/main" id="{79230870-171F-D44E-B09D-89F50F02C788}"/>
              </a:ext>
            </a:extLst>
          </p:cNvPr>
          <p:cNvPicPr>
            <a:picLocks noGrp="1" noChangeAspect="1"/>
          </p:cNvPicPr>
          <p:nvPr>
            <p:ph idx="1"/>
          </p:nvPr>
        </p:nvPicPr>
        <p:blipFill>
          <a:blip r:embed="rId2"/>
          <a:stretch>
            <a:fillRect/>
          </a:stretch>
        </p:blipFill>
        <p:spPr>
          <a:xfrm>
            <a:off x="1136889" y="1524000"/>
            <a:ext cx="8369061" cy="5084613"/>
          </a:xfrm>
        </p:spPr>
      </p:pic>
    </p:spTree>
    <p:extLst>
      <p:ext uri="{BB962C8B-B14F-4D97-AF65-F5344CB8AC3E}">
        <p14:creationId xmlns:p14="http://schemas.microsoft.com/office/powerpoint/2010/main" val="4194339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42D03-29D2-C645-8556-196521EFB274}"/>
              </a:ext>
            </a:extLst>
          </p:cNvPr>
          <p:cNvSpPr>
            <a:spLocks noGrp="1"/>
          </p:cNvSpPr>
          <p:nvPr>
            <p:ph type="title"/>
          </p:nvPr>
        </p:nvSpPr>
        <p:spPr>
          <a:xfrm>
            <a:off x="635000" y="640823"/>
            <a:ext cx="3418659" cy="5583148"/>
          </a:xfrm>
        </p:spPr>
        <p:txBody>
          <a:bodyPr anchor="ctr">
            <a:normAutofit/>
          </a:bodyPr>
          <a:lstStyle/>
          <a:p>
            <a:r>
              <a:rPr lang="en-US" sz="5400" b="1" dirty="0"/>
              <a:t>Black Box</a:t>
            </a:r>
          </a:p>
        </p:txBody>
      </p:sp>
      <p:graphicFrame>
        <p:nvGraphicFramePr>
          <p:cNvPr id="5" name="Content Placeholder 2">
            <a:extLst>
              <a:ext uri="{FF2B5EF4-FFF2-40B4-BE49-F238E27FC236}">
                <a16:creationId xmlns:a16="http://schemas.microsoft.com/office/drawing/2014/main" id="{19360D37-3CF8-479A-BF80-E7DC2BB46F9F}"/>
              </a:ext>
            </a:extLst>
          </p:cNvPr>
          <p:cNvGraphicFramePr>
            <a:graphicFrameLocks noGrp="1"/>
          </p:cNvGraphicFramePr>
          <p:nvPr>
            <p:ph idx="1"/>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71977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A6111-4CF9-8A36-1E59-3F8DF7AC2C6D}"/>
              </a:ext>
            </a:extLst>
          </p:cNvPr>
          <p:cNvSpPr>
            <a:spLocks noGrp="1"/>
          </p:cNvSpPr>
          <p:nvPr>
            <p:ph type="title"/>
          </p:nvPr>
        </p:nvSpPr>
        <p:spPr>
          <a:xfrm>
            <a:off x="838200" y="350226"/>
            <a:ext cx="10515600" cy="1009651"/>
          </a:xfrm>
        </p:spPr>
        <p:txBody>
          <a:bodyPr/>
          <a:lstStyle/>
          <a:p>
            <a:r>
              <a:rPr lang="en-US" b="1" dirty="0"/>
              <a:t>ML in Business</a:t>
            </a:r>
          </a:p>
        </p:txBody>
      </p:sp>
      <p:graphicFrame>
        <p:nvGraphicFramePr>
          <p:cNvPr id="14" name="Content Placeholder 2">
            <a:extLst>
              <a:ext uri="{FF2B5EF4-FFF2-40B4-BE49-F238E27FC236}">
                <a16:creationId xmlns:a16="http://schemas.microsoft.com/office/drawing/2014/main" id="{13404DB7-7E57-6A87-18F5-62D7E13F6160}"/>
              </a:ext>
            </a:extLst>
          </p:cNvPr>
          <p:cNvGraphicFramePr>
            <a:graphicFrameLocks noGrp="1"/>
          </p:cNvGraphicFramePr>
          <p:nvPr>
            <p:ph idx="1"/>
            <p:extLst>
              <p:ext uri="{D42A27DB-BD31-4B8C-83A1-F6EECF244321}">
                <p14:modId xmlns:p14="http://schemas.microsoft.com/office/powerpoint/2010/main" val="2693954275"/>
              </p:ext>
            </p:extLst>
          </p:nvPr>
        </p:nvGraphicFramePr>
        <p:xfrm>
          <a:off x="838200" y="1359877"/>
          <a:ext cx="10515600" cy="48170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183252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AEEAD4-D4E6-673C-BD36-94D0BD6E2385}"/>
              </a:ext>
            </a:extLst>
          </p:cNvPr>
          <p:cNvSpPr>
            <a:spLocks noGrp="1"/>
          </p:cNvSpPr>
          <p:nvPr>
            <p:ph type="title"/>
          </p:nvPr>
        </p:nvSpPr>
        <p:spPr>
          <a:xfrm>
            <a:off x="686834" y="1153572"/>
            <a:ext cx="3200400" cy="4461163"/>
          </a:xfrm>
        </p:spPr>
        <p:txBody>
          <a:bodyPr>
            <a:normAutofit/>
          </a:bodyPr>
          <a:lstStyle/>
          <a:p>
            <a:r>
              <a:rPr lang="en-CA" sz="3100" b="1" i="0" u="none" strike="noStrike">
                <a:solidFill>
                  <a:srgbClr val="FFFFFF"/>
                </a:solidFill>
                <a:effectLst/>
                <a:latin typeface="OracleSansVF"/>
              </a:rPr>
              <a:t>Recommendation Engines</a:t>
            </a:r>
            <a:br>
              <a:rPr lang="en-CA" sz="3100" b="1" i="0" u="none" strike="noStrike">
                <a:solidFill>
                  <a:srgbClr val="FFFFFF"/>
                </a:solidFill>
                <a:effectLst/>
                <a:latin typeface="OracleSansVF"/>
              </a:rPr>
            </a:br>
            <a:endParaRPr lang="en-US" sz="3100">
              <a:solidFill>
                <a:srgbClr val="FFFFFF"/>
              </a:solidFill>
            </a:endParaRPr>
          </a:p>
        </p:txBody>
      </p:sp>
      <p:sp>
        <p:nvSpPr>
          <p:cNvPr id="29" name="Arc 2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906D3BFE-11D9-6218-FF8B-39B2F3F99765}"/>
              </a:ext>
            </a:extLst>
          </p:cNvPr>
          <p:cNvSpPr>
            <a:spLocks noGrp="1"/>
          </p:cNvSpPr>
          <p:nvPr>
            <p:ph idx="1"/>
          </p:nvPr>
        </p:nvSpPr>
        <p:spPr>
          <a:xfrm>
            <a:off x="4447308" y="591344"/>
            <a:ext cx="6906491" cy="5585619"/>
          </a:xfrm>
        </p:spPr>
        <p:txBody>
          <a:bodyPr anchor="ctr">
            <a:normAutofit fontScale="77500" lnSpcReduction="20000"/>
          </a:bodyPr>
          <a:lstStyle/>
          <a:p>
            <a:r>
              <a:rPr lang="en-CA" sz="2600" dirty="0">
                <a:solidFill>
                  <a:srgbClr val="FF0000"/>
                </a:solidFill>
              </a:rPr>
              <a:t>Imagine you're browsing an online store, and you see a section titled "Customers who bought this also bought..." or "Recommended for you." That's a recommendation engine at work!</a:t>
            </a:r>
            <a:endParaRPr lang="en-CA" sz="4600" dirty="0">
              <a:solidFill>
                <a:srgbClr val="FF0000"/>
              </a:solidFill>
              <a:latin typeface="OracleSansVF"/>
            </a:endParaRPr>
          </a:p>
          <a:p>
            <a:pPr marL="0" indent="0">
              <a:buNone/>
            </a:pPr>
            <a:endParaRPr lang="en-CA" sz="2600" b="0" i="0" u="none" strike="noStrike" dirty="0">
              <a:effectLst/>
              <a:latin typeface="OracleSansVF"/>
            </a:endParaRPr>
          </a:p>
          <a:p>
            <a:r>
              <a:rPr lang="en-CA" sz="2600" b="0" i="0" u="none" strike="noStrike" dirty="0">
                <a:effectLst/>
                <a:latin typeface="OracleSansVF"/>
              </a:rPr>
              <a:t>In fact, Netflix values the </a:t>
            </a:r>
            <a:r>
              <a:rPr lang="en-CA" sz="2600" b="0" i="0" u="none" strike="noStrike" dirty="0">
                <a:effectLst/>
                <a:latin typeface="OracleSansVF"/>
                <a:hlinkClick r:id="rId2">
                  <a:extLst>
                    <a:ext uri="{A12FA001-AC4F-418D-AE19-62706E023703}">
                      <ahyp:hlinkClr xmlns:ahyp="http://schemas.microsoft.com/office/drawing/2018/hyperlinkcolor" val="tx"/>
                    </a:ext>
                  </a:extLst>
                </a:hlinkClick>
              </a:rPr>
              <a:t>recommendation engine</a:t>
            </a:r>
            <a:r>
              <a:rPr lang="en-CA" sz="2600" b="0" i="0" u="none" strike="noStrike" dirty="0">
                <a:effectLst/>
                <a:latin typeface="OracleSansVF"/>
              </a:rPr>
              <a:t> powering its content suggestions at $1 billion per year and Amazon says its system drives a 20-35% lift in sales annually. </a:t>
            </a:r>
          </a:p>
          <a:p>
            <a:endParaRPr lang="en-CA" sz="2600" dirty="0">
              <a:latin typeface="OracleSansVF"/>
            </a:endParaRPr>
          </a:p>
          <a:p>
            <a:r>
              <a:rPr lang="en-CA" sz="2600" b="0" i="0" u="none" strike="noStrike" dirty="0">
                <a:effectLst/>
                <a:latin typeface="OracleSansVF"/>
              </a:rPr>
              <a:t>That’s because </a:t>
            </a:r>
            <a:r>
              <a:rPr lang="en-CA" sz="2600" b="0" i="0" u="none" strike="noStrike" dirty="0">
                <a:effectLst/>
                <a:latin typeface="OracleSansVF"/>
                <a:hlinkClick r:id="rId3">
                  <a:extLst>
                    <a:ext uri="{A12FA001-AC4F-418D-AE19-62706E023703}">
                      <ahyp:hlinkClr xmlns:ahyp="http://schemas.microsoft.com/office/drawing/2018/hyperlinkcolor" val="tx"/>
                    </a:ext>
                  </a:extLst>
                </a:hlinkClick>
              </a:rPr>
              <a:t>recommendation engines</a:t>
            </a:r>
            <a:r>
              <a:rPr lang="en-CA" sz="2600" b="0" i="0" u="none" strike="noStrike" dirty="0">
                <a:effectLst/>
                <a:latin typeface="OracleSansVF"/>
              </a:rPr>
              <a:t> sift through large quantities of data to predict how likely any given customer is to purchase an item or enjoy a piece of content and then suggest those things to the user. </a:t>
            </a:r>
          </a:p>
          <a:p>
            <a:endParaRPr lang="en-CA" sz="2600" dirty="0"/>
          </a:p>
          <a:p>
            <a:r>
              <a:rPr lang="en-CA" sz="2600" b="1" dirty="0"/>
              <a:t>Examples of Recommendation Engines in Action:</a:t>
            </a:r>
            <a:endParaRPr lang="en-CA" sz="2600" dirty="0"/>
          </a:p>
          <a:p>
            <a:pPr lvl="1"/>
            <a:r>
              <a:rPr lang="en-CA" sz="2200" b="1" dirty="0"/>
              <a:t>E-commerce:</a:t>
            </a:r>
            <a:r>
              <a:rPr lang="en-CA" sz="2200" dirty="0"/>
              <a:t> Amazon, eBay (product recommendations)   </a:t>
            </a:r>
          </a:p>
          <a:p>
            <a:pPr lvl="1"/>
            <a:r>
              <a:rPr lang="en-CA" sz="2200" b="1" dirty="0"/>
              <a:t>Streaming services:</a:t>
            </a:r>
            <a:r>
              <a:rPr lang="en-CA" sz="2200" dirty="0"/>
              <a:t> Netflix, Spotify (movies, music)   </a:t>
            </a:r>
          </a:p>
          <a:p>
            <a:pPr lvl="1"/>
            <a:r>
              <a:rPr lang="en-CA" sz="2200" b="1" dirty="0"/>
              <a:t>Social media:</a:t>
            </a:r>
            <a:r>
              <a:rPr lang="en-CA" sz="2200" dirty="0"/>
              <a:t> Facebook, Instagram (friends, content)   </a:t>
            </a:r>
          </a:p>
          <a:p>
            <a:pPr lvl="1"/>
            <a:r>
              <a:rPr lang="en-CA" sz="2200" b="1" dirty="0"/>
              <a:t>News websites:</a:t>
            </a:r>
            <a:r>
              <a:rPr lang="en-CA" sz="2200" dirty="0"/>
              <a:t> Suggesting articles based on reading history</a:t>
            </a:r>
          </a:p>
        </p:txBody>
      </p:sp>
    </p:spTree>
    <p:extLst>
      <p:ext uri="{BB962C8B-B14F-4D97-AF65-F5344CB8AC3E}">
        <p14:creationId xmlns:p14="http://schemas.microsoft.com/office/powerpoint/2010/main" val="202076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5276C8-434A-3544-A1EA-2A6B47496B2F}"/>
              </a:ext>
            </a:extLst>
          </p:cNvPr>
          <p:cNvSpPr>
            <a:spLocks noGrp="1"/>
          </p:cNvSpPr>
          <p:nvPr>
            <p:ph type="title"/>
          </p:nvPr>
        </p:nvSpPr>
        <p:spPr>
          <a:xfrm>
            <a:off x="841248" y="548640"/>
            <a:ext cx="3600860" cy="5431536"/>
          </a:xfrm>
        </p:spPr>
        <p:txBody>
          <a:bodyPr>
            <a:normAutofit/>
          </a:bodyPr>
          <a:lstStyle/>
          <a:p>
            <a:r>
              <a:rPr lang="en-US" sz="5400" b="1" dirty="0"/>
              <a:t>ML in Scientific Research</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728EF39-1430-2443-8822-17C6178D8D78}"/>
              </a:ext>
            </a:extLst>
          </p:cNvPr>
          <p:cNvSpPr>
            <a:spLocks noGrp="1"/>
          </p:cNvSpPr>
          <p:nvPr>
            <p:ph idx="1"/>
          </p:nvPr>
        </p:nvSpPr>
        <p:spPr>
          <a:xfrm>
            <a:off x="5126418" y="552091"/>
            <a:ext cx="6224335" cy="5431536"/>
          </a:xfrm>
        </p:spPr>
        <p:txBody>
          <a:bodyPr anchor="ctr">
            <a:normAutofit fontScale="92500" lnSpcReduction="10000"/>
          </a:bodyPr>
          <a:lstStyle/>
          <a:p>
            <a:r>
              <a:rPr lang="en-US" sz="2400" dirty="0"/>
              <a:t>Use of new unconventional data</a:t>
            </a:r>
          </a:p>
          <a:p>
            <a:r>
              <a:rPr lang="en-US" sz="2400" dirty="0"/>
              <a:t>Better data management</a:t>
            </a:r>
          </a:p>
          <a:p>
            <a:r>
              <a:rPr lang="en-US" sz="2400" dirty="0"/>
              <a:t>New variables (like, text mining – Image reading)</a:t>
            </a:r>
          </a:p>
          <a:p>
            <a:r>
              <a:rPr lang="en-US" sz="2400" dirty="0"/>
              <a:t>Missing data recovery</a:t>
            </a:r>
          </a:p>
          <a:p>
            <a:r>
              <a:rPr lang="en-US" sz="2400" dirty="0"/>
              <a:t>Better proxy with new predicted variables</a:t>
            </a:r>
          </a:p>
          <a:p>
            <a:r>
              <a:rPr lang="en-US" sz="2400" dirty="0"/>
              <a:t>Dimension reduction</a:t>
            </a:r>
          </a:p>
          <a:p>
            <a:r>
              <a:rPr lang="en-US" sz="2400" dirty="0"/>
              <a:t>Model selection</a:t>
            </a:r>
          </a:p>
          <a:p>
            <a:r>
              <a:rPr lang="en-US" sz="2400" dirty="0"/>
              <a:t>Non-parametric estimations for functional form detection</a:t>
            </a:r>
          </a:p>
          <a:p>
            <a:r>
              <a:rPr lang="en-US" sz="2400" dirty="0"/>
              <a:t>Better classification</a:t>
            </a:r>
          </a:p>
          <a:p>
            <a:r>
              <a:rPr lang="en-US" sz="2400" dirty="0"/>
              <a:t>Forecasting</a:t>
            </a:r>
          </a:p>
          <a:p>
            <a:pPr marL="0" indent="0">
              <a:buNone/>
            </a:pPr>
            <a:endParaRPr lang="en-US" sz="2400" dirty="0"/>
          </a:p>
          <a:p>
            <a:pPr marL="0" indent="0">
              <a:buNone/>
            </a:pPr>
            <a:r>
              <a:rPr lang="en-US" sz="2400" dirty="0"/>
              <a:t>All of them are more relevant when the data is large</a:t>
            </a:r>
          </a:p>
          <a:p>
            <a:pPr marL="0" indent="0">
              <a:buNone/>
            </a:pPr>
            <a:r>
              <a:rPr lang="en-US" sz="2400" dirty="0"/>
              <a:t>n &lt;&lt; p</a:t>
            </a:r>
          </a:p>
        </p:txBody>
      </p:sp>
    </p:spTree>
    <p:extLst>
      <p:ext uri="{BB962C8B-B14F-4D97-AF65-F5344CB8AC3E}">
        <p14:creationId xmlns:p14="http://schemas.microsoft.com/office/powerpoint/2010/main" val="2311168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Diagram, engineering drawing&#10;&#10;Description automatically generated">
            <a:extLst>
              <a:ext uri="{FF2B5EF4-FFF2-40B4-BE49-F238E27FC236}">
                <a16:creationId xmlns:a16="http://schemas.microsoft.com/office/drawing/2014/main" id="{94B64083-5E63-5742-BFC7-907BAA8BB754}"/>
              </a:ext>
            </a:extLst>
          </p:cNvPr>
          <p:cNvPicPr>
            <a:picLocks noGrp="1" noChangeAspect="1"/>
          </p:cNvPicPr>
          <p:nvPr>
            <p:ph idx="1"/>
          </p:nvPr>
        </p:nvPicPr>
        <p:blipFill>
          <a:blip r:embed="rId2"/>
          <a:stretch>
            <a:fillRect/>
          </a:stretch>
        </p:blipFill>
        <p:spPr>
          <a:xfrm>
            <a:off x="714376" y="120755"/>
            <a:ext cx="5029200" cy="6616490"/>
          </a:xfrm>
        </p:spPr>
      </p:pic>
      <p:sp>
        <p:nvSpPr>
          <p:cNvPr id="6" name="TextBox 5">
            <a:extLst>
              <a:ext uri="{FF2B5EF4-FFF2-40B4-BE49-F238E27FC236}">
                <a16:creationId xmlns:a16="http://schemas.microsoft.com/office/drawing/2014/main" id="{E1AECBA4-9C8D-4043-A926-95EFCFB73597}"/>
              </a:ext>
            </a:extLst>
          </p:cNvPr>
          <p:cNvSpPr txBox="1"/>
          <p:nvPr/>
        </p:nvSpPr>
        <p:spPr>
          <a:xfrm>
            <a:off x="5952226" y="1410432"/>
            <a:ext cx="6239774" cy="4524315"/>
          </a:xfrm>
          <a:prstGeom prst="rect">
            <a:avLst/>
          </a:prstGeom>
          <a:noFill/>
        </p:spPr>
        <p:txBody>
          <a:bodyPr wrap="square" rtlCol="0">
            <a:spAutoFit/>
          </a:bodyPr>
          <a:lstStyle/>
          <a:p>
            <a:pPr marL="285750" lvl="0" indent="-285750">
              <a:buFont typeface="Arial" panose="020B0604020202020204" pitchFamily="34" charset="0"/>
              <a:buChar char="•"/>
            </a:pPr>
            <a:r>
              <a:rPr lang="en-CA" sz="3200" dirty="0"/>
              <a:t>Features</a:t>
            </a:r>
            <a:endParaRPr lang="en-US" sz="3200" dirty="0"/>
          </a:p>
          <a:p>
            <a:pPr marL="285750" lvl="0" indent="-285750">
              <a:buFont typeface="Arial" panose="020B0604020202020204" pitchFamily="34" charset="0"/>
              <a:buChar char="•"/>
            </a:pPr>
            <a:r>
              <a:rPr lang="en-CA" sz="3200" dirty="0"/>
              <a:t>To train an algorithm, tuning a model</a:t>
            </a:r>
          </a:p>
          <a:p>
            <a:pPr marL="285750" lvl="0" indent="-285750">
              <a:buFont typeface="Arial" panose="020B0604020202020204" pitchFamily="34" charset="0"/>
              <a:buChar char="•"/>
            </a:pPr>
            <a:r>
              <a:rPr lang="en-CA" sz="3200" dirty="0"/>
              <a:t>Training set, test set, validation set </a:t>
            </a:r>
            <a:endParaRPr lang="en-US" sz="3200" dirty="0"/>
          </a:p>
          <a:p>
            <a:pPr marL="285750" lvl="0" indent="-285750">
              <a:buFont typeface="Arial" panose="020B0604020202020204" pitchFamily="34" charset="0"/>
              <a:buChar char="•"/>
            </a:pPr>
            <a:r>
              <a:rPr lang="en-CA" sz="3200" dirty="0"/>
              <a:t>Labels </a:t>
            </a:r>
            <a:endParaRPr lang="en-US" sz="3200" dirty="0"/>
          </a:p>
          <a:p>
            <a:pPr marL="285750" lvl="0" indent="-285750">
              <a:buFont typeface="Arial" panose="020B0604020202020204" pitchFamily="34" charset="0"/>
              <a:buChar char="•"/>
            </a:pPr>
            <a:r>
              <a:rPr lang="en-CA" sz="3200" dirty="0"/>
              <a:t>Regression problem </a:t>
            </a:r>
            <a:endParaRPr lang="en-US" sz="3200" dirty="0"/>
          </a:p>
          <a:p>
            <a:pPr marL="285750" lvl="0" indent="-285750">
              <a:buFont typeface="Arial" panose="020B0604020202020204" pitchFamily="34" charset="0"/>
              <a:buChar char="•"/>
            </a:pPr>
            <a:r>
              <a:rPr lang="en-CA" sz="3200" dirty="0"/>
              <a:t>Classification</a:t>
            </a:r>
          </a:p>
          <a:p>
            <a:pPr marL="285750" lvl="0" indent="-285750">
              <a:buFont typeface="Arial" panose="020B0604020202020204" pitchFamily="34" charset="0"/>
              <a:buChar char="•"/>
            </a:pPr>
            <a:r>
              <a:rPr lang="en-CA" sz="3200" dirty="0"/>
              <a:t>Bias-Variance Trade-off </a:t>
            </a:r>
          </a:p>
          <a:p>
            <a:pPr marL="285750" lvl="0" indent="-285750">
              <a:buFont typeface="Arial" panose="020B0604020202020204" pitchFamily="34" charset="0"/>
              <a:buChar char="•"/>
            </a:pPr>
            <a:r>
              <a:rPr lang="en-CA" sz="3200" dirty="0"/>
              <a:t>Overfitting</a:t>
            </a:r>
            <a:endParaRPr lang="en-US" sz="3200" dirty="0"/>
          </a:p>
        </p:txBody>
      </p:sp>
      <p:sp>
        <p:nvSpPr>
          <p:cNvPr id="7" name="TextBox 6">
            <a:extLst>
              <a:ext uri="{FF2B5EF4-FFF2-40B4-BE49-F238E27FC236}">
                <a16:creationId xmlns:a16="http://schemas.microsoft.com/office/drawing/2014/main" id="{B71ED193-F8C9-BE42-BA2E-2A0CFE442578}"/>
              </a:ext>
            </a:extLst>
          </p:cNvPr>
          <p:cNvSpPr txBox="1"/>
          <p:nvPr/>
        </p:nvSpPr>
        <p:spPr>
          <a:xfrm>
            <a:off x="6096000" y="173593"/>
            <a:ext cx="4221605" cy="707886"/>
          </a:xfrm>
          <a:prstGeom prst="rect">
            <a:avLst/>
          </a:prstGeom>
          <a:noFill/>
        </p:spPr>
        <p:txBody>
          <a:bodyPr wrap="none" rtlCol="0">
            <a:spAutoFit/>
          </a:bodyPr>
          <a:lstStyle/>
          <a:p>
            <a:r>
              <a:rPr lang="en-US" sz="4000" b="1" dirty="0">
                <a:solidFill>
                  <a:srgbClr val="C00000"/>
                </a:solidFill>
              </a:rPr>
              <a:t>Different Language</a:t>
            </a:r>
          </a:p>
        </p:txBody>
      </p:sp>
    </p:spTree>
    <p:extLst>
      <p:ext uri="{BB962C8B-B14F-4D97-AF65-F5344CB8AC3E}">
        <p14:creationId xmlns:p14="http://schemas.microsoft.com/office/powerpoint/2010/main" val="1247849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9CF8D-063F-2245-9E90-2C33719D53B6}"/>
              </a:ext>
            </a:extLst>
          </p:cNvPr>
          <p:cNvSpPr>
            <a:spLocks noGrp="1"/>
          </p:cNvSpPr>
          <p:nvPr>
            <p:ph type="title"/>
          </p:nvPr>
        </p:nvSpPr>
        <p:spPr>
          <a:xfrm>
            <a:off x="838200" y="365125"/>
            <a:ext cx="10515600" cy="1120775"/>
          </a:xfrm>
        </p:spPr>
        <p:txBody>
          <a:bodyPr>
            <a:normAutofit/>
          </a:bodyPr>
          <a:lstStyle/>
          <a:p>
            <a:r>
              <a:rPr lang="en-CA" sz="4800" b="1" dirty="0"/>
              <a:t>Is Machine Learning Always Better?</a:t>
            </a:r>
            <a:endParaRPr lang="en-US" sz="4800" b="1" dirty="0"/>
          </a:p>
        </p:txBody>
      </p:sp>
      <p:pic>
        <p:nvPicPr>
          <p:cNvPr id="1025" name="Picture 1" descr="page144image9222784">
            <a:extLst>
              <a:ext uri="{FF2B5EF4-FFF2-40B4-BE49-F238E27FC236}">
                <a16:creationId xmlns:a16="http://schemas.microsoft.com/office/drawing/2014/main" id="{A482F551-D686-1443-B953-EB4F6FEC00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7687" y="1485900"/>
            <a:ext cx="6994989" cy="4983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0949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2199</TotalTime>
  <Words>2012</Words>
  <Application>Microsoft Macintosh PowerPoint</Application>
  <PresentationFormat>Widescreen</PresentationFormat>
  <Paragraphs>141</Paragraphs>
  <Slides>26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Arial</vt:lpstr>
      <vt:lpstr>Calibri</vt:lpstr>
      <vt:lpstr>Calibri Light</vt:lpstr>
      <vt:lpstr>Cambria Math</vt:lpstr>
      <vt:lpstr>OracleSansVF</vt:lpstr>
      <vt:lpstr>Söhne</vt:lpstr>
      <vt:lpstr>Wingdings</vt:lpstr>
      <vt:lpstr>Office Theme</vt:lpstr>
      <vt:lpstr>Machine Learning &amp; AI</vt:lpstr>
      <vt:lpstr>Hard to find a good definition…</vt:lpstr>
      <vt:lpstr>Simple Definition</vt:lpstr>
      <vt:lpstr>What does it do?</vt:lpstr>
      <vt:lpstr>Not new ... But,</vt:lpstr>
      <vt:lpstr>Let’s try… (from Introduction of Machine Learning – MIT Press)</vt:lpstr>
      <vt:lpstr>Statistical Learning by Machines</vt:lpstr>
      <vt:lpstr>Why it’s getting more popular…</vt:lpstr>
      <vt:lpstr>Big Data?</vt:lpstr>
      <vt:lpstr>5 V’s</vt:lpstr>
      <vt:lpstr>3 Types</vt:lpstr>
      <vt:lpstr>PowerPoint Presentation</vt:lpstr>
      <vt:lpstr>One needs…</vt:lpstr>
      <vt:lpstr>Repositories offering services/hosting a variety of machine learning models. </vt:lpstr>
      <vt:lpstr>How ML “models” are different than others?</vt:lpstr>
      <vt:lpstr>Typical training: cross-validation</vt:lpstr>
      <vt:lpstr>PowerPoint Presentation</vt:lpstr>
      <vt:lpstr>Overfitting</vt:lpstr>
      <vt:lpstr>Overfitting is related to Bias – Variance Tradeoff</vt:lpstr>
      <vt:lpstr>Interpretability vs. Accuracy</vt:lpstr>
      <vt:lpstr>Black Box</vt:lpstr>
      <vt:lpstr>ML in Business</vt:lpstr>
      <vt:lpstr>Recommendation Engines </vt:lpstr>
      <vt:lpstr>ML in Scientific Research</vt:lpstr>
      <vt:lpstr>PowerPoint Presentation</vt:lpstr>
      <vt:lpstr>Is Machine Learning Always Better?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in Research</dc:title>
  <dc:creator>Yigit Aydede</dc:creator>
  <cp:lastModifiedBy>Yigit Aydede</cp:lastModifiedBy>
  <cp:revision>34</cp:revision>
  <dcterms:created xsi:type="dcterms:W3CDTF">2021-11-18T06:41:57Z</dcterms:created>
  <dcterms:modified xsi:type="dcterms:W3CDTF">2025-01-14T15:52:43Z</dcterms:modified>
</cp:coreProperties>
</file>