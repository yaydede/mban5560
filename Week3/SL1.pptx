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8" r:id="rId3"/>
    <p:sldId id="260" r:id="rId4"/>
    <p:sldId id="261" r:id="rId5"/>
    <p:sldId id="262" r:id="rId6"/>
    <p:sldId id="264" r:id="rId7"/>
    <p:sldId id="267" r:id="rId8"/>
    <p:sldId id="269"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94"/>
  </p:normalViewPr>
  <p:slideViewPr>
    <p:cSldViewPr snapToGrid="0">
      <p:cViewPr varScale="1">
        <p:scale>
          <a:sx n="121" d="100"/>
          <a:sy n="121" d="100"/>
        </p:scale>
        <p:origin x="744"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5C7E91-E498-C9FF-B6F4-95244356F59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2BA03A9-D0CD-BAAD-F343-56EDBDA09DD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7A97D19-1FF8-DE02-A6E0-E5B6E5D2131B}"/>
              </a:ext>
            </a:extLst>
          </p:cNvPr>
          <p:cNvSpPr>
            <a:spLocks noGrp="1"/>
          </p:cNvSpPr>
          <p:nvPr>
            <p:ph type="dt" sz="half" idx="10"/>
          </p:nvPr>
        </p:nvSpPr>
        <p:spPr/>
        <p:txBody>
          <a:bodyPr/>
          <a:lstStyle/>
          <a:p>
            <a:fld id="{53CBBA67-7F73-9C4F-B26E-19ED47D51703}" type="datetimeFigureOut">
              <a:rPr lang="en-US" smtClean="0"/>
              <a:t>1/29/24</a:t>
            </a:fld>
            <a:endParaRPr lang="en-US"/>
          </a:p>
        </p:txBody>
      </p:sp>
      <p:sp>
        <p:nvSpPr>
          <p:cNvPr id="5" name="Footer Placeholder 4">
            <a:extLst>
              <a:ext uri="{FF2B5EF4-FFF2-40B4-BE49-F238E27FC236}">
                <a16:creationId xmlns:a16="http://schemas.microsoft.com/office/drawing/2014/main" id="{0067D825-9A87-5DB8-78C4-6696A22D0AF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C143D8A-F803-2261-23E7-691B5B1FF304}"/>
              </a:ext>
            </a:extLst>
          </p:cNvPr>
          <p:cNvSpPr>
            <a:spLocks noGrp="1"/>
          </p:cNvSpPr>
          <p:nvPr>
            <p:ph type="sldNum" sz="quarter" idx="12"/>
          </p:nvPr>
        </p:nvSpPr>
        <p:spPr/>
        <p:txBody>
          <a:bodyPr/>
          <a:lstStyle/>
          <a:p>
            <a:fld id="{7028438E-7476-DC41-9D8D-DA15F7878572}" type="slidenum">
              <a:rPr lang="en-US" smtClean="0"/>
              <a:t>‹#›</a:t>
            </a:fld>
            <a:endParaRPr lang="en-US"/>
          </a:p>
        </p:txBody>
      </p:sp>
    </p:spTree>
    <p:extLst>
      <p:ext uri="{BB962C8B-B14F-4D97-AF65-F5344CB8AC3E}">
        <p14:creationId xmlns:p14="http://schemas.microsoft.com/office/powerpoint/2010/main" val="32401820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15AF36-797E-8C9A-20D6-ED6D72C8EBF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302AAD6-2925-7931-4324-7E243DF25F1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CA1D2D4-275B-0AD5-6B8E-2E5715821927}"/>
              </a:ext>
            </a:extLst>
          </p:cNvPr>
          <p:cNvSpPr>
            <a:spLocks noGrp="1"/>
          </p:cNvSpPr>
          <p:nvPr>
            <p:ph type="dt" sz="half" idx="10"/>
          </p:nvPr>
        </p:nvSpPr>
        <p:spPr/>
        <p:txBody>
          <a:bodyPr/>
          <a:lstStyle/>
          <a:p>
            <a:fld id="{53CBBA67-7F73-9C4F-B26E-19ED47D51703}" type="datetimeFigureOut">
              <a:rPr lang="en-US" smtClean="0"/>
              <a:t>1/29/24</a:t>
            </a:fld>
            <a:endParaRPr lang="en-US"/>
          </a:p>
        </p:txBody>
      </p:sp>
      <p:sp>
        <p:nvSpPr>
          <p:cNvPr id="5" name="Footer Placeholder 4">
            <a:extLst>
              <a:ext uri="{FF2B5EF4-FFF2-40B4-BE49-F238E27FC236}">
                <a16:creationId xmlns:a16="http://schemas.microsoft.com/office/drawing/2014/main" id="{4882C6CD-0202-3AF0-ECE2-4A32121BC97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9AE7191-C0FB-7397-9EDC-95E16D0BF4FF}"/>
              </a:ext>
            </a:extLst>
          </p:cNvPr>
          <p:cNvSpPr>
            <a:spLocks noGrp="1"/>
          </p:cNvSpPr>
          <p:nvPr>
            <p:ph type="sldNum" sz="quarter" idx="12"/>
          </p:nvPr>
        </p:nvSpPr>
        <p:spPr/>
        <p:txBody>
          <a:bodyPr/>
          <a:lstStyle/>
          <a:p>
            <a:fld id="{7028438E-7476-DC41-9D8D-DA15F7878572}" type="slidenum">
              <a:rPr lang="en-US" smtClean="0"/>
              <a:t>‹#›</a:t>
            </a:fld>
            <a:endParaRPr lang="en-US"/>
          </a:p>
        </p:txBody>
      </p:sp>
    </p:spTree>
    <p:extLst>
      <p:ext uri="{BB962C8B-B14F-4D97-AF65-F5344CB8AC3E}">
        <p14:creationId xmlns:p14="http://schemas.microsoft.com/office/powerpoint/2010/main" val="11192295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29B99C-52DD-DEDE-B0FF-8033C7E73B2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501E2E8-FFBE-BB5A-BD27-3CBCD3DECF3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34B7E16-61B0-3C74-1979-C3FE4D76E854}"/>
              </a:ext>
            </a:extLst>
          </p:cNvPr>
          <p:cNvSpPr>
            <a:spLocks noGrp="1"/>
          </p:cNvSpPr>
          <p:nvPr>
            <p:ph type="dt" sz="half" idx="10"/>
          </p:nvPr>
        </p:nvSpPr>
        <p:spPr/>
        <p:txBody>
          <a:bodyPr/>
          <a:lstStyle/>
          <a:p>
            <a:fld id="{53CBBA67-7F73-9C4F-B26E-19ED47D51703}" type="datetimeFigureOut">
              <a:rPr lang="en-US" smtClean="0"/>
              <a:t>1/29/24</a:t>
            </a:fld>
            <a:endParaRPr lang="en-US"/>
          </a:p>
        </p:txBody>
      </p:sp>
      <p:sp>
        <p:nvSpPr>
          <p:cNvPr id="5" name="Footer Placeholder 4">
            <a:extLst>
              <a:ext uri="{FF2B5EF4-FFF2-40B4-BE49-F238E27FC236}">
                <a16:creationId xmlns:a16="http://schemas.microsoft.com/office/drawing/2014/main" id="{18A0B120-EC92-D9AF-A02E-E019B201569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7BD79E9-9AE5-589F-DC9C-97520DB0BAA7}"/>
              </a:ext>
            </a:extLst>
          </p:cNvPr>
          <p:cNvSpPr>
            <a:spLocks noGrp="1"/>
          </p:cNvSpPr>
          <p:nvPr>
            <p:ph type="sldNum" sz="quarter" idx="12"/>
          </p:nvPr>
        </p:nvSpPr>
        <p:spPr/>
        <p:txBody>
          <a:bodyPr/>
          <a:lstStyle/>
          <a:p>
            <a:fld id="{7028438E-7476-DC41-9D8D-DA15F7878572}" type="slidenum">
              <a:rPr lang="en-US" smtClean="0"/>
              <a:t>‹#›</a:t>
            </a:fld>
            <a:endParaRPr lang="en-US"/>
          </a:p>
        </p:txBody>
      </p:sp>
    </p:spTree>
    <p:extLst>
      <p:ext uri="{BB962C8B-B14F-4D97-AF65-F5344CB8AC3E}">
        <p14:creationId xmlns:p14="http://schemas.microsoft.com/office/powerpoint/2010/main" val="3051961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7A19C3-6920-57A6-0587-78CDFEC312B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D183C97-848D-4A6F-82D4-92B7DEB3C5F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88DA9E0-8DAC-E723-A314-1112B10ABC3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C794A71-F0E0-015C-1159-BF7B671A2D09}"/>
              </a:ext>
            </a:extLst>
          </p:cNvPr>
          <p:cNvSpPr>
            <a:spLocks noGrp="1"/>
          </p:cNvSpPr>
          <p:nvPr>
            <p:ph type="dt" sz="half" idx="10"/>
          </p:nvPr>
        </p:nvSpPr>
        <p:spPr/>
        <p:txBody>
          <a:bodyPr/>
          <a:lstStyle/>
          <a:p>
            <a:fld id="{53CBBA67-7F73-9C4F-B26E-19ED47D51703}" type="datetimeFigureOut">
              <a:rPr lang="en-US" smtClean="0"/>
              <a:t>1/29/24</a:t>
            </a:fld>
            <a:endParaRPr lang="en-US"/>
          </a:p>
        </p:txBody>
      </p:sp>
      <p:sp>
        <p:nvSpPr>
          <p:cNvPr id="6" name="Footer Placeholder 5">
            <a:extLst>
              <a:ext uri="{FF2B5EF4-FFF2-40B4-BE49-F238E27FC236}">
                <a16:creationId xmlns:a16="http://schemas.microsoft.com/office/drawing/2014/main" id="{DF14888D-69BA-57F2-59F0-91FC6F6EFBF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8BEB027-AA0A-2EC6-6922-0F6E64130DDB}"/>
              </a:ext>
            </a:extLst>
          </p:cNvPr>
          <p:cNvSpPr>
            <a:spLocks noGrp="1"/>
          </p:cNvSpPr>
          <p:nvPr>
            <p:ph type="sldNum" sz="quarter" idx="12"/>
          </p:nvPr>
        </p:nvSpPr>
        <p:spPr/>
        <p:txBody>
          <a:bodyPr/>
          <a:lstStyle/>
          <a:p>
            <a:fld id="{7028438E-7476-DC41-9D8D-DA15F7878572}" type="slidenum">
              <a:rPr lang="en-US" smtClean="0"/>
              <a:t>‹#›</a:t>
            </a:fld>
            <a:endParaRPr lang="en-US"/>
          </a:p>
        </p:txBody>
      </p:sp>
    </p:spTree>
    <p:extLst>
      <p:ext uri="{BB962C8B-B14F-4D97-AF65-F5344CB8AC3E}">
        <p14:creationId xmlns:p14="http://schemas.microsoft.com/office/powerpoint/2010/main" val="33968051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D09172-48C4-F964-EBB8-CFD7DC37389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8EC6E08-1F80-810E-A3FD-47297E29370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C36A39A-C3F8-5F1D-A3AE-6600B551200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95219B1-71B7-5728-081A-8520C7D41DB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162B98F-8D9B-1078-89FA-353F2C7B26F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152308C-9D59-F0E7-C429-A1F188763A63}"/>
              </a:ext>
            </a:extLst>
          </p:cNvPr>
          <p:cNvSpPr>
            <a:spLocks noGrp="1"/>
          </p:cNvSpPr>
          <p:nvPr>
            <p:ph type="dt" sz="half" idx="10"/>
          </p:nvPr>
        </p:nvSpPr>
        <p:spPr/>
        <p:txBody>
          <a:bodyPr/>
          <a:lstStyle/>
          <a:p>
            <a:fld id="{53CBBA67-7F73-9C4F-B26E-19ED47D51703}" type="datetimeFigureOut">
              <a:rPr lang="en-US" smtClean="0"/>
              <a:t>1/29/24</a:t>
            </a:fld>
            <a:endParaRPr lang="en-US"/>
          </a:p>
        </p:txBody>
      </p:sp>
      <p:sp>
        <p:nvSpPr>
          <p:cNvPr id="8" name="Footer Placeholder 7">
            <a:extLst>
              <a:ext uri="{FF2B5EF4-FFF2-40B4-BE49-F238E27FC236}">
                <a16:creationId xmlns:a16="http://schemas.microsoft.com/office/drawing/2014/main" id="{E9F95D46-C677-77E5-1C1F-4D4A388603F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CC03C31-EDC4-F49E-4648-21E5F870A161}"/>
              </a:ext>
            </a:extLst>
          </p:cNvPr>
          <p:cNvSpPr>
            <a:spLocks noGrp="1"/>
          </p:cNvSpPr>
          <p:nvPr>
            <p:ph type="sldNum" sz="quarter" idx="12"/>
          </p:nvPr>
        </p:nvSpPr>
        <p:spPr/>
        <p:txBody>
          <a:bodyPr/>
          <a:lstStyle/>
          <a:p>
            <a:fld id="{7028438E-7476-DC41-9D8D-DA15F7878572}" type="slidenum">
              <a:rPr lang="en-US" smtClean="0"/>
              <a:t>‹#›</a:t>
            </a:fld>
            <a:endParaRPr lang="en-US"/>
          </a:p>
        </p:txBody>
      </p:sp>
    </p:spTree>
    <p:extLst>
      <p:ext uri="{BB962C8B-B14F-4D97-AF65-F5344CB8AC3E}">
        <p14:creationId xmlns:p14="http://schemas.microsoft.com/office/powerpoint/2010/main" val="23830497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6EBFFC-23D5-2490-CF90-8B0413AFD96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C1551F8-CAB8-DAE5-262D-64C32EB036B5}"/>
              </a:ext>
            </a:extLst>
          </p:cNvPr>
          <p:cNvSpPr>
            <a:spLocks noGrp="1"/>
          </p:cNvSpPr>
          <p:nvPr>
            <p:ph type="dt" sz="half" idx="10"/>
          </p:nvPr>
        </p:nvSpPr>
        <p:spPr/>
        <p:txBody>
          <a:bodyPr/>
          <a:lstStyle/>
          <a:p>
            <a:fld id="{53CBBA67-7F73-9C4F-B26E-19ED47D51703}" type="datetimeFigureOut">
              <a:rPr lang="en-US" smtClean="0"/>
              <a:t>1/29/24</a:t>
            </a:fld>
            <a:endParaRPr lang="en-US"/>
          </a:p>
        </p:txBody>
      </p:sp>
      <p:sp>
        <p:nvSpPr>
          <p:cNvPr id="4" name="Footer Placeholder 3">
            <a:extLst>
              <a:ext uri="{FF2B5EF4-FFF2-40B4-BE49-F238E27FC236}">
                <a16:creationId xmlns:a16="http://schemas.microsoft.com/office/drawing/2014/main" id="{3DB1AC8A-07DA-46E7-8E34-4B3FB3FAC01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92369BC-8E64-4541-15EE-E5A84496FA02}"/>
              </a:ext>
            </a:extLst>
          </p:cNvPr>
          <p:cNvSpPr>
            <a:spLocks noGrp="1"/>
          </p:cNvSpPr>
          <p:nvPr>
            <p:ph type="sldNum" sz="quarter" idx="12"/>
          </p:nvPr>
        </p:nvSpPr>
        <p:spPr/>
        <p:txBody>
          <a:bodyPr/>
          <a:lstStyle/>
          <a:p>
            <a:fld id="{7028438E-7476-DC41-9D8D-DA15F7878572}" type="slidenum">
              <a:rPr lang="en-US" smtClean="0"/>
              <a:t>‹#›</a:t>
            </a:fld>
            <a:endParaRPr lang="en-US"/>
          </a:p>
        </p:txBody>
      </p:sp>
    </p:spTree>
    <p:extLst>
      <p:ext uri="{BB962C8B-B14F-4D97-AF65-F5344CB8AC3E}">
        <p14:creationId xmlns:p14="http://schemas.microsoft.com/office/powerpoint/2010/main" val="23516628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8D2D1BC-9AAE-66D2-76A0-313B3F7453E6}"/>
              </a:ext>
            </a:extLst>
          </p:cNvPr>
          <p:cNvSpPr>
            <a:spLocks noGrp="1"/>
          </p:cNvSpPr>
          <p:nvPr>
            <p:ph type="dt" sz="half" idx="10"/>
          </p:nvPr>
        </p:nvSpPr>
        <p:spPr/>
        <p:txBody>
          <a:bodyPr/>
          <a:lstStyle/>
          <a:p>
            <a:fld id="{53CBBA67-7F73-9C4F-B26E-19ED47D51703}" type="datetimeFigureOut">
              <a:rPr lang="en-US" smtClean="0"/>
              <a:t>1/29/24</a:t>
            </a:fld>
            <a:endParaRPr lang="en-US"/>
          </a:p>
        </p:txBody>
      </p:sp>
      <p:sp>
        <p:nvSpPr>
          <p:cNvPr id="3" name="Footer Placeholder 2">
            <a:extLst>
              <a:ext uri="{FF2B5EF4-FFF2-40B4-BE49-F238E27FC236}">
                <a16:creationId xmlns:a16="http://schemas.microsoft.com/office/drawing/2014/main" id="{74A57FB6-0557-F1DA-980F-1330F3852BA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8281075-9780-E1F0-5A10-E77F393C464D}"/>
              </a:ext>
            </a:extLst>
          </p:cNvPr>
          <p:cNvSpPr>
            <a:spLocks noGrp="1"/>
          </p:cNvSpPr>
          <p:nvPr>
            <p:ph type="sldNum" sz="quarter" idx="12"/>
          </p:nvPr>
        </p:nvSpPr>
        <p:spPr/>
        <p:txBody>
          <a:bodyPr/>
          <a:lstStyle/>
          <a:p>
            <a:fld id="{7028438E-7476-DC41-9D8D-DA15F7878572}" type="slidenum">
              <a:rPr lang="en-US" smtClean="0"/>
              <a:t>‹#›</a:t>
            </a:fld>
            <a:endParaRPr lang="en-US"/>
          </a:p>
        </p:txBody>
      </p:sp>
    </p:spTree>
    <p:extLst>
      <p:ext uri="{BB962C8B-B14F-4D97-AF65-F5344CB8AC3E}">
        <p14:creationId xmlns:p14="http://schemas.microsoft.com/office/powerpoint/2010/main" val="33115663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304E56-BD54-7ABC-3F45-BFACD7CBC74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A6077EB-0A7A-7C49-13E4-F0AC45DE69E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21F1DFD-DC66-1B69-BDB7-2DC19B6C88C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3641A55-DE69-0E84-AAD7-2C09A2229726}"/>
              </a:ext>
            </a:extLst>
          </p:cNvPr>
          <p:cNvSpPr>
            <a:spLocks noGrp="1"/>
          </p:cNvSpPr>
          <p:nvPr>
            <p:ph type="dt" sz="half" idx="10"/>
          </p:nvPr>
        </p:nvSpPr>
        <p:spPr/>
        <p:txBody>
          <a:bodyPr/>
          <a:lstStyle/>
          <a:p>
            <a:fld id="{53CBBA67-7F73-9C4F-B26E-19ED47D51703}" type="datetimeFigureOut">
              <a:rPr lang="en-US" smtClean="0"/>
              <a:t>1/29/24</a:t>
            </a:fld>
            <a:endParaRPr lang="en-US"/>
          </a:p>
        </p:txBody>
      </p:sp>
      <p:sp>
        <p:nvSpPr>
          <p:cNvPr id="6" name="Footer Placeholder 5">
            <a:extLst>
              <a:ext uri="{FF2B5EF4-FFF2-40B4-BE49-F238E27FC236}">
                <a16:creationId xmlns:a16="http://schemas.microsoft.com/office/drawing/2014/main" id="{3887B6C3-009B-A5FD-EB28-EE11A219B0F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7B13213-189C-1604-476C-3E948D98D09F}"/>
              </a:ext>
            </a:extLst>
          </p:cNvPr>
          <p:cNvSpPr>
            <a:spLocks noGrp="1"/>
          </p:cNvSpPr>
          <p:nvPr>
            <p:ph type="sldNum" sz="quarter" idx="12"/>
          </p:nvPr>
        </p:nvSpPr>
        <p:spPr/>
        <p:txBody>
          <a:bodyPr/>
          <a:lstStyle/>
          <a:p>
            <a:fld id="{7028438E-7476-DC41-9D8D-DA15F7878572}" type="slidenum">
              <a:rPr lang="en-US" smtClean="0"/>
              <a:t>‹#›</a:t>
            </a:fld>
            <a:endParaRPr lang="en-US"/>
          </a:p>
        </p:txBody>
      </p:sp>
    </p:spTree>
    <p:extLst>
      <p:ext uri="{BB962C8B-B14F-4D97-AF65-F5344CB8AC3E}">
        <p14:creationId xmlns:p14="http://schemas.microsoft.com/office/powerpoint/2010/main" val="35436432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B1C916-12B8-F09A-C4AD-CC2143E2D1A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481D9BD-D114-B2A9-F424-791B404E59E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5FB7021-48E8-62E2-F168-6FCBDD41CD2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14EF5BC-D4C0-6D4B-45B5-15A63876826D}"/>
              </a:ext>
            </a:extLst>
          </p:cNvPr>
          <p:cNvSpPr>
            <a:spLocks noGrp="1"/>
          </p:cNvSpPr>
          <p:nvPr>
            <p:ph type="dt" sz="half" idx="10"/>
          </p:nvPr>
        </p:nvSpPr>
        <p:spPr/>
        <p:txBody>
          <a:bodyPr/>
          <a:lstStyle/>
          <a:p>
            <a:fld id="{53CBBA67-7F73-9C4F-B26E-19ED47D51703}" type="datetimeFigureOut">
              <a:rPr lang="en-US" smtClean="0"/>
              <a:t>1/29/24</a:t>
            </a:fld>
            <a:endParaRPr lang="en-US"/>
          </a:p>
        </p:txBody>
      </p:sp>
      <p:sp>
        <p:nvSpPr>
          <p:cNvPr id="6" name="Footer Placeholder 5">
            <a:extLst>
              <a:ext uri="{FF2B5EF4-FFF2-40B4-BE49-F238E27FC236}">
                <a16:creationId xmlns:a16="http://schemas.microsoft.com/office/drawing/2014/main" id="{B381ED06-26DA-9ED5-CB4A-5082DE70969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0E9C22B-4F16-11B7-DE92-FF55D432C666}"/>
              </a:ext>
            </a:extLst>
          </p:cNvPr>
          <p:cNvSpPr>
            <a:spLocks noGrp="1"/>
          </p:cNvSpPr>
          <p:nvPr>
            <p:ph type="sldNum" sz="quarter" idx="12"/>
          </p:nvPr>
        </p:nvSpPr>
        <p:spPr/>
        <p:txBody>
          <a:bodyPr/>
          <a:lstStyle/>
          <a:p>
            <a:fld id="{7028438E-7476-DC41-9D8D-DA15F7878572}" type="slidenum">
              <a:rPr lang="en-US" smtClean="0"/>
              <a:t>‹#›</a:t>
            </a:fld>
            <a:endParaRPr lang="en-US"/>
          </a:p>
        </p:txBody>
      </p:sp>
    </p:spTree>
    <p:extLst>
      <p:ext uri="{BB962C8B-B14F-4D97-AF65-F5344CB8AC3E}">
        <p14:creationId xmlns:p14="http://schemas.microsoft.com/office/powerpoint/2010/main" val="6264837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399209-5DC2-64B2-13F3-75BD05C29BD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9717118-4096-4413-09FE-F57CAE04E73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84EF170-A786-203E-4B67-DEC9255D941C}"/>
              </a:ext>
            </a:extLst>
          </p:cNvPr>
          <p:cNvSpPr>
            <a:spLocks noGrp="1"/>
          </p:cNvSpPr>
          <p:nvPr>
            <p:ph type="dt" sz="half" idx="10"/>
          </p:nvPr>
        </p:nvSpPr>
        <p:spPr/>
        <p:txBody>
          <a:bodyPr/>
          <a:lstStyle/>
          <a:p>
            <a:fld id="{53CBBA67-7F73-9C4F-B26E-19ED47D51703}" type="datetimeFigureOut">
              <a:rPr lang="en-US" smtClean="0"/>
              <a:t>1/29/24</a:t>
            </a:fld>
            <a:endParaRPr lang="en-US"/>
          </a:p>
        </p:txBody>
      </p:sp>
      <p:sp>
        <p:nvSpPr>
          <p:cNvPr id="5" name="Footer Placeholder 4">
            <a:extLst>
              <a:ext uri="{FF2B5EF4-FFF2-40B4-BE49-F238E27FC236}">
                <a16:creationId xmlns:a16="http://schemas.microsoft.com/office/drawing/2014/main" id="{590DD50C-3DBD-F56A-5566-A95C47B97E4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796FF99-7FC6-220B-2D76-B880BF356152}"/>
              </a:ext>
            </a:extLst>
          </p:cNvPr>
          <p:cNvSpPr>
            <a:spLocks noGrp="1"/>
          </p:cNvSpPr>
          <p:nvPr>
            <p:ph type="sldNum" sz="quarter" idx="12"/>
          </p:nvPr>
        </p:nvSpPr>
        <p:spPr/>
        <p:txBody>
          <a:bodyPr/>
          <a:lstStyle/>
          <a:p>
            <a:fld id="{7028438E-7476-DC41-9D8D-DA15F7878572}" type="slidenum">
              <a:rPr lang="en-US" smtClean="0"/>
              <a:t>‹#›</a:t>
            </a:fld>
            <a:endParaRPr lang="en-US"/>
          </a:p>
        </p:txBody>
      </p:sp>
    </p:spTree>
    <p:extLst>
      <p:ext uri="{BB962C8B-B14F-4D97-AF65-F5344CB8AC3E}">
        <p14:creationId xmlns:p14="http://schemas.microsoft.com/office/powerpoint/2010/main" val="10816797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E540239-B534-E9B4-8C23-6A32D412FD1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B350817-573C-BAD0-7040-6B723D376ED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21E7644-ADF9-2B4E-DB35-68F00CBE3D8F}"/>
              </a:ext>
            </a:extLst>
          </p:cNvPr>
          <p:cNvSpPr>
            <a:spLocks noGrp="1"/>
          </p:cNvSpPr>
          <p:nvPr>
            <p:ph type="dt" sz="half" idx="10"/>
          </p:nvPr>
        </p:nvSpPr>
        <p:spPr/>
        <p:txBody>
          <a:bodyPr/>
          <a:lstStyle/>
          <a:p>
            <a:fld id="{53CBBA67-7F73-9C4F-B26E-19ED47D51703}" type="datetimeFigureOut">
              <a:rPr lang="en-US" smtClean="0"/>
              <a:t>1/29/24</a:t>
            </a:fld>
            <a:endParaRPr lang="en-US"/>
          </a:p>
        </p:txBody>
      </p:sp>
      <p:sp>
        <p:nvSpPr>
          <p:cNvPr id="5" name="Footer Placeholder 4">
            <a:extLst>
              <a:ext uri="{FF2B5EF4-FFF2-40B4-BE49-F238E27FC236}">
                <a16:creationId xmlns:a16="http://schemas.microsoft.com/office/drawing/2014/main" id="{9C1FBF63-FE80-34C5-0F7E-A1FA25A19B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765C7CC-E8C8-5F09-F393-078184214C43}"/>
              </a:ext>
            </a:extLst>
          </p:cNvPr>
          <p:cNvSpPr>
            <a:spLocks noGrp="1"/>
          </p:cNvSpPr>
          <p:nvPr>
            <p:ph type="sldNum" sz="quarter" idx="12"/>
          </p:nvPr>
        </p:nvSpPr>
        <p:spPr/>
        <p:txBody>
          <a:bodyPr/>
          <a:lstStyle/>
          <a:p>
            <a:fld id="{7028438E-7476-DC41-9D8D-DA15F7878572}" type="slidenum">
              <a:rPr lang="en-US" smtClean="0"/>
              <a:t>‹#›</a:t>
            </a:fld>
            <a:endParaRPr lang="en-US"/>
          </a:p>
        </p:txBody>
      </p:sp>
    </p:spTree>
    <p:extLst>
      <p:ext uri="{BB962C8B-B14F-4D97-AF65-F5344CB8AC3E}">
        <p14:creationId xmlns:p14="http://schemas.microsoft.com/office/powerpoint/2010/main" val="35928656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73976BD-70F7-B1B6-E691-50EE998E6FF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00E053B-AF46-B9FF-E0FF-BF6B2A10CC1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2A8CA06-9507-93AC-045D-CE4B9C12E05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3CBBA67-7F73-9C4F-B26E-19ED47D51703}" type="datetimeFigureOut">
              <a:rPr lang="en-US" smtClean="0"/>
              <a:t>1/29/24</a:t>
            </a:fld>
            <a:endParaRPr lang="en-US"/>
          </a:p>
        </p:txBody>
      </p:sp>
      <p:sp>
        <p:nvSpPr>
          <p:cNvPr id="5" name="Footer Placeholder 4">
            <a:extLst>
              <a:ext uri="{FF2B5EF4-FFF2-40B4-BE49-F238E27FC236}">
                <a16:creationId xmlns:a16="http://schemas.microsoft.com/office/drawing/2014/main" id="{DC2F35DE-416B-DB78-5FAA-0E59FE81C4E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B273B4D4-EF2F-DB03-E2F0-36B332F99D7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028438E-7476-DC41-9D8D-DA15F7878572}" type="slidenum">
              <a:rPr lang="en-US" smtClean="0"/>
              <a:t>‹#›</a:t>
            </a:fld>
            <a:endParaRPr lang="en-US"/>
          </a:p>
        </p:txBody>
      </p:sp>
    </p:spTree>
    <p:extLst>
      <p:ext uri="{BB962C8B-B14F-4D97-AF65-F5344CB8AC3E}">
        <p14:creationId xmlns:p14="http://schemas.microsoft.com/office/powerpoint/2010/main" val="259388558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671A8AE-40A1-4631-A6B8-581AFF0654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CF7CAB3E-498D-9546-D449-C9239E2A48BE}"/>
              </a:ext>
            </a:extLst>
          </p:cNvPr>
          <p:cNvPicPr>
            <a:picLocks noChangeAspect="1"/>
          </p:cNvPicPr>
          <p:nvPr/>
        </p:nvPicPr>
        <p:blipFill rotWithShape="1">
          <a:blip r:embed="rId2"/>
          <a:srcRect r="24477" b="2"/>
          <a:stretch/>
        </p:blipFill>
        <p:spPr>
          <a:xfrm>
            <a:off x="3523488" y="10"/>
            <a:ext cx="8668512" cy="6857990"/>
          </a:xfrm>
          <a:prstGeom prst="rect">
            <a:avLst/>
          </a:prstGeom>
        </p:spPr>
      </p:pic>
      <p:sp>
        <p:nvSpPr>
          <p:cNvPr id="11" name="Rectangle 10">
            <a:extLst>
              <a:ext uri="{FF2B5EF4-FFF2-40B4-BE49-F238E27FC236}">
                <a16:creationId xmlns:a16="http://schemas.microsoft.com/office/drawing/2014/main" id="{AB58EF07-17C2-48CF-ABB0-EEF1F17CB8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 y="0"/>
            <a:ext cx="9339206" cy="6858000"/>
          </a:xfrm>
          <a:prstGeom prst="rect">
            <a:avLst/>
          </a:prstGeom>
          <a:gradFill>
            <a:gsLst>
              <a:gs pos="58000">
                <a:schemeClr val="bg1"/>
              </a:gs>
              <a:gs pos="33000">
                <a:schemeClr val="bg1">
                  <a:alpha val="64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7393A86D-E2D6-DB0C-59F4-08A250E0D7B5}"/>
              </a:ext>
            </a:extLst>
          </p:cNvPr>
          <p:cNvSpPr>
            <a:spLocks noGrp="1"/>
          </p:cNvSpPr>
          <p:nvPr>
            <p:ph type="ctrTitle"/>
          </p:nvPr>
        </p:nvSpPr>
        <p:spPr>
          <a:xfrm>
            <a:off x="477980" y="1122363"/>
            <a:ext cx="6417089" cy="3204134"/>
          </a:xfrm>
        </p:spPr>
        <p:txBody>
          <a:bodyPr anchor="b">
            <a:normAutofit/>
          </a:bodyPr>
          <a:lstStyle/>
          <a:p>
            <a:pPr algn="l"/>
            <a:r>
              <a:rPr lang="en-US" sz="4800" dirty="0"/>
              <a:t>Self-Learning</a:t>
            </a:r>
          </a:p>
        </p:txBody>
      </p:sp>
      <p:sp>
        <p:nvSpPr>
          <p:cNvPr id="3" name="Subtitle 2">
            <a:extLst>
              <a:ext uri="{FF2B5EF4-FFF2-40B4-BE49-F238E27FC236}">
                <a16:creationId xmlns:a16="http://schemas.microsoft.com/office/drawing/2014/main" id="{A59C6BFB-4793-A5EB-3168-0BCFF9FE0593}"/>
              </a:ext>
            </a:extLst>
          </p:cNvPr>
          <p:cNvSpPr>
            <a:spLocks noGrp="1"/>
          </p:cNvSpPr>
          <p:nvPr>
            <p:ph type="subTitle" idx="1"/>
          </p:nvPr>
        </p:nvSpPr>
        <p:spPr>
          <a:xfrm>
            <a:off x="477980" y="4872922"/>
            <a:ext cx="4023359" cy="1208141"/>
          </a:xfrm>
        </p:spPr>
        <p:txBody>
          <a:bodyPr>
            <a:normAutofit/>
          </a:bodyPr>
          <a:lstStyle/>
          <a:p>
            <a:pPr algn="l"/>
            <a:r>
              <a:rPr lang="en-US" sz="2000" dirty="0"/>
              <a:t>Hyperparameter Tuning with Grid Search using Cross Validation &amp; Bootstrapping</a:t>
            </a:r>
          </a:p>
        </p:txBody>
      </p:sp>
      <p:sp>
        <p:nvSpPr>
          <p:cNvPr id="13" name="Rectangle 12">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5" name="Rectangle 14">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3977640" cy="18288"/>
          </a:xfrm>
          <a:prstGeom prst="rect">
            <a:avLst/>
          </a:prstGeom>
          <a:solidFill>
            <a:schemeClr val="tx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9604953"/>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2679492-7988-4050-9056-5424444524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B091B163-7D61-4891-ABCF-5C13D9C418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779911" cy="6858000"/>
          </a:xfrm>
          <a:prstGeom prst="rect">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02D8CF83-4892-264A-38F2-AE85FF090B00}"/>
              </a:ext>
            </a:extLst>
          </p:cNvPr>
          <p:cNvSpPr>
            <a:spLocks noGrp="1"/>
          </p:cNvSpPr>
          <p:nvPr>
            <p:ph type="title"/>
          </p:nvPr>
        </p:nvSpPr>
        <p:spPr>
          <a:xfrm>
            <a:off x="1188069" y="381935"/>
            <a:ext cx="4008583" cy="5974414"/>
          </a:xfrm>
        </p:spPr>
        <p:txBody>
          <a:bodyPr anchor="ctr">
            <a:normAutofit/>
          </a:bodyPr>
          <a:lstStyle/>
          <a:p>
            <a:r>
              <a:rPr lang="en-US" sz="3800" dirty="0">
                <a:solidFill>
                  <a:srgbClr val="FFFFFF"/>
                </a:solidFill>
              </a:rPr>
              <a:t>Hyperparameters</a:t>
            </a:r>
          </a:p>
        </p:txBody>
      </p:sp>
      <p:grpSp>
        <p:nvGrpSpPr>
          <p:cNvPr id="12" name="Group 11">
            <a:extLst>
              <a:ext uri="{FF2B5EF4-FFF2-40B4-BE49-F238E27FC236}">
                <a16:creationId xmlns:a16="http://schemas.microsoft.com/office/drawing/2014/main" id="{0474DF76-993E-44DE-AFB0-C416182ACEC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13892" y="554152"/>
            <a:ext cx="574177" cy="1075866"/>
            <a:chOff x="613892" y="554152"/>
            <a:chExt cx="574177" cy="1075866"/>
          </a:xfrm>
          <a:solidFill>
            <a:srgbClr val="FFFFFF"/>
          </a:solidFill>
        </p:grpSpPr>
        <p:sp>
          <p:nvSpPr>
            <p:cNvPr id="13" name="Graphic 11">
              <a:extLst>
                <a:ext uri="{FF2B5EF4-FFF2-40B4-BE49-F238E27FC236}">
                  <a16:creationId xmlns:a16="http://schemas.microsoft.com/office/drawing/2014/main" id="{6CB927A4-E432-4310-9CD5-E89FF50631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3061" y="554152"/>
              <a:ext cx="171515" cy="171515"/>
            </a:xfrm>
            <a:custGeom>
              <a:avLst/>
              <a:gdLst>
                <a:gd name="connsiteX0" fmla="*/ 159874 w 171515"/>
                <a:gd name="connsiteY0" fmla="*/ 74116 h 171515"/>
                <a:gd name="connsiteX1" fmla="*/ 97399 w 171515"/>
                <a:gd name="connsiteY1" fmla="*/ 74116 h 171515"/>
                <a:gd name="connsiteX2" fmla="*/ 97399 w 171515"/>
                <a:gd name="connsiteY2" fmla="*/ 11641 h 171515"/>
                <a:gd name="connsiteX3" fmla="*/ 85758 w 171515"/>
                <a:gd name="connsiteY3" fmla="*/ 0 h 171515"/>
                <a:gd name="connsiteX4" fmla="*/ 74116 w 171515"/>
                <a:gd name="connsiteY4" fmla="*/ 11641 h 171515"/>
                <a:gd name="connsiteX5" fmla="*/ 74116 w 171515"/>
                <a:gd name="connsiteY5" fmla="*/ 74116 h 171515"/>
                <a:gd name="connsiteX6" fmla="*/ 11641 w 171515"/>
                <a:gd name="connsiteY6" fmla="*/ 74116 h 171515"/>
                <a:gd name="connsiteX7" fmla="*/ 0 w 171515"/>
                <a:gd name="connsiteY7" fmla="*/ 85758 h 171515"/>
                <a:gd name="connsiteX8" fmla="*/ 11641 w 171515"/>
                <a:gd name="connsiteY8" fmla="*/ 97399 h 171515"/>
                <a:gd name="connsiteX9" fmla="*/ 74116 w 171515"/>
                <a:gd name="connsiteY9" fmla="*/ 97399 h 171515"/>
                <a:gd name="connsiteX10" fmla="*/ 74116 w 171515"/>
                <a:gd name="connsiteY10" fmla="*/ 159874 h 171515"/>
                <a:gd name="connsiteX11" fmla="*/ 85758 w 171515"/>
                <a:gd name="connsiteY11" fmla="*/ 171515 h 171515"/>
                <a:gd name="connsiteX12" fmla="*/ 97399 w 171515"/>
                <a:gd name="connsiteY12" fmla="*/ 159874 h 171515"/>
                <a:gd name="connsiteX13" fmla="*/ 97399 w 171515"/>
                <a:gd name="connsiteY13" fmla="*/ 97399 h 171515"/>
                <a:gd name="connsiteX14" fmla="*/ 159874 w 171515"/>
                <a:gd name="connsiteY14" fmla="*/ 97399 h 171515"/>
                <a:gd name="connsiteX15" fmla="*/ 171515 w 171515"/>
                <a:gd name="connsiteY15" fmla="*/ 85758 h 171515"/>
                <a:gd name="connsiteX16" fmla="*/ 159874 w 171515"/>
                <a:gd name="connsiteY16" fmla="*/ 74116 h 171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515" h="171515">
                  <a:moveTo>
                    <a:pt x="159874" y="74116"/>
                  </a:moveTo>
                  <a:lnTo>
                    <a:pt x="97399" y="74116"/>
                  </a:lnTo>
                  <a:lnTo>
                    <a:pt x="97399" y="11641"/>
                  </a:lnTo>
                  <a:cubicBezTo>
                    <a:pt x="97399" y="5212"/>
                    <a:pt x="92187" y="0"/>
                    <a:pt x="85758" y="0"/>
                  </a:cubicBezTo>
                  <a:cubicBezTo>
                    <a:pt x="79328" y="0"/>
                    <a:pt x="74116" y="5212"/>
                    <a:pt x="74116" y="11641"/>
                  </a:cubicBezTo>
                  <a:lnTo>
                    <a:pt x="74116" y="74116"/>
                  </a:lnTo>
                  <a:lnTo>
                    <a:pt x="11641" y="74116"/>
                  </a:lnTo>
                  <a:cubicBezTo>
                    <a:pt x="5212" y="74116"/>
                    <a:pt x="0" y="79328"/>
                    <a:pt x="0" y="85758"/>
                  </a:cubicBezTo>
                  <a:cubicBezTo>
                    <a:pt x="0" y="92187"/>
                    <a:pt x="5212" y="97399"/>
                    <a:pt x="11641" y="97399"/>
                  </a:cubicBezTo>
                  <a:lnTo>
                    <a:pt x="74116" y="97399"/>
                  </a:lnTo>
                  <a:lnTo>
                    <a:pt x="74116" y="159874"/>
                  </a:lnTo>
                  <a:cubicBezTo>
                    <a:pt x="74116" y="166303"/>
                    <a:pt x="79328" y="171515"/>
                    <a:pt x="85758" y="171515"/>
                  </a:cubicBezTo>
                  <a:cubicBezTo>
                    <a:pt x="92187" y="171515"/>
                    <a:pt x="97399" y="166303"/>
                    <a:pt x="97399" y="159874"/>
                  </a:cubicBezTo>
                  <a:lnTo>
                    <a:pt x="97399" y="97399"/>
                  </a:lnTo>
                  <a:lnTo>
                    <a:pt x="159874" y="97399"/>
                  </a:lnTo>
                  <a:cubicBezTo>
                    <a:pt x="166303" y="97399"/>
                    <a:pt x="171515" y="92187"/>
                    <a:pt x="171515" y="85758"/>
                  </a:cubicBezTo>
                  <a:cubicBezTo>
                    <a:pt x="171515" y="79328"/>
                    <a:pt x="166303" y="74116"/>
                    <a:pt x="159874" y="74116"/>
                  </a:cubicBezTo>
                  <a:close/>
                </a:path>
              </a:pathLst>
            </a:custGeom>
            <a:grpFill/>
            <a:ln w="776" cap="flat">
              <a:noFill/>
              <a:prstDash val="solid"/>
              <a:miter/>
            </a:ln>
          </p:spPr>
          <p:txBody>
            <a:bodyPr rtlCol="0" anchor="ctr"/>
            <a:lstStyle/>
            <a:p>
              <a:endParaRPr lang="en-US"/>
            </a:p>
          </p:txBody>
        </p:sp>
        <p:sp>
          <p:nvSpPr>
            <p:cNvPr id="14" name="Graphic 10">
              <a:extLst>
                <a:ext uri="{FF2B5EF4-FFF2-40B4-BE49-F238E27FC236}">
                  <a16:creationId xmlns:a16="http://schemas.microsoft.com/office/drawing/2014/main" id="{E3020543-B24B-4EC4-8FFC-8DD88EEA91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5643" y="837005"/>
              <a:ext cx="112426" cy="112426"/>
            </a:xfrm>
            <a:custGeom>
              <a:avLst/>
              <a:gdLst>
                <a:gd name="connsiteX0" fmla="*/ 112426 w 112426"/>
                <a:gd name="connsiteY0" fmla="*/ 56213 h 112426"/>
                <a:gd name="connsiteX1" fmla="*/ 56213 w 112426"/>
                <a:gd name="connsiteY1" fmla="*/ 112426 h 112426"/>
                <a:gd name="connsiteX2" fmla="*/ 0 w 112426"/>
                <a:gd name="connsiteY2" fmla="*/ 56213 h 112426"/>
                <a:gd name="connsiteX3" fmla="*/ 56213 w 112426"/>
                <a:gd name="connsiteY3" fmla="*/ 0 h 112426"/>
                <a:gd name="connsiteX4" fmla="*/ 112426 w 112426"/>
                <a:gd name="connsiteY4" fmla="*/ 56213 h 112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426" h="112426">
                  <a:moveTo>
                    <a:pt x="112426" y="56213"/>
                  </a:moveTo>
                  <a:cubicBezTo>
                    <a:pt x="112426" y="87259"/>
                    <a:pt x="87259" y="112426"/>
                    <a:pt x="56213" y="112426"/>
                  </a:cubicBezTo>
                  <a:cubicBezTo>
                    <a:pt x="25167" y="112426"/>
                    <a:pt x="0" y="87259"/>
                    <a:pt x="0" y="56213"/>
                  </a:cubicBezTo>
                  <a:cubicBezTo>
                    <a:pt x="0" y="25167"/>
                    <a:pt x="25167" y="0"/>
                    <a:pt x="56213" y="0"/>
                  </a:cubicBezTo>
                  <a:cubicBezTo>
                    <a:pt x="87259" y="0"/>
                    <a:pt x="112426" y="25167"/>
                    <a:pt x="112426" y="56213"/>
                  </a:cubicBezTo>
                  <a:close/>
                </a:path>
              </a:pathLst>
            </a:custGeom>
            <a:grpFill/>
            <a:ln w="516" cap="flat">
              <a:noFill/>
              <a:prstDash val="solid"/>
              <a:miter/>
            </a:ln>
          </p:spPr>
          <p:txBody>
            <a:bodyPr rtlCol="0" anchor="ctr"/>
            <a:lstStyle/>
            <a:p>
              <a:endParaRPr lang="en-US"/>
            </a:p>
          </p:txBody>
        </p:sp>
        <p:sp>
          <p:nvSpPr>
            <p:cNvPr id="15" name="Graphic 12">
              <a:extLst>
                <a:ext uri="{FF2B5EF4-FFF2-40B4-BE49-F238E27FC236}">
                  <a16:creationId xmlns:a16="http://schemas.microsoft.com/office/drawing/2014/main" id="{1453BF6C-B012-48B7-B4E8-6D7AC7C27D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3892" y="1472473"/>
              <a:ext cx="157545" cy="157545"/>
            </a:xfrm>
            <a:custGeom>
              <a:avLst/>
              <a:gdLst>
                <a:gd name="connsiteX0" fmla="*/ 78773 w 157545"/>
                <a:gd name="connsiteY0" fmla="*/ 23283 h 157545"/>
                <a:gd name="connsiteX1" fmla="*/ 134262 w 157545"/>
                <a:gd name="connsiteY1" fmla="*/ 78773 h 157545"/>
                <a:gd name="connsiteX2" fmla="*/ 78773 w 157545"/>
                <a:gd name="connsiteY2" fmla="*/ 134262 h 157545"/>
                <a:gd name="connsiteX3" fmla="*/ 23283 w 157545"/>
                <a:gd name="connsiteY3" fmla="*/ 78773 h 157545"/>
                <a:gd name="connsiteX4" fmla="*/ 78773 w 157545"/>
                <a:gd name="connsiteY4" fmla="*/ 23283 h 157545"/>
                <a:gd name="connsiteX5" fmla="*/ 78773 w 157545"/>
                <a:gd name="connsiteY5" fmla="*/ 0 h 157545"/>
                <a:gd name="connsiteX6" fmla="*/ 0 w 157545"/>
                <a:gd name="connsiteY6" fmla="*/ 78773 h 157545"/>
                <a:gd name="connsiteX7" fmla="*/ 78773 w 157545"/>
                <a:gd name="connsiteY7" fmla="*/ 157545 h 157545"/>
                <a:gd name="connsiteX8" fmla="*/ 157545 w 157545"/>
                <a:gd name="connsiteY8" fmla="*/ 78773 h 157545"/>
                <a:gd name="connsiteX9" fmla="*/ 78773 w 157545"/>
                <a:gd name="connsiteY9" fmla="*/ 0 h 157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7545" h="157545">
                  <a:moveTo>
                    <a:pt x="78773" y="23283"/>
                  </a:moveTo>
                  <a:cubicBezTo>
                    <a:pt x="109419" y="23283"/>
                    <a:pt x="134262" y="48126"/>
                    <a:pt x="134262" y="78773"/>
                  </a:cubicBezTo>
                  <a:cubicBezTo>
                    <a:pt x="134262" y="109419"/>
                    <a:pt x="109419" y="134262"/>
                    <a:pt x="78773" y="134262"/>
                  </a:cubicBezTo>
                  <a:cubicBezTo>
                    <a:pt x="48126" y="134262"/>
                    <a:pt x="23283" y="109419"/>
                    <a:pt x="23283" y="78773"/>
                  </a:cubicBezTo>
                  <a:cubicBezTo>
                    <a:pt x="23312" y="48139"/>
                    <a:pt x="48139" y="23312"/>
                    <a:pt x="78773" y="23283"/>
                  </a:cubicBezTo>
                  <a:moveTo>
                    <a:pt x="78773" y="0"/>
                  </a:moveTo>
                  <a:cubicBezTo>
                    <a:pt x="35268" y="0"/>
                    <a:pt x="0" y="35268"/>
                    <a:pt x="0" y="78773"/>
                  </a:cubicBezTo>
                  <a:cubicBezTo>
                    <a:pt x="0" y="122277"/>
                    <a:pt x="35268" y="157545"/>
                    <a:pt x="78773" y="157545"/>
                  </a:cubicBezTo>
                  <a:cubicBezTo>
                    <a:pt x="122277" y="157545"/>
                    <a:pt x="157545" y="122277"/>
                    <a:pt x="157545" y="78773"/>
                  </a:cubicBezTo>
                  <a:cubicBezTo>
                    <a:pt x="157545" y="35268"/>
                    <a:pt x="122277" y="0"/>
                    <a:pt x="78773" y="0"/>
                  </a:cubicBezTo>
                  <a:close/>
                </a:path>
              </a:pathLst>
            </a:custGeom>
            <a:grpFill/>
            <a:ln w="751" cap="flat">
              <a:noFill/>
              <a:prstDash val="solid"/>
              <a:miter/>
            </a:ln>
          </p:spPr>
          <p:txBody>
            <a:bodyPr rtlCol="0" anchor="ctr"/>
            <a:lstStyle/>
            <a:p>
              <a:endParaRPr lang="en-US"/>
            </a:p>
          </p:txBody>
        </p:sp>
      </p:grpSp>
      <p:sp>
        <p:nvSpPr>
          <p:cNvPr id="3" name="Content Placeholder 2">
            <a:extLst>
              <a:ext uri="{FF2B5EF4-FFF2-40B4-BE49-F238E27FC236}">
                <a16:creationId xmlns:a16="http://schemas.microsoft.com/office/drawing/2014/main" id="{517FECE8-2F91-AE17-C158-4EB049712006}"/>
              </a:ext>
            </a:extLst>
          </p:cNvPr>
          <p:cNvSpPr>
            <a:spLocks noGrp="1"/>
          </p:cNvSpPr>
          <p:nvPr>
            <p:ph idx="1"/>
          </p:nvPr>
        </p:nvSpPr>
        <p:spPr>
          <a:xfrm>
            <a:off x="6297233" y="518400"/>
            <a:ext cx="4771607" cy="5837949"/>
          </a:xfrm>
        </p:spPr>
        <p:txBody>
          <a:bodyPr anchor="ctr">
            <a:normAutofit/>
          </a:bodyPr>
          <a:lstStyle/>
          <a:p>
            <a:r>
              <a:rPr lang="en-CA" sz="2400" b="0" i="0" u="none" strike="noStrike" dirty="0">
                <a:solidFill>
                  <a:schemeClr val="tx1">
                    <a:alpha val="80000"/>
                  </a:schemeClr>
                </a:solidFill>
                <a:effectLst/>
              </a:rPr>
              <a:t>Each machine learning model needs a training, which is a process of tuning their hyperparameters and selecting their features (variables) for the best predictive performance. </a:t>
            </a:r>
          </a:p>
          <a:p>
            <a:r>
              <a:rPr lang="en-CA" sz="2400" dirty="0">
                <a:solidFill>
                  <a:schemeClr val="tx1">
                    <a:alpha val="80000"/>
                  </a:schemeClr>
                </a:solidFill>
              </a:rPr>
              <a:t>For example, </a:t>
            </a:r>
            <a:r>
              <a:rPr lang="en-CA" sz="2400" b="0" i="0" dirty="0">
                <a:solidFill>
                  <a:schemeClr val="tx1">
                    <a:alpha val="80000"/>
                  </a:schemeClr>
                </a:solidFill>
                <a:effectLst/>
              </a:rPr>
              <a:t>k</a:t>
            </a:r>
            <a:r>
              <a:rPr lang="en-CA" sz="2400" dirty="0">
                <a:solidFill>
                  <a:schemeClr val="tx1">
                    <a:alpha val="80000"/>
                  </a:schemeClr>
                </a:solidFill>
                <a:effectLst/>
              </a:rPr>
              <a:t> in </a:t>
            </a:r>
            <a:r>
              <a:rPr lang="en-CA" sz="2400" dirty="0" err="1">
                <a:solidFill>
                  <a:schemeClr val="tx1">
                    <a:alpha val="80000"/>
                  </a:schemeClr>
                </a:solidFill>
                <a:effectLst/>
              </a:rPr>
              <a:t>kNN</a:t>
            </a:r>
            <a:r>
              <a:rPr lang="en-CA" sz="2400" dirty="0">
                <a:solidFill>
                  <a:schemeClr val="tx1">
                    <a:alpha val="80000"/>
                  </a:schemeClr>
                </a:solidFill>
                <a:effectLst/>
              </a:rPr>
              <a:t>, the number of hidden layers in Neural Networks, even the degree of of polynomials in a linear regression have to be tuned. </a:t>
            </a:r>
          </a:p>
          <a:p>
            <a:r>
              <a:rPr lang="en-CA" sz="2400" dirty="0">
                <a:solidFill>
                  <a:schemeClr val="tx1">
                    <a:alpha val="80000"/>
                  </a:schemeClr>
                </a:solidFill>
              </a:rPr>
              <a:t>This tuning process is the core idea in self-learning algorithms</a:t>
            </a:r>
            <a:r>
              <a:rPr lang="en-CA" sz="2400" dirty="0">
                <a:solidFill>
                  <a:schemeClr val="tx1">
                    <a:alpha val="80000"/>
                  </a:schemeClr>
                </a:solidFill>
                <a:effectLst/>
              </a:rPr>
              <a:t>. </a:t>
            </a:r>
          </a:p>
          <a:p>
            <a:endParaRPr lang="en-US" sz="2000" dirty="0">
              <a:solidFill>
                <a:schemeClr val="tx1">
                  <a:alpha val="80000"/>
                </a:schemeClr>
              </a:solidFill>
            </a:endParaRPr>
          </a:p>
        </p:txBody>
      </p:sp>
      <p:cxnSp>
        <p:nvCxnSpPr>
          <p:cNvPr id="17" name="Straight Connector 16">
            <a:extLst>
              <a:ext uri="{FF2B5EF4-FFF2-40B4-BE49-F238E27FC236}">
                <a16:creationId xmlns:a16="http://schemas.microsoft.com/office/drawing/2014/main" id="{C49DA8F6-BCC1-4447-B54C-57856834B9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586162" y="3610394"/>
            <a:ext cx="0" cy="3238728"/>
          </a:xfrm>
          <a:prstGeom prst="line">
            <a:avLst/>
          </a:prstGeom>
          <a:ln w="25400" cap="sq">
            <a:gradFill flip="none" rotWithShape="1">
              <a:gsLst>
                <a:gs pos="0">
                  <a:schemeClr val="accent1"/>
                </a:gs>
                <a:gs pos="100000">
                  <a:schemeClr val="accent2"/>
                </a:gs>
              </a:gsLst>
              <a:lin ang="5400000" scaled="0"/>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405468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81EA652-8C6A-4E69-BEB9-1708094745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A4026A73-1F7F-49F2-B319-8CA3B3D532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1732" y="321733"/>
            <a:ext cx="11546828" cy="6214534"/>
          </a:xfrm>
          <a:custGeom>
            <a:avLst/>
            <a:gdLst>
              <a:gd name="connsiteX0" fmla="*/ 0 w 11546828"/>
              <a:gd name="connsiteY0" fmla="*/ 0 h 6214534"/>
              <a:gd name="connsiteX1" fmla="*/ 7965430 w 11546828"/>
              <a:gd name="connsiteY1" fmla="*/ 0 h 6214534"/>
              <a:gd name="connsiteX2" fmla="*/ 7965430 w 11546828"/>
              <a:gd name="connsiteY2" fmla="*/ 1786 h 6214534"/>
              <a:gd name="connsiteX3" fmla="*/ 11546828 w 11546828"/>
              <a:gd name="connsiteY3" fmla="*/ 1786 h 6214534"/>
              <a:gd name="connsiteX4" fmla="*/ 11546828 w 11546828"/>
              <a:gd name="connsiteY4" fmla="*/ 2866740 h 6214534"/>
              <a:gd name="connsiteX5" fmla="*/ 11225095 w 11546828"/>
              <a:gd name="connsiteY5" fmla="*/ 3179536 h 6214534"/>
              <a:gd name="connsiteX6" fmla="*/ 11225095 w 11546828"/>
              <a:gd name="connsiteY6" fmla="*/ 301542 h 6214534"/>
              <a:gd name="connsiteX7" fmla="*/ 320042 w 11546828"/>
              <a:gd name="connsiteY7" fmla="*/ 301542 h 6214534"/>
              <a:gd name="connsiteX8" fmla="*/ 320042 w 11546828"/>
              <a:gd name="connsiteY8" fmla="*/ 5909424 h 6214534"/>
              <a:gd name="connsiteX9" fmla="*/ 8417210 w 11546828"/>
              <a:gd name="connsiteY9" fmla="*/ 5909424 h 6214534"/>
              <a:gd name="connsiteX10" fmla="*/ 8103383 w 11546828"/>
              <a:gd name="connsiteY10" fmla="*/ 6214534 h 6214534"/>
              <a:gd name="connsiteX11" fmla="*/ 7222929 w 11546828"/>
              <a:gd name="connsiteY11" fmla="*/ 6214534 h 6214534"/>
              <a:gd name="connsiteX12" fmla="*/ 7222929 w 11546828"/>
              <a:gd name="connsiteY12" fmla="*/ 6212748 h 6214534"/>
              <a:gd name="connsiteX13" fmla="*/ 0 w 11546828"/>
              <a:gd name="connsiteY13" fmla="*/ 6212748 h 6214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1546828" h="6214534">
                <a:moveTo>
                  <a:pt x="0" y="0"/>
                </a:moveTo>
                <a:lnTo>
                  <a:pt x="7965430" y="0"/>
                </a:lnTo>
                <a:lnTo>
                  <a:pt x="7965430" y="1786"/>
                </a:lnTo>
                <a:lnTo>
                  <a:pt x="11546828" y="1786"/>
                </a:lnTo>
                <a:lnTo>
                  <a:pt x="11546828" y="2866740"/>
                </a:lnTo>
                <a:lnTo>
                  <a:pt x="11225095" y="3179536"/>
                </a:lnTo>
                <a:lnTo>
                  <a:pt x="11225095" y="301542"/>
                </a:lnTo>
                <a:lnTo>
                  <a:pt x="320042" y="301542"/>
                </a:lnTo>
                <a:lnTo>
                  <a:pt x="320042" y="5909424"/>
                </a:lnTo>
                <a:lnTo>
                  <a:pt x="8417210" y="5909424"/>
                </a:lnTo>
                <a:lnTo>
                  <a:pt x="8103383" y="6214534"/>
                </a:lnTo>
                <a:lnTo>
                  <a:pt x="7222929" y="6214534"/>
                </a:lnTo>
                <a:lnTo>
                  <a:pt x="7222929" y="6212748"/>
                </a:lnTo>
                <a:lnTo>
                  <a:pt x="0" y="6212748"/>
                </a:lnTo>
                <a:close/>
              </a:path>
            </a:pathLst>
          </a:custGeom>
          <a:solidFill>
            <a:schemeClr val="tx1">
              <a:lumMod val="50000"/>
              <a:lumOff val="50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Right Triangle 11">
            <a:extLst>
              <a:ext uri="{FF2B5EF4-FFF2-40B4-BE49-F238E27FC236}">
                <a16:creationId xmlns:a16="http://schemas.microsoft.com/office/drawing/2014/main" id="{5298780A-33B9-4EA2-8F67-DE68AD6284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7F488E8B-4E1E-4402-8935-D4E6C02615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774" y="623275"/>
            <a:ext cx="10905053" cy="5607882"/>
          </a:xfrm>
          <a:prstGeom prst="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 name="Straight Connector 15">
            <a:extLst>
              <a:ext uri="{FF2B5EF4-FFF2-40B4-BE49-F238E27FC236}">
                <a16:creationId xmlns:a16="http://schemas.microsoft.com/office/drawing/2014/main" id="{23AAC9B5-8015-485C-ACF9-A750390E9A5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6" y="1852863"/>
            <a:ext cx="0" cy="3236495"/>
          </a:xfrm>
          <a:prstGeom prst="line">
            <a:avLst/>
          </a:prstGeom>
          <a:ln w="19050" cap="sq">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F3D5CE0A-2373-FED7-27D8-4E0ACB8EE2BB}"/>
              </a:ext>
            </a:extLst>
          </p:cNvPr>
          <p:cNvSpPr>
            <a:spLocks noGrp="1"/>
          </p:cNvSpPr>
          <p:nvPr>
            <p:ph idx="1"/>
          </p:nvPr>
        </p:nvSpPr>
        <p:spPr>
          <a:xfrm>
            <a:off x="5138928" y="984444"/>
            <a:ext cx="6407899" cy="5270898"/>
          </a:xfrm>
        </p:spPr>
        <p:txBody>
          <a:bodyPr anchor="ctr">
            <a:normAutofit lnSpcReduction="10000"/>
          </a:bodyPr>
          <a:lstStyle/>
          <a:p>
            <a:pPr marL="514350" indent="-514350">
              <a:buFont typeface="+mj-lt"/>
              <a:buAutoNum type="arabicPeriod"/>
            </a:pPr>
            <a:r>
              <a:rPr lang="en-CA" sz="1500" dirty="0">
                <a:effectLst/>
                <a:latin typeface="Helvetica Neue" panose="02000503000000020004" pitchFamily="2" charset="0"/>
              </a:rPr>
              <a:t>Suppose Model1 requires to pick a value for </a:t>
            </a:r>
            <a:r>
              <a:rPr lang="el-GR" sz="1500" b="0" i="0" dirty="0">
                <a:effectLst/>
                <a:latin typeface="MJXc-TeX-math-I"/>
              </a:rPr>
              <a:t>λ</a:t>
            </a:r>
            <a:r>
              <a:rPr lang="el-GR" sz="1500" dirty="0">
                <a:effectLst/>
                <a:latin typeface="Helvetica Neue" panose="02000503000000020004" pitchFamily="2" charset="0"/>
              </a:rPr>
              <a:t>, </a:t>
            </a:r>
            <a:r>
              <a:rPr lang="en-CA" sz="1500" dirty="0">
                <a:effectLst/>
                <a:latin typeface="Helvetica Neue" panose="02000503000000020004" pitchFamily="2" charset="0"/>
              </a:rPr>
              <a:t>perhaps it is a degree of polynomials in the model.</a:t>
            </a:r>
          </a:p>
          <a:p>
            <a:pPr marL="514350" indent="-514350">
              <a:buFont typeface="+mj-lt"/>
              <a:buAutoNum type="arabicPeriod"/>
            </a:pPr>
            <a:r>
              <a:rPr lang="en-CA" sz="1500" dirty="0">
                <a:effectLst/>
                <a:latin typeface="Helvetica Neue" panose="02000503000000020004" pitchFamily="2" charset="0"/>
              </a:rPr>
              <a:t>We establish a grid, a set of sequential numbers, that is a set of possible values of </a:t>
            </a:r>
            <a:r>
              <a:rPr lang="el-GR" sz="1500" b="0" i="0" dirty="0">
                <a:effectLst/>
                <a:latin typeface="MJXc-TeX-math-I"/>
              </a:rPr>
              <a:t>λ</a:t>
            </a:r>
            <a:r>
              <a:rPr lang="el-GR" sz="1500" dirty="0">
                <a:effectLst/>
                <a:latin typeface="Helvetica Neue" panose="02000503000000020004" pitchFamily="2" charset="0"/>
              </a:rPr>
              <a:t>.</a:t>
            </a:r>
            <a:endParaRPr lang="en-CA" sz="1500" dirty="0">
              <a:effectLst/>
              <a:latin typeface="Helvetica Neue" panose="02000503000000020004" pitchFamily="2" charset="0"/>
            </a:endParaRPr>
          </a:p>
          <a:p>
            <a:pPr marL="514350" indent="-514350">
              <a:buFont typeface="+mj-lt"/>
              <a:buAutoNum type="arabicPeriod"/>
            </a:pPr>
            <a:r>
              <a:rPr lang="en-CA" sz="1500" dirty="0">
                <a:effectLst/>
                <a:latin typeface="Helvetica Neue" panose="02000503000000020004" pitchFamily="2" charset="0"/>
              </a:rPr>
              <a:t>We split the data into </a:t>
            </a:r>
            <a:r>
              <a:rPr lang="en-CA" sz="1500" b="0" i="0" dirty="0">
                <a:effectLst/>
                <a:latin typeface="MJXc-TeX-math-I"/>
              </a:rPr>
              <a:t>k</a:t>
            </a:r>
            <a:r>
              <a:rPr lang="en-CA" sz="1500" dirty="0">
                <a:effectLst/>
                <a:latin typeface="Helvetica Neue" panose="02000503000000020004" pitchFamily="2" charset="0"/>
              </a:rPr>
              <a:t> random sections, let’s say 10 proportionally equal sections.</a:t>
            </a:r>
          </a:p>
          <a:p>
            <a:pPr marL="514350" indent="-514350">
              <a:buFont typeface="+mj-lt"/>
              <a:buAutoNum type="arabicPeriod"/>
            </a:pPr>
            <a:r>
              <a:rPr lang="en-CA" sz="1500" dirty="0">
                <a:effectLst/>
                <a:latin typeface="Helvetica Neue" panose="02000503000000020004" pitchFamily="2" charset="0"/>
              </a:rPr>
              <a:t>We leave one section out and use 9 sections. The combination of these 9 sections is our </a:t>
            </a:r>
            <a:r>
              <a:rPr lang="en-CA" sz="1500" b="1" dirty="0">
                <a:effectLst/>
                <a:latin typeface="Helvetica Neue" panose="02000503000000020004" pitchFamily="2" charset="0"/>
              </a:rPr>
              <a:t>training set</a:t>
            </a:r>
            <a:r>
              <a:rPr lang="en-CA" sz="1500" dirty="0">
                <a:effectLst/>
                <a:latin typeface="Helvetica Neue" panose="02000503000000020004" pitchFamily="2" charset="0"/>
              </a:rPr>
              <a:t>. The one that is left out is our </a:t>
            </a:r>
            <a:r>
              <a:rPr lang="en-CA" sz="1500" b="1" dirty="0">
                <a:effectLst/>
                <a:latin typeface="Helvetica Neue" panose="02000503000000020004" pitchFamily="2" charset="0"/>
              </a:rPr>
              <a:t>validation set</a:t>
            </a:r>
            <a:r>
              <a:rPr lang="en-CA" sz="1500" dirty="0">
                <a:effectLst/>
                <a:latin typeface="Helvetica Neue" panose="02000503000000020004" pitchFamily="2" charset="0"/>
              </a:rPr>
              <a:t>.</a:t>
            </a:r>
          </a:p>
          <a:p>
            <a:pPr marL="514350" indent="-514350">
              <a:buFont typeface="+mj-lt"/>
              <a:buAutoNum type="arabicPeriod"/>
            </a:pPr>
            <a:r>
              <a:rPr lang="en-CA" sz="1500" dirty="0">
                <a:effectLst/>
                <a:latin typeface="Helvetica Neue" panose="02000503000000020004" pitchFamily="2" charset="0"/>
              </a:rPr>
              <a:t>We fit the model using each value in the set of possible values of </a:t>
            </a:r>
            <a:r>
              <a:rPr lang="el-GR" sz="1500" b="0" i="0" dirty="0">
                <a:effectLst/>
                <a:latin typeface="MJXc-TeX-math-I"/>
              </a:rPr>
              <a:t>λ</a:t>
            </a:r>
            <a:r>
              <a:rPr lang="el-GR" sz="1500" dirty="0">
                <a:effectLst/>
                <a:latin typeface="Helvetica Neue" panose="02000503000000020004" pitchFamily="2" charset="0"/>
              </a:rPr>
              <a:t>. </a:t>
            </a:r>
            <a:r>
              <a:rPr lang="en-CA" sz="1500" dirty="0">
                <a:effectLst/>
                <a:latin typeface="Helvetica Neue" panose="02000503000000020004" pitchFamily="2" charset="0"/>
              </a:rPr>
              <a:t>For example, if we have 100 values of </a:t>
            </a:r>
            <a:r>
              <a:rPr lang="el-GR" sz="1500" b="0" i="0" dirty="0">
                <a:effectLst/>
                <a:latin typeface="MJXc-TeX-math-I"/>
              </a:rPr>
              <a:t>λ</a:t>
            </a:r>
            <a:r>
              <a:rPr lang="el-GR" sz="1500" dirty="0">
                <a:effectLst/>
                <a:latin typeface="Helvetica Neue" panose="02000503000000020004" pitchFamily="2" charset="0"/>
              </a:rPr>
              <a:t>, </a:t>
            </a:r>
            <a:r>
              <a:rPr lang="en-CA" sz="1500" dirty="0">
                <a:effectLst/>
                <a:latin typeface="Helvetica Neue" panose="02000503000000020004" pitchFamily="2" charset="0"/>
              </a:rPr>
              <a:t>we fit the model to the training set 100 times, once for each possible value of </a:t>
            </a:r>
            <a:r>
              <a:rPr lang="el-GR" sz="1500" b="0" i="0" dirty="0">
                <a:effectLst/>
                <a:latin typeface="MJXc-TeX-math-I"/>
              </a:rPr>
              <a:t>λ</a:t>
            </a:r>
            <a:r>
              <a:rPr lang="el-GR" sz="1500" dirty="0">
                <a:effectLst/>
                <a:latin typeface="Helvetica Neue" panose="02000503000000020004" pitchFamily="2" charset="0"/>
              </a:rPr>
              <a:t>.</a:t>
            </a:r>
            <a:endParaRPr lang="en-CA" sz="1500" dirty="0">
              <a:effectLst/>
              <a:latin typeface="Helvetica Neue" panose="02000503000000020004" pitchFamily="2" charset="0"/>
            </a:endParaRPr>
          </a:p>
          <a:p>
            <a:pPr marL="514350" indent="-514350">
              <a:buFont typeface="+mj-lt"/>
              <a:buAutoNum type="arabicPeriod"/>
            </a:pPr>
            <a:r>
              <a:rPr lang="en-CA" sz="1500" dirty="0">
                <a:effectLst/>
                <a:latin typeface="Helvetica Neue" panose="02000503000000020004" pitchFamily="2" charset="0"/>
              </a:rPr>
              <a:t>We evaluate each of 100 models by using their predictive accuracy on the validation set, the one that is left out. We pick a </a:t>
            </a:r>
            <a:r>
              <a:rPr lang="el-GR" sz="1500" b="0" i="0" dirty="0">
                <a:effectLst/>
                <a:latin typeface="MJXc-TeX-math-I"/>
              </a:rPr>
              <a:t>λ</a:t>
            </a:r>
            <a:r>
              <a:rPr lang="el-GR" sz="1500" dirty="0">
                <a:effectLst/>
                <a:latin typeface="Helvetica Neue" panose="02000503000000020004" pitchFamily="2" charset="0"/>
              </a:rPr>
              <a:t> </a:t>
            </a:r>
            <a:r>
              <a:rPr lang="en-CA" sz="1500" dirty="0">
                <a:effectLst/>
                <a:latin typeface="Helvetica Neue" panose="02000503000000020004" pitchFamily="2" charset="0"/>
              </a:rPr>
              <a:t>that gives the highest prediction accuracy.</a:t>
            </a:r>
          </a:p>
          <a:p>
            <a:pPr marL="514350" indent="-514350">
              <a:buFont typeface="+mj-lt"/>
              <a:buAutoNum type="arabicPeriod"/>
            </a:pPr>
            <a:r>
              <a:rPr lang="en-CA" sz="1500" dirty="0">
                <a:effectLst/>
                <a:latin typeface="Helvetica Neue" panose="02000503000000020004" pitchFamily="2" charset="0"/>
              </a:rPr>
              <a:t>We do this process 10 times (if it is 10-fold cross validation) with each time using a different section of the data as the validation set. So, note that each time our training and validation sets are going to be different. At the end, in total we will have 10 best </a:t>
            </a:r>
            <a:r>
              <a:rPr lang="el-GR" sz="1500" b="0" i="0" dirty="0">
                <a:effectLst/>
                <a:latin typeface="MJXc-TeX-math-I"/>
              </a:rPr>
              <a:t>λ</a:t>
            </a:r>
            <a:r>
              <a:rPr lang="en-CA" sz="1500" dirty="0">
                <a:effectLst/>
                <a:latin typeface="Helvetica Neue" panose="02000503000000020004" pitchFamily="2" charset="0"/>
              </a:rPr>
              <a:t>s.</a:t>
            </a:r>
          </a:p>
          <a:p>
            <a:pPr marL="514350" indent="-514350">
              <a:buFont typeface="+mj-lt"/>
              <a:buAutoNum type="arabicPeriod"/>
            </a:pPr>
            <a:r>
              <a:rPr lang="en-CA" sz="1500" dirty="0">
                <a:effectLst/>
                <a:latin typeface="Helvetica Neue" panose="02000503000000020004" pitchFamily="2" charset="0"/>
              </a:rPr>
              <a:t>We pick the average or modal value of </a:t>
            </a:r>
            <a:r>
              <a:rPr lang="el-GR" sz="1500" b="0" i="0" dirty="0">
                <a:effectLst/>
                <a:latin typeface="MJXc-TeX-math-I"/>
              </a:rPr>
              <a:t>λ</a:t>
            </a:r>
            <a:r>
              <a:rPr lang="el-GR" sz="1500" dirty="0">
                <a:effectLst/>
                <a:latin typeface="Helvetica Neue" panose="02000503000000020004" pitchFamily="2" charset="0"/>
              </a:rPr>
              <a:t> </a:t>
            </a:r>
            <a:r>
              <a:rPr lang="en-CA" sz="1500" dirty="0">
                <a:effectLst/>
                <a:latin typeface="Helvetica Neue" panose="02000503000000020004" pitchFamily="2" charset="0"/>
              </a:rPr>
              <a:t>as our optimal hyperparameter that tunes our predictive model for its best performance.</a:t>
            </a:r>
          </a:p>
          <a:p>
            <a:pPr marL="0" indent="0">
              <a:buNone/>
            </a:pPr>
            <a:endParaRPr lang="en-US" sz="1000" dirty="0"/>
          </a:p>
        </p:txBody>
      </p:sp>
      <p:pic>
        <p:nvPicPr>
          <p:cNvPr id="6" name="Content Placeholder 4" descr="Chart&#10;&#10;Description automatically generated">
            <a:extLst>
              <a:ext uri="{FF2B5EF4-FFF2-40B4-BE49-F238E27FC236}">
                <a16:creationId xmlns:a16="http://schemas.microsoft.com/office/drawing/2014/main" id="{0F27E582-A351-D465-299F-ABF7C5A9054C}"/>
              </a:ext>
            </a:extLst>
          </p:cNvPr>
          <p:cNvPicPr>
            <a:picLocks noChangeAspect="1"/>
          </p:cNvPicPr>
          <p:nvPr/>
        </p:nvPicPr>
        <p:blipFill>
          <a:blip r:embed="rId2"/>
          <a:stretch>
            <a:fillRect/>
          </a:stretch>
        </p:blipFill>
        <p:spPr>
          <a:xfrm>
            <a:off x="641774" y="1897227"/>
            <a:ext cx="4541857" cy="2921908"/>
          </a:xfrm>
          <a:prstGeom prst="rect">
            <a:avLst/>
          </a:prstGeom>
        </p:spPr>
      </p:pic>
      <p:sp>
        <p:nvSpPr>
          <p:cNvPr id="7" name="TextBox 6">
            <a:extLst>
              <a:ext uri="{FF2B5EF4-FFF2-40B4-BE49-F238E27FC236}">
                <a16:creationId xmlns:a16="http://schemas.microsoft.com/office/drawing/2014/main" id="{B511E461-2010-B41E-84E6-5326CF7844AF}"/>
              </a:ext>
            </a:extLst>
          </p:cNvPr>
          <p:cNvSpPr txBox="1"/>
          <p:nvPr/>
        </p:nvSpPr>
        <p:spPr>
          <a:xfrm>
            <a:off x="985047" y="799778"/>
            <a:ext cx="1927655" cy="646331"/>
          </a:xfrm>
          <a:prstGeom prst="rect">
            <a:avLst/>
          </a:prstGeom>
          <a:noFill/>
        </p:spPr>
        <p:txBody>
          <a:bodyPr wrap="square" rtlCol="0">
            <a:spAutoFit/>
          </a:bodyPr>
          <a:lstStyle/>
          <a:p>
            <a:r>
              <a:rPr lang="en-US" sz="3600" dirty="0"/>
              <a:t>k-fold CV</a:t>
            </a:r>
          </a:p>
        </p:txBody>
      </p:sp>
    </p:spTree>
    <p:extLst>
      <p:ext uri="{BB962C8B-B14F-4D97-AF65-F5344CB8AC3E}">
        <p14:creationId xmlns:p14="http://schemas.microsoft.com/office/powerpoint/2010/main" val="14392730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Down Arrow 7">
            <a:extLst>
              <a:ext uri="{FF2B5EF4-FFF2-40B4-BE49-F238E27FC236}">
                <a16:creationId xmlns:a16="http://schemas.microsoft.com/office/drawing/2014/main" id="{D4771268-CB57-404A-9271-370EB28F6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00100" y="1491343"/>
            <a:ext cx="3333749" cy="3499103"/>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B52BB24-6853-DC50-7D4E-38AEF593C810}"/>
              </a:ext>
            </a:extLst>
          </p:cNvPr>
          <p:cNvSpPr>
            <a:spLocks noGrp="1"/>
          </p:cNvSpPr>
          <p:nvPr>
            <p:ph type="title"/>
          </p:nvPr>
        </p:nvSpPr>
        <p:spPr>
          <a:xfrm>
            <a:off x="997169" y="1967265"/>
            <a:ext cx="2628900" cy="2547257"/>
          </a:xfrm>
          <a:noFill/>
        </p:spPr>
        <p:txBody>
          <a:bodyPr vert="horz" lIns="91440" tIns="45720" rIns="91440" bIns="45720" rtlCol="0" anchor="ctr">
            <a:normAutofit/>
          </a:bodyPr>
          <a:lstStyle/>
          <a:p>
            <a:pPr algn="ctr"/>
            <a:r>
              <a:rPr lang="en-US" sz="3600" kern="1200" dirty="0">
                <a:solidFill>
                  <a:srgbClr val="FFFFFF"/>
                </a:solidFill>
                <a:latin typeface="+mj-lt"/>
                <a:ea typeface="+mj-ea"/>
                <a:cs typeface="+mj-cs"/>
              </a:rPr>
              <a:t>How to split the data in </a:t>
            </a:r>
            <a:br>
              <a:rPr lang="en-US" sz="3600" kern="1200" dirty="0">
                <a:solidFill>
                  <a:srgbClr val="FFFFFF"/>
                </a:solidFill>
                <a:latin typeface="+mj-lt"/>
                <a:ea typeface="+mj-ea"/>
                <a:cs typeface="+mj-cs"/>
              </a:rPr>
            </a:br>
            <a:r>
              <a:rPr lang="en-US" sz="3600" kern="1200" dirty="0">
                <a:solidFill>
                  <a:srgbClr val="FFFFFF"/>
                </a:solidFill>
                <a:latin typeface="+mj-lt"/>
                <a:ea typeface="+mj-ea"/>
                <a:cs typeface="+mj-cs"/>
              </a:rPr>
              <a:t>10-fold CV</a:t>
            </a:r>
          </a:p>
        </p:txBody>
      </p:sp>
      <p:pic>
        <p:nvPicPr>
          <p:cNvPr id="6" name="Picture 5" descr="Text&#10;&#10;Description automatically generated">
            <a:extLst>
              <a:ext uri="{FF2B5EF4-FFF2-40B4-BE49-F238E27FC236}">
                <a16:creationId xmlns:a16="http://schemas.microsoft.com/office/drawing/2014/main" id="{3254E052-6062-3135-BEA1-4162D9F73416}"/>
              </a:ext>
            </a:extLst>
          </p:cNvPr>
          <p:cNvPicPr>
            <a:picLocks noChangeAspect="1"/>
          </p:cNvPicPr>
          <p:nvPr/>
        </p:nvPicPr>
        <p:blipFill>
          <a:blip r:embed="rId2"/>
          <a:stretch>
            <a:fillRect/>
          </a:stretch>
        </p:blipFill>
        <p:spPr>
          <a:xfrm>
            <a:off x="4527803" y="111146"/>
            <a:ext cx="7506541" cy="6635707"/>
          </a:xfrm>
          <a:prstGeom prst="rect">
            <a:avLst/>
          </a:prstGeom>
        </p:spPr>
      </p:pic>
    </p:spTree>
    <p:extLst>
      <p:ext uri="{BB962C8B-B14F-4D97-AF65-F5344CB8AC3E}">
        <p14:creationId xmlns:p14="http://schemas.microsoft.com/office/powerpoint/2010/main" val="1596039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D1AA55E-40D5-461B-A5A8-4AE8AAB71B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1976443-F07A-6ACD-CC64-ABD0A89D281A}"/>
              </a:ext>
            </a:extLst>
          </p:cNvPr>
          <p:cNvSpPr>
            <a:spLocks noGrp="1"/>
          </p:cNvSpPr>
          <p:nvPr>
            <p:ph type="title"/>
          </p:nvPr>
        </p:nvSpPr>
        <p:spPr>
          <a:xfrm>
            <a:off x="803775" y="1106007"/>
            <a:ext cx="10550025" cy="1182927"/>
          </a:xfrm>
        </p:spPr>
        <p:txBody>
          <a:bodyPr anchor="b">
            <a:normAutofit/>
          </a:bodyPr>
          <a:lstStyle/>
          <a:p>
            <a:r>
              <a:rPr lang="en-US" sz="5600" dirty="0"/>
              <a:t>Grid search for LOESS</a:t>
            </a:r>
          </a:p>
        </p:txBody>
      </p:sp>
      <p:cxnSp>
        <p:nvCxnSpPr>
          <p:cNvPr id="10" name="Straight Connector 9">
            <a:extLst>
              <a:ext uri="{FF2B5EF4-FFF2-40B4-BE49-F238E27FC236}">
                <a16:creationId xmlns:a16="http://schemas.microsoft.com/office/drawing/2014/main" id="{7EB498BD-8089-4626-91EA-4978EBEF535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878" y="806470"/>
            <a:ext cx="7903723" cy="0"/>
          </a:xfrm>
          <a:prstGeom prst="line">
            <a:avLst/>
          </a:prstGeom>
          <a:ln w="25400" cap="sq">
            <a:gradFill flip="none" rotWithShape="1">
              <a:gsLst>
                <a:gs pos="0">
                  <a:schemeClr val="accent1"/>
                </a:gs>
                <a:gs pos="100000">
                  <a:schemeClr val="accent2"/>
                </a:gs>
              </a:gsLst>
              <a:lin ang="10800000" scaled="0"/>
              <a:tileRect/>
            </a:gradFill>
            <a:beve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9DB64E6C-391C-130B-40E7-2103AD4371AF}"/>
              </a:ext>
            </a:extLst>
          </p:cNvPr>
          <p:cNvSpPr>
            <a:spLocks noGrp="1"/>
          </p:cNvSpPr>
          <p:nvPr>
            <p:ph idx="1"/>
          </p:nvPr>
        </p:nvSpPr>
        <p:spPr>
          <a:xfrm>
            <a:off x="803775" y="2598947"/>
            <a:ext cx="10550025" cy="3677348"/>
          </a:xfrm>
        </p:spPr>
        <p:txBody>
          <a:bodyPr anchor="t">
            <a:normAutofit/>
          </a:bodyPr>
          <a:lstStyle/>
          <a:p>
            <a:r>
              <a:rPr lang="en-US" sz="2000" dirty="0">
                <a:solidFill>
                  <a:schemeClr val="tx1">
                    <a:alpha val="80000"/>
                  </a:schemeClr>
                </a:solidFill>
              </a:rPr>
              <a:t>The traditional way of performing hyperparameter optimization has been a </a:t>
            </a:r>
            <a:r>
              <a:rPr lang="en-US" sz="2000" b="1" dirty="0">
                <a:solidFill>
                  <a:schemeClr val="tx1">
                    <a:alpha val="80000"/>
                  </a:schemeClr>
                </a:solidFill>
              </a:rPr>
              <a:t>grid search</a:t>
            </a:r>
            <a:r>
              <a:rPr lang="en-US" sz="2000" dirty="0">
                <a:solidFill>
                  <a:schemeClr val="tx1">
                    <a:alpha val="80000"/>
                  </a:schemeClr>
                </a:solidFill>
              </a:rPr>
              <a:t>, or a </a:t>
            </a:r>
            <a:r>
              <a:rPr lang="en-US" sz="2000" b="1" dirty="0">
                <a:solidFill>
                  <a:schemeClr val="tx1">
                    <a:alpha val="80000"/>
                  </a:schemeClr>
                </a:solidFill>
              </a:rPr>
              <a:t>parameter sweep</a:t>
            </a:r>
          </a:p>
          <a:p>
            <a:r>
              <a:rPr lang="en-US" sz="2000" dirty="0">
                <a:solidFill>
                  <a:schemeClr val="tx1">
                    <a:alpha val="80000"/>
                  </a:schemeClr>
                </a:solidFill>
              </a:rPr>
              <a:t>It is simply an </a:t>
            </a:r>
            <a:r>
              <a:rPr lang="en-US" sz="2000" b="1" dirty="0">
                <a:solidFill>
                  <a:schemeClr val="tx1">
                    <a:alpha val="80000"/>
                  </a:schemeClr>
                </a:solidFill>
              </a:rPr>
              <a:t>exhaustive search </a:t>
            </a:r>
            <a:r>
              <a:rPr lang="en-US" sz="2000" dirty="0">
                <a:solidFill>
                  <a:schemeClr val="tx1">
                    <a:alpha val="80000"/>
                  </a:schemeClr>
                </a:solidFill>
              </a:rPr>
              <a:t>through a manually specified subset of the hyperparameter space of a learning algorithm.</a:t>
            </a:r>
          </a:p>
          <a:p>
            <a:r>
              <a:rPr lang="en-US" sz="2000" dirty="0">
                <a:solidFill>
                  <a:schemeClr val="tx1">
                    <a:alpha val="80000"/>
                  </a:schemeClr>
                </a:solidFill>
              </a:rPr>
              <a:t>There are two hyperparameters in LOESS: </a:t>
            </a:r>
            <a:r>
              <a:rPr lang="en-US" sz="2000" b="1" dirty="0">
                <a:solidFill>
                  <a:srgbClr val="00B0F0">
                    <a:alpha val="80000"/>
                  </a:srgbClr>
                </a:solidFill>
              </a:rPr>
              <a:t>span</a:t>
            </a:r>
            <a:r>
              <a:rPr lang="en-US" sz="2000" dirty="0">
                <a:solidFill>
                  <a:schemeClr val="tx1">
                    <a:alpha val="80000"/>
                  </a:schemeClr>
                </a:solidFill>
              </a:rPr>
              <a:t> and </a:t>
            </a:r>
            <a:r>
              <a:rPr lang="en-US" sz="2000" b="1" dirty="0">
                <a:solidFill>
                  <a:srgbClr val="00B0F0">
                    <a:alpha val="80000"/>
                  </a:srgbClr>
                </a:solidFill>
              </a:rPr>
              <a:t>degree</a:t>
            </a:r>
          </a:p>
          <a:p>
            <a:r>
              <a:rPr lang="en-US" sz="2000" dirty="0">
                <a:solidFill>
                  <a:schemeClr val="tx1">
                    <a:alpha val="80000"/>
                  </a:schemeClr>
                </a:solidFill>
              </a:rPr>
              <a:t>Let’s do a grid search for LOESS</a:t>
            </a:r>
          </a:p>
        </p:txBody>
      </p:sp>
      <p:grpSp>
        <p:nvGrpSpPr>
          <p:cNvPr id="12" name="Group 11">
            <a:extLst>
              <a:ext uri="{FF2B5EF4-FFF2-40B4-BE49-F238E27FC236}">
                <a16:creationId xmlns:a16="http://schemas.microsoft.com/office/drawing/2014/main" id="{78350D8D-73D6-4132-89B5-DD52F3962A7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388224" y="2325422"/>
            <a:ext cx="465458" cy="872153"/>
            <a:chOff x="11388224" y="2325422"/>
            <a:chExt cx="465458" cy="872153"/>
          </a:xfrm>
        </p:grpSpPr>
        <p:sp>
          <p:nvSpPr>
            <p:cNvPr id="13" name="Graphic 11">
              <a:extLst>
                <a:ext uri="{FF2B5EF4-FFF2-40B4-BE49-F238E27FC236}">
                  <a16:creationId xmlns:a16="http://schemas.microsoft.com/office/drawing/2014/main" id="{6CB927A4-E432-4310-9CD5-E89FF50631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3764" y="2325422"/>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endParaRPr lang="en-US"/>
            </a:p>
          </p:txBody>
        </p:sp>
        <p:sp>
          <p:nvSpPr>
            <p:cNvPr id="14" name="Graphic 10">
              <a:extLst>
                <a:ext uri="{FF2B5EF4-FFF2-40B4-BE49-F238E27FC236}">
                  <a16:creationId xmlns:a16="http://schemas.microsoft.com/office/drawing/2014/main" id="{E3020543-B24B-4EC4-8FFC-8DD88EEA91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762544" y="2554717"/>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endParaRPr lang="en-US"/>
            </a:p>
          </p:txBody>
        </p:sp>
        <p:sp>
          <p:nvSpPr>
            <p:cNvPr id="15" name="Graphic 12">
              <a:extLst>
                <a:ext uri="{FF2B5EF4-FFF2-40B4-BE49-F238E27FC236}">
                  <a16:creationId xmlns:a16="http://schemas.microsoft.com/office/drawing/2014/main" id="{1453BF6C-B012-48B7-B4E8-6D7AC7C27D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88224" y="3069861"/>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endParaRPr lang="en-US"/>
            </a:p>
          </p:txBody>
        </p:sp>
      </p:grpSp>
    </p:spTree>
    <p:extLst>
      <p:ext uri="{BB962C8B-B14F-4D97-AF65-F5344CB8AC3E}">
        <p14:creationId xmlns:p14="http://schemas.microsoft.com/office/powerpoint/2010/main" val="31593189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descr="Graphical user interface, application&#10;&#10;Description automatically generated">
            <a:extLst>
              <a:ext uri="{FF2B5EF4-FFF2-40B4-BE49-F238E27FC236}">
                <a16:creationId xmlns:a16="http://schemas.microsoft.com/office/drawing/2014/main" id="{49190064-DE91-F168-84D7-1F22ABFDD2E5}"/>
              </a:ext>
            </a:extLst>
          </p:cNvPr>
          <p:cNvPicPr>
            <a:picLocks noChangeAspect="1"/>
          </p:cNvPicPr>
          <p:nvPr/>
        </p:nvPicPr>
        <p:blipFill>
          <a:blip r:embed="rId2"/>
          <a:stretch>
            <a:fillRect/>
          </a:stretch>
        </p:blipFill>
        <p:spPr>
          <a:xfrm>
            <a:off x="3634809" y="165764"/>
            <a:ext cx="8557191" cy="6526472"/>
          </a:xfrm>
          <a:prstGeom prst="rect">
            <a:avLst/>
          </a:prstGeom>
        </p:spPr>
      </p:pic>
      <p:sp>
        <p:nvSpPr>
          <p:cNvPr id="10" name="TextBox 9">
            <a:extLst>
              <a:ext uri="{FF2B5EF4-FFF2-40B4-BE49-F238E27FC236}">
                <a16:creationId xmlns:a16="http://schemas.microsoft.com/office/drawing/2014/main" id="{4DD965DD-F84A-EB8B-0DB1-F259AEFDDC01}"/>
              </a:ext>
            </a:extLst>
          </p:cNvPr>
          <p:cNvSpPr txBox="1"/>
          <p:nvPr/>
        </p:nvSpPr>
        <p:spPr>
          <a:xfrm>
            <a:off x="730327" y="1997839"/>
            <a:ext cx="2904482" cy="1754326"/>
          </a:xfrm>
          <a:prstGeom prst="rect">
            <a:avLst/>
          </a:prstGeom>
          <a:noFill/>
        </p:spPr>
        <p:txBody>
          <a:bodyPr wrap="square" rtlCol="0">
            <a:spAutoFit/>
          </a:bodyPr>
          <a:lstStyle/>
          <a:p>
            <a:r>
              <a:rPr lang="en-US" sz="3600" dirty="0"/>
              <a:t>How are we going to do this?</a:t>
            </a:r>
          </a:p>
        </p:txBody>
      </p:sp>
    </p:spTree>
    <p:extLst>
      <p:ext uri="{BB962C8B-B14F-4D97-AF65-F5344CB8AC3E}">
        <p14:creationId xmlns:p14="http://schemas.microsoft.com/office/powerpoint/2010/main" val="21616009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2679492-7988-4050-9056-5424444524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E71FA28-40CC-3955-DD36-4E9B117BFC87}"/>
              </a:ext>
            </a:extLst>
          </p:cNvPr>
          <p:cNvSpPr>
            <a:spLocks noGrp="1"/>
          </p:cNvSpPr>
          <p:nvPr>
            <p:ph type="title"/>
          </p:nvPr>
        </p:nvSpPr>
        <p:spPr>
          <a:xfrm>
            <a:off x="6412091" y="501651"/>
            <a:ext cx="4395340" cy="808165"/>
          </a:xfrm>
        </p:spPr>
        <p:txBody>
          <a:bodyPr anchor="b">
            <a:normAutofit fontScale="90000"/>
          </a:bodyPr>
          <a:lstStyle/>
          <a:p>
            <a:r>
              <a:rPr lang="en-US" sz="5600" b="1" dirty="0"/>
              <a:t>Bootstrapping</a:t>
            </a:r>
          </a:p>
        </p:txBody>
      </p:sp>
      <p:sp>
        <p:nvSpPr>
          <p:cNvPr id="12" name="Rectangle 11">
            <a:extLst>
              <a:ext uri="{FF2B5EF4-FFF2-40B4-BE49-F238E27FC236}">
                <a16:creationId xmlns:a16="http://schemas.microsoft.com/office/drawing/2014/main" id="{B091B163-7D61-4891-ABCF-5C13D9C418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779911" cy="6858000"/>
          </a:xfrm>
          <a:prstGeom prst="rect">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Rubber boots at back door">
            <a:extLst>
              <a:ext uri="{FF2B5EF4-FFF2-40B4-BE49-F238E27FC236}">
                <a16:creationId xmlns:a16="http://schemas.microsoft.com/office/drawing/2014/main" id="{B4C354FA-A631-0AA5-6DF9-7EB452D3818D}"/>
              </a:ext>
            </a:extLst>
          </p:cNvPr>
          <p:cNvPicPr>
            <a:picLocks noChangeAspect="1"/>
          </p:cNvPicPr>
          <p:nvPr/>
        </p:nvPicPr>
        <p:blipFill rotWithShape="1">
          <a:blip r:embed="rId2"/>
          <a:srcRect r="32486" b="-1"/>
          <a:stretch/>
        </p:blipFill>
        <p:spPr>
          <a:xfrm>
            <a:off x="279143" y="847707"/>
            <a:ext cx="5221625" cy="5162587"/>
          </a:xfrm>
          <a:prstGeom prst="rect">
            <a:avLst/>
          </a:prstGeom>
        </p:spPr>
      </p:pic>
      <p:sp>
        <p:nvSpPr>
          <p:cNvPr id="3" name="Content Placeholder 2">
            <a:extLst>
              <a:ext uri="{FF2B5EF4-FFF2-40B4-BE49-F238E27FC236}">
                <a16:creationId xmlns:a16="http://schemas.microsoft.com/office/drawing/2014/main" id="{4C56A80F-5306-7373-FA09-2008B7EB891C}"/>
              </a:ext>
            </a:extLst>
          </p:cNvPr>
          <p:cNvSpPr>
            <a:spLocks noGrp="1"/>
          </p:cNvSpPr>
          <p:nvPr>
            <p:ph idx="1"/>
          </p:nvPr>
        </p:nvSpPr>
        <p:spPr>
          <a:xfrm>
            <a:off x="6392583" y="1309816"/>
            <a:ext cx="5063693" cy="5046533"/>
          </a:xfrm>
        </p:spPr>
        <p:txBody>
          <a:bodyPr anchor="t">
            <a:normAutofit/>
          </a:bodyPr>
          <a:lstStyle/>
          <a:p>
            <a:r>
              <a:rPr lang="en-CA" sz="1800" b="0" i="0" u="none" strike="noStrike" dirty="0">
                <a:solidFill>
                  <a:schemeClr val="tx1">
                    <a:alpha val="80000"/>
                  </a:schemeClr>
                </a:solidFill>
                <a:effectLst/>
                <a:latin typeface="Helvetica Neue" panose="02000503000000020004" pitchFamily="2" charset="0"/>
              </a:rPr>
              <a:t>Similar to cross-validation, the bootstrapping is another and a powerful resampling method</a:t>
            </a:r>
          </a:p>
          <a:p>
            <a:r>
              <a:rPr lang="en-CA" sz="1800" dirty="0">
                <a:solidFill>
                  <a:schemeClr val="tx1">
                    <a:alpha val="80000"/>
                  </a:schemeClr>
                </a:solidFill>
                <a:latin typeface="Helvetica Neue" panose="02000503000000020004" pitchFamily="2" charset="0"/>
              </a:rPr>
              <a:t>It</a:t>
            </a:r>
            <a:r>
              <a:rPr lang="en-CA" sz="1800" b="0" i="0" u="none" strike="noStrike" dirty="0">
                <a:solidFill>
                  <a:schemeClr val="tx1">
                    <a:alpha val="80000"/>
                  </a:schemeClr>
                </a:solidFill>
                <a:effectLst/>
                <a:latin typeface="Helvetica Neue" panose="02000503000000020004" pitchFamily="2" charset="0"/>
              </a:rPr>
              <a:t> randomly samples from the original data </a:t>
            </a:r>
            <a:r>
              <a:rPr lang="en-CA" sz="1800" b="1" i="0" u="none" strike="noStrike" dirty="0">
                <a:solidFill>
                  <a:schemeClr val="tx1">
                    <a:alpha val="80000"/>
                  </a:schemeClr>
                </a:solidFill>
                <a:effectLst/>
                <a:latin typeface="Helvetica Neue" panose="02000503000000020004" pitchFamily="2" charset="0"/>
              </a:rPr>
              <a:t>with replacement </a:t>
            </a:r>
            <a:r>
              <a:rPr lang="en-CA" sz="1800" b="0" i="0" u="none" strike="noStrike" dirty="0">
                <a:solidFill>
                  <a:schemeClr val="tx1">
                    <a:alpha val="80000"/>
                  </a:schemeClr>
                </a:solidFill>
                <a:effectLst/>
                <a:latin typeface="Helvetica Neue" panose="02000503000000020004" pitchFamily="2" charset="0"/>
              </a:rPr>
              <a:t>to create multiple new datasets (also known as </a:t>
            </a:r>
            <a:r>
              <a:rPr lang="en-CA" sz="1800" b="1" i="0" u="none" strike="noStrike" dirty="0">
                <a:solidFill>
                  <a:schemeClr val="tx1">
                    <a:alpha val="80000"/>
                  </a:schemeClr>
                </a:solidFill>
                <a:effectLst/>
                <a:latin typeface="Helvetica Neue" panose="02000503000000020004" pitchFamily="2" charset="0"/>
              </a:rPr>
              <a:t>“bootstrap samples”</a:t>
            </a:r>
            <a:r>
              <a:rPr lang="en-CA" sz="1800" b="0" i="0" u="none" strike="noStrike" dirty="0">
                <a:solidFill>
                  <a:schemeClr val="tx1">
                    <a:alpha val="80000"/>
                  </a:schemeClr>
                </a:solidFill>
                <a:effectLst/>
                <a:latin typeface="Helvetica Neue" panose="02000503000000020004" pitchFamily="2" charset="0"/>
              </a:rPr>
              <a:t>)</a:t>
            </a:r>
          </a:p>
          <a:p>
            <a:r>
              <a:rPr lang="en-CA" sz="1800" b="0" i="0" u="none" strike="noStrike" dirty="0">
                <a:solidFill>
                  <a:schemeClr val="tx1">
                    <a:alpha val="80000"/>
                  </a:schemeClr>
                </a:solidFill>
                <a:effectLst/>
                <a:latin typeface="Helvetica Neue" panose="02000503000000020004" pitchFamily="2" charset="0"/>
              </a:rPr>
              <a:t>Due to the drawing with replacement, a bootstrap sample may contain multiple instances of the same original cases and may completely omit other original cases.</a:t>
            </a:r>
          </a:p>
          <a:p>
            <a:r>
              <a:rPr lang="en-CA" sz="1800" b="0" i="0" u="none" strike="noStrike" dirty="0">
                <a:solidFill>
                  <a:schemeClr val="tx1">
                    <a:alpha val="80000"/>
                  </a:schemeClr>
                </a:solidFill>
                <a:effectLst/>
                <a:latin typeface="Helvetica Neue" panose="02000503000000020004" pitchFamily="2" charset="0"/>
              </a:rPr>
              <a:t>We can put these omitted original cases in a sample and form a hold-out set, which is also called as </a:t>
            </a:r>
            <a:r>
              <a:rPr lang="en-CA" sz="1800" b="1" i="0" u="none" strike="noStrike" dirty="0">
                <a:solidFill>
                  <a:schemeClr val="tx1">
                    <a:alpha val="80000"/>
                  </a:schemeClr>
                </a:solidFill>
                <a:effectLst/>
                <a:latin typeface="Helvetica Neue" panose="02000503000000020004" pitchFamily="2" charset="0"/>
              </a:rPr>
              <a:t>out-of-bag observations (OOB)</a:t>
            </a:r>
            <a:r>
              <a:rPr lang="en-CA" sz="1800" b="0" i="0" u="none" strike="noStrike" dirty="0">
                <a:solidFill>
                  <a:schemeClr val="tx1">
                    <a:alpha val="80000"/>
                  </a:schemeClr>
                </a:solidFill>
                <a:effectLst/>
                <a:latin typeface="Helvetica Neue" panose="02000503000000020004" pitchFamily="2" charset="0"/>
              </a:rPr>
              <a:t>.</a:t>
            </a:r>
          </a:p>
          <a:p>
            <a:r>
              <a:rPr lang="en-CA" sz="1800" b="0" i="0" u="none" strike="noStrike" dirty="0">
                <a:solidFill>
                  <a:schemeClr val="tx1">
                    <a:alpha val="80000"/>
                  </a:schemeClr>
                </a:solidFill>
                <a:effectLst/>
                <a:latin typeface="Helvetica Neue" panose="02000503000000020004" pitchFamily="2" charset="0"/>
              </a:rPr>
              <a:t>On average, the split between training and OOB samples is around 65%-35%. Here is a simple application to show the split:</a:t>
            </a:r>
            <a:endParaRPr lang="en-US" sz="1800" dirty="0">
              <a:solidFill>
                <a:schemeClr val="tx1">
                  <a:alpha val="80000"/>
                </a:schemeClr>
              </a:solidFill>
            </a:endParaRPr>
          </a:p>
        </p:txBody>
      </p:sp>
      <p:cxnSp>
        <p:nvCxnSpPr>
          <p:cNvPr id="14" name="Straight Connector 13">
            <a:extLst>
              <a:ext uri="{FF2B5EF4-FFF2-40B4-BE49-F238E27FC236}">
                <a16:creationId xmlns:a16="http://schemas.microsoft.com/office/drawing/2014/main" id="{C49DA8F6-BCC1-4447-B54C-57856834B9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586162" y="3610394"/>
            <a:ext cx="0" cy="3238728"/>
          </a:xfrm>
          <a:prstGeom prst="line">
            <a:avLst/>
          </a:prstGeom>
          <a:ln w="25400" cap="sq">
            <a:gradFill flip="none" rotWithShape="1">
              <a:gsLst>
                <a:gs pos="0">
                  <a:schemeClr val="accent1"/>
                </a:gs>
                <a:gs pos="100000">
                  <a:schemeClr val="accent2"/>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767708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6753252F-4873-4F63-801D-CC719279A7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047C8CCB-F95D-4249-92DD-651249D353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013557" cy="6858000"/>
          </a:xfrm>
          <a:prstGeom prst="rect">
            <a:avLst/>
          </a:prstGeom>
          <a:solidFill>
            <a:srgbClr val="4E5B3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4191928-E60E-017E-1DD0-E6087F3AC096}"/>
              </a:ext>
            </a:extLst>
          </p:cNvPr>
          <p:cNvSpPr>
            <a:spLocks noGrp="1"/>
          </p:cNvSpPr>
          <p:nvPr>
            <p:ph type="title"/>
          </p:nvPr>
        </p:nvSpPr>
        <p:spPr>
          <a:xfrm>
            <a:off x="640080" y="2074363"/>
            <a:ext cx="2752354" cy="2709275"/>
          </a:xfrm>
          <a:prstGeom prst="ellipse">
            <a:avLst/>
          </a:prstGeom>
          <a:solidFill>
            <a:srgbClr val="262626"/>
          </a:solidFill>
          <a:ln w="174625" cmpd="thinThick">
            <a:solidFill>
              <a:srgbClr val="262626"/>
            </a:solidFill>
          </a:ln>
        </p:spPr>
        <p:txBody>
          <a:bodyPr vert="horz" lIns="91440" tIns="45720" rIns="91440" bIns="45720" rtlCol="0" anchor="ctr">
            <a:normAutofit/>
          </a:bodyPr>
          <a:lstStyle/>
          <a:p>
            <a:pPr algn="ctr"/>
            <a:r>
              <a:rPr lang="en-US" sz="2600" kern="1200">
                <a:solidFill>
                  <a:srgbClr val="FFFFFF"/>
                </a:solidFill>
                <a:latin typeface="+mj-lt"/>
                <a:ea typeface="+mj-ea"/>
                <a:cs typeface="+mj-cs"/>
              </a:rPr>
              <a:t>Reporting results</a:t>
            </a:r>
          </a:p>
        </p:txBody>
      </p:sp>
      <p:pic>
        <p:nvPicPr>
          <p:cNvPr id="5" name="Content Placeholder 4" descr="Chart, scatter chart&#10;&#10;Description automatically generated">
            <a:extLst>
              <a:ext uri="{FF2B5EF4-FFF2-40B4-BE49-F238E27FC236}">
                <a16:creationId xmlns:a16="http://schemas.microsoft.com/office/drawing/2014/main" id="{2F094518-A1B6-96B1-34CE-D44C200B3DC2}"/>
              </a:ext>
            </a:extLst>
          </p:cNvPr>
          <p:cNvPicPr>
            <a:picLocks noGrp="1" noChangeAspect="1"/>
          </p:cNvPicPr>
          <p:nvPr>
            <p:ph idx="1"/>
          </p:nvPr>
        </p:nvPicPr>
        <p:blipFill>
          <a:blip r:embed="rId2"/>
          <a:stretch>
            <a:fillRect/>
          </a:stretch>
        </p:blipFill>
        <p:spPr>
          <a:xfrm>
            <a:off x="4038600" y="1154038"/>
            <a:ext cx="7188199" cy="4546535"/>
          </a:xfrm>
          <a:prstGeom prst="rect">
            <a:avLst/>
          </a:prstGeom>
        </p:spPr>
      </p:pic>
    </p:spTree>
    <p:extLst>
      <p:ext uri="{BB962C8B-B14F-4D97-AF65-F5344CB8AC3E}">
        <p14:creationId xmlns:p14="http://schemas.microsoft.com/office/powerpoint/2010/main" val="42998557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1997</TotalTime>
  <Words>530</Words>
  <Application>Microsoft Macintosh PowerPoint</Application>
  <PresentationFormat>Widescreen</PresentationFormat>
  <Paragraphs>29</Paragraphs>
  <Slides>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Arial</vt:lpstr>
      <vt:lpstr>Calibri</vt:lpstr>
      <vt:lpstr>Calibri Light</vt:lpstr>
      <vt:lpstr>Helvetica Neue</vt:lpstr>
      <vt:lpstr>MJXc-TeX-math-I</vt:lpstr>
      <vt:lpstr>Office Theme</vt:lpstr>
      <vt:lpstr>Self-Learning</vt:lpstr>
      <vt:lpstr>Hyperparameters</vt:lpstr>
      <vt:lpstr>PowerPoint Presentation</vt:lpstr>
      <vt:lpstr>How to split the data in  10-fold CV</vt:lpstr>
      <vt:lpstr>Grid search for LOESS</vt:lpstr>
      <vt:lpstr>PowerPoint Presentation</vt:lpstr>
      <vt:lpstr>Bootstrapping</vt:lpstr>
      <vt:lpstr>Reporting results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Self-Learning-I</dc:title>
  <dc:creator>Yigit Aydede</dc:creator>
  <cp:lastModifiedBy>Yigit Aydede</cp:lastModifiedBy>
  <cp:revision>7</cp:revision>
  <dcterms:created xsi:type="dcterms:W3CDTF">2023-03-12T15:19:44Z</dcterms:created>
  <dcterms:modified xsi:type="dcterms:W3CDTF">2024-01-30T10:47:48Z</dcterms:modified>
</cp:coreProperties>
</file>